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6492240" y="960120"/>
            <a:ext cx="1325880" cy="274320"/>
          </a:xfrm>
          <a:prstGeom prst="line">
            <a:avLst/>
          </a:prstGeom>
          <a:noFill/>
          <a:ln w="19050">
            <a:solidFill>
              <a:srgbClr val="202B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1234440"/>
            <a:ext cx="822960" cy="914400"/>
          </a:xfrm>
          <a:prstGeom prst="line">
            <a:avLst/>
          </a:prstGeom>
          <a:noFill/>
          <a:ln w="19050">
            <a:solidFill>
              <a:srgbClr val="202B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960120"/>
            <a:ext cx="640080" cy="914400"/>
          </a:xfrm>
          <a:prstGeom prst="line">
            <a:avLst/>
          </a:prstGeom>
          <a:noFill/>
          <a:ln w="19050">
            <a:solidFill>
              <a:srgbClr val="202B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7315200" y="1874520"/>
            <a:ext cx="1143000" cy="274320"/>
          </a:xfrm>
          <a:prstGeom prst="line">
            <a:avLst/>
          </a:prstGeom>
          <a:noFill/>
          <a:ln w="19050">
            <a:solidFill>
              <a:srgbClr val="202B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263640" y="2148840"/>
            <a:ext cx="1051560" cy="640080"/>
          </a:xfrm>
          <a:prstGeom prst="line">
            <a:avLst/>
          </a:prstGeom>
          <a:noFill/>
          <a:ln w="19050">
            <a:solidFill>
              <a:srgbClr val="202B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2148840"/>
            <a:ext cx="594360" cy="1097280"/>
          </a:xfrm>
          <a:prstGeom prst="line">
            <a:avLst/>
          </a:prstGeom>
          <a:noFill/>
          <a:ln w="19050">
            <a:solidFill>
              <a:srgbClr val="202B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2788920"/>
            <a:ext cx="640080" cy="1188720"/>
          </a:xfrm>
          <a:prstGeom prst="line">
            <a:avLst/>
          </a:prstGeom>
          <a:noFill/>
          <a:ln w="19050">
            <a:solidFill>
              <a:srgbClr val="202B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903720" y="3246120"/>
            <a:ext cx="1005840" cy="731520"/>
          </a:xfrm>
          <a:prstGeom prst="line">
            <a:avLst/>
          </a:prstGeom>
          <a:noFill/>
          <a:ln w="19050">
            <a:solidFill>
              <a:srgbClr val="202B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3246120"/>
            <a:ext cx="594360" cy="822960"/>
          </a:xfrm>
          <a:prstGeom prst="line">
            <a:avLst/>
          </a:prstGeom>
          <a:noFill/>
          <a:ln w="19050">
            <a:solidFill>
              <a:srgbClr val="202B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0" y="3977640"/>
            <a:ext cx="1600200" cy="91440"/>
          </a:xfrm>
          <a:prstGeom prst="line">
            <a:avLst/>
          </a:prstGeom>
          <a:noFill/>
          <a:ln w="19050">
            <a:solidFill>
              <a:srgbClr val="202B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6263640" y="1234440"/>
            <a:ext cx="228600" cy="1554480"/>
          </a:xfrm>
          <a:prstGeom prst="line">
            <a:avLst/>
          </a:prstGeom>
          <a:noFill/>
          <a:ln w="19050">
            <a:solidFill>
              <a:srgbClr val="202B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7909560" y="1874520"/>
            <a:ext cx="548640" cy="1371600"/>
          </a:xfrm>
          <a:prstGeom prst="line">
            <a:avLst/>
          </a:prstGeom>
          <a:noFill/>
          <a:ln w="19050">
            <a:solidFill>
              <a:srgbClr val="202B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1234440"/>
            <a:ext cx="822960" cy="914400"/>
          </a:xfrm>
          <a:prstGeom prst="line">
            <a:avLst/>
          </a:prstGeom>
          <a:noFill/>
          <a:ln w="31750">
            <a:solidFill>
              <a:srgbClr val="00E5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2148840"/>
            <a:ext cx="594360" cy="1097280"/>
          </a:xfrm>
          <a:prstGeom prst="line">
            <a:avLst/>
          </a:prstGeom>
          <a:noFill/>
          <a:ln w="31750">
            <a:solidFill>
              <a:srgbClr val="00E5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3246120"/>
            <a:ext cx="594360" cy="822960"/>
          </a:xfrm>
          <a:prstGeom prst="line">
            <a:avLst/>
          </a:prstGeom>
          <a:noFill/>
          <a:ln w="31750">
            <a:solidFill>
              <a:srgbClr val="00E5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6228" y="1138428"/>
            <a:ext cx="192024" cy="192024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18" name="Shape 16"/>
          <p:cNvSpPr/>
          <p:nvPr/>
        </p:nvSpPr>
        <p:spPr>
          <a:xfrm>
            <a:off x="7752283" y="894283"/>
            <a:ext cx="131674" cy="131674"/>
          </a:xfrm>
          <a:prstGeom prst="ellipse">
            <a:avLst/>
          </a:prstGeom>
          <a:solidFill>
            <a:srgbClr val="3A4676"/>
          </a:solidFill>
          <a:ln/>
        </p:spPr>
      </p:sp>
      <p:sp>
        <p:nvSpPr>
          <p:cNvPr id="19" name="Shape 17"/>
          <p:cNvSpPr/>
          <p:nvPr/>
        </p:nvSpPr>
        <p:spPr>
          <a:xfrm>
            <a:off x="8392363" y="1808683"/>
            <a:ext cx="131674" cy="131674"/>
          </a:xfrm>
          <a:prstGeom prst="ellipse">
            <a:avLst/>
          </a:prstGeom>
          <a:solidFill>
            <a:srgbClr val="3A467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19188" y="2052828"/>
            <a:ext cx="192024" cy="192024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21" name="Shape 19"/>
          <p:cNvSpPr/>
          <p:nvPr/>
        </p:nvSpPr>
        <p:spPr>
          <a:xfrm>
            <a:off x="6197803" y="2723083"/>
            <a:ext cx="131674" cy="131674"/>
          </a:xfrm>
          <a:prstGeom prst="ellipse">
            <a:avLst/>
          </a:prstGeom>
          <a:solidFill>
            <a:srgbClr val="3A4676"/>
          </a:solidFill>
          <a:ln/>
        </p:spPr>
      </p:sp>
      <p:sp>
        <p:nvSpPr>
          <p:cNvPr id="22" name="Shape 20"/>
          <p:cNvSpPr/>
          <p:nvPr/>
        </p:nvSpPr>
        <p:spPr>
          <a:xfrm>
            <a:off x="7813548" y="3150108"/>
            <a:ext cx="192024" cy="192024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23" name="Shape 21"/>
          <p:cNvSpPr/>
          <p:nvPr/>
        </p:nvSpPr>
        <p:spPr>
          <a:xfrm>
            <a:off x="6837883" y="3911803"/>
            <a:ext cx="131674" cy="131674"/>
          </a:xfrm>
          <a:prstGeom prst="ellipse">
            <a:avLst/>
          </a:prstGeom>
          <a:solidFill>
            <a:srgbClr val="3A4676"/>
          </a:solidFill>
          <a:ln/>
        </p:spPr>
      </p:sp>
      <p:sp>
        <p:nvSpPr>
          <p:cNvPr id="24" name="Shape 22"/>
          <p:cNvSpPr/>
          <p:nvPr/>
        </p:nvSpPr>
        <p:spPr>
          <a:xfrm>
            <a:off x="8407908" y="3973068"/>
            <a:ext cx="192024" cy="192024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118872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ARXIV:2501.00309v2   ·   SURVEY   ·   88 PAGES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1536192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GraphRAG</a:t>
            </a:r>
            <a:endParaRPr lang="en-US" sz="5800" dirty="0"/>
          </a:p>
        </p:txBody>
      </p:sp>
      <p:sp>
        <p:nvSpPr>
          <p:cNvPr id="27" name="Text 25"/>
          <p:cNvSpPr/>
          <p:nvPr/>
        </p:nvSpPr>
        <p:spPr>
          <a:xfrm>
            <a:off x="502920" y="2487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B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with Graphs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502920" y="299923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five-component reference architecture — what it adds to RAG, and what it costs to run.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02920" y="3858768"/>
            <a:ext cx="2651760" cy="27432"/>
          </a:xfrm>
          <a:prstGeom prst="rect">
            <a:avLst/>
          </a:prstGeom>
          <a:solidFill>
            <a:srgbClr val="2A3663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0416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67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AI Engineers &amp; AI Platform Engineers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HOOK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query RAG can't answer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V="1">
            <a:off x="8366760" y="320040"/>
            <a:ext cx="310896" cy="182880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502920"/>
            <a:ext cx="274320" cy="23774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641080" y="320040"/>
            <a:ext cx="36576" cy="42062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16468" y="452628"/>
            <a:ext cx="100584" cy="100584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8" name="Shape 6"/>
          <p:cNvSpPr/>
          <p:nvPr/>
        </p:nvSpPr>
        <p:spPr>
          <a:xfrm>
            <a:off x="8639251" y="281635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9" name="Shape 7"/>
          <p:cNvSpPr/>
          <p:nvPr/>
        </p:nvSpPr>
        <p:spPr>
          <a:xfrm>
            <a:off x="8602675" y="702259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207008"/>
            <a:ext cx="7726680" cy="786384"/>
          </a:xfrm>
          <a:prstGeom prst="rect">
            <a:avLst/>
          </a:prstGeom>
          <a:solidFill>
            <a:srgbClr val="1B24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207008"/>
            <a:ext cx="50292" cy="786384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13167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4088" y="1517904"/>
            <a:ext cx="7360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“What drugs treat epithelioid sarcoma and also affect the EZH2 gene product?”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2139696"/>
            <a:ext cx="3726180" cy="230428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139696"/>
            <a:ext cx="50292" cy="2304288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" y="2313432"/>
            <a:ext cx="347472" cy="347472"/>
          </a:xfrm>
          <a:prstGeom prst="ellipse">
            <a:avLst/>
          </a:prstGeom>
          <a:solidFill>
            <a:srgbClr val="3A1E20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049" y="2407249"/>
            <a:ext cx="159837" cy="15983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61288" y="2322576"/>
            <a:ext cx="2903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similarity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58952" y="2743200"/>
            <a:ext cx="32506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the corpus, embed, return top-k by cosine.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chunk contains this answer.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text about the disease and text about the gene — never their intersection.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were discarded at chunking time.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03420" y="2139696"/>
            <a:ext cx="3726180" cy="230428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03420" y="2139696"/>
            <a:ext cx="50292" cy="2304288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22" name="Shape 19"/>
          <p:cNvSpPr/>
          <p:nvPr/>
        </p:nvSpPr>
        <p:spPr>
          <a:xfrm>
            <a:off x="4713732" y="2313432"/>
            <a:ext cx="347472" cy="347472"/>
          </a:xfrm>
          <a:prstGeom prst="ellipse">
            <a:avLst/>
          </a:prstGeom>
          <a:solidFill>
            <a:srgbClr val="0E3A2E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549" y="2407249"/>
            <a:ext cx="159837" cy="15983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161788" y="2322576"/>
            <a:ext cx="2903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traversal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759452" y="2761488"/>
            <a:ext cx="32506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Disease (Epithelioid Sarcoma)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─[indication]→  Drug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Gene/Protein (EZH2)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─[target]→  Drug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759452" y="3803904"/>
            <a:ext cx="32506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= the intersection of two neighbourhoods, reached by following typed edges.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502920" y="468172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isn't in the text. It's in the relationships between the texts.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vs GraphRAG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V="1">
            <a:off x="8366760" y="320040"/>
            <a:ext cx="310896" cy="182880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502920"/>
            <a:ext cx="274320" cy="23774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641080" y="320040"/>
            <a:ext cx="36576" cy="42062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16468" y="452628"/>
            <a:ext cx="100584" cy="100584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8" name="Shape 6"/>
          <p:cNvSpPr/>
          <p:nvPr/>
        </p:nvSpPr>
        <p:spPr>
          <a:xfrm>
            <a:off x="8639251" y="281635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9" name="Shape 7"/>
          <p:cNvSpPr/>
          <p:nvPr/>
        </p:nvSpPr>
        <p:spPr>
          <a:xfrm>
            <a:off x="8602675" y="702259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10" name="Shape 8"/>
          <p:cNvSpPr/>
          <p:nvPr/>
        </p:nvSpPr>
        <p:spPr>
          <a:xfrm>
            <a:off x="5212080" y="1280160"/>
            <a:ext cx="3017520" cy="3305556"/>
          </a:xfrm>
          <a:prstGeom prst="rect">
            <a:avLst/>
          </a:prstGeom>
          <a:solidFill>
            <a:srgbClr val="0C2A26"/>
          </a:solidFill>
          <a:ln/>
        </p:spPr>
      </p:sp>
      <p:sp>
        <p:nvSpPr>
          <p:cNvPr id="11" name="Text 9"/>
          <p:cNvSpPr/>
          <p:nvPr/>
        </p:nvSpPr>
        <p:spPr>
          <a:xfrm>
            <a:off x="2578608" y="1316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7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31536" y="1316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GraphRAG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1700784"/>
            <a:ext cx="4709160" cy="438912"/>
          </a:xfrm>
          <a:prstGeom prst="rect">
            <a:avLst/>
          </a:prstGeom>
          <a:solidFill>
            <a:srgbClr val="141C36"/>
          </a:solidFill>
          <a:ln/>
        </p:spPr>
      </p:sp>
      <p:sp>
        <p:nvSpPr>
          <p:cNvPr id="14" name="Shape 12"/>
          <p:cNvSpPr/>
          <p:nvPr/>
        </p:nvSpPr>
        <p:spPr>
          <a:xfrm>
            <a:off x="5212080" y="1700784"/>
            <a:ext cx="3017520" cy="438912"/>
          </a:xfrm>
          <a:prstGeom prst="rect">
            <a:avLst/>
          </a:prstGeom>
          <a:solidFill>
            <a:srgbClr val="14302B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1700784"/>
            <a:ext cx="36576" cy="438912"/>
          </a:xfrm>
          <a:prstGeom prst="rect">
            <a:avLst/>
          </a:prstGeom>
          <a:solidFill>
            <a:srgbClr val="8B7C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700784"/>
            <a:ext cx="161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retrieval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78608" y="1700784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text chunks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31536" y="170078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Nodes, edges, paths, subgraphs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2189988"/>
            <a:ext cx="4709160" cy="438912"/>
          </a:xfrm>
          <a:prstGeom prst="rect">
            <a:avLst/>
          </a:prstGeom>
          <a:solidFill>
            <a:srgbClr val="0E1428"/>
          </a:solidFill>
          <a:ln/>
        </p:spPr>
      </p:sp>
      <p:sp>
        <p:nvSpPr>
          <p:cNvPr id="20" name="Shape 18"/>
          <p:cNvSpPr/>
          <p:nvPr/>
        </p:nvSpPr>
        <p:spPr>
          <a:xfrm>
            <a:off x="5212080" y="2189988"/>
            <a:ext cx="3017520" cy="438912"/>
          </a:xfrm>
          <a:prstGeom prst="rect">
            <a:avLst/>
          </a:prstGeom>
          <a:solidFill>
            <a:srgbClr val="102721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2189988"/>
            <a:ext cx="36576" cy="438912"/>
          </a:xfrm>
          <a:prstGeom prst="rect">
            <a:avLst/>
          </a:prstGeom>
          <a:solidFill>
            <a:srgbClr val="8B7CF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189988"/>
            <a:ext cx="161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by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578608" y="2189988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similarity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31536" y="218998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IDs + relation types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2679192"/>
            <a:ext cx="4709160" cy="438912"/>
          </a:xfrm>
          <a:prstGeom prst="rect">
            <a:avLst/>
          </a:prstGeom>
          <a:solidFill>
            <a:srgbClr val="141C36"/>
          </a:solidFill>
          <a:ln/>
        </p:spPr>
      </p:sp>
      <p:sp>
        <p:nvSpPr>
          <p:cNvPr id="26" name="Shape 24"/>
          <p:cNvSpPr/>
          <p:nvPr/>
        </p:nvSpPr>
        <p:spPr>
          <a:xfrm>
            <a:off x="5212080" y="2679192"/>
            <a:ext cx="3017520" cy="438912"/>
          </a:xfrm>
          <a:prstGeom prst="rect">
            <a:avLst/>
          </a:prstGeom>
          <a:solidFill>
            <a:srgbClr val="14302B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" y="2679192"/>
            <a:ext cx="36576" cy="438912"/>
          </a:xfrm>
          <a:prstGeom prst="rect">
            <a:avLst/>
          </a:prstGeom>
          <a:solidFill>
            <a:srgbClr val="8B7CFF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2679192"/>
            <a:ext cx="161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578608" y="2679192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Discarded at chunking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31536" y="267919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payload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" y="3168396"/>
            <a:ext cx="4709160" cy="438912"/>
          </a:xfrm>
          <a:prstGeom prst="rect">
            <a:avLst/>
          </a:prstGeom>
          <a:solidFill>
            <a:srgbClr val="0E1428"/>
          </a:solidFill>
          <a:ln/>
        </p:spPr>
      </p:sp>
      <p:sp>
        <p:nvSpPr>
          <p:cNvPr id="32" name="Shape 30"/>
          <p:cNvSpPr/>
          <p:nvPr/>
        </p:nvSpPr>
        <p:spPr>
          <a:xfrm>
            <a:off x="5212080" y="3168396"/>
            <a:ext cx="3017520" cy="438912"/>
          </a:xfrm>
          <a:prstGeom prst="rect">
            <a:avLst/>
          </a:prstGeom>
          <a:solidFill>
            <a:srgbClr val="102721"/>
          </a:solidFill>
          <a:ln/>
        </p:spPr>
      </p:sp>
      <p:sp>
        <p:nvSpPr>
          <p:cNvPr id="33" name="Shape 31"/>
          <p:cNvSpPr/>
          <p:nvPr/>
        </p:nvSpPr>
        <p:spPr>
          <a:xfrm>
            <a:off x="502920" y="3168396"/>
            <a:ext cx="36576" cy="438912"/>
          </a:xfrm>
          <a:prstGeom prst="rect">
            <a:avLst/>
          </a:prstGeom>
          <a:solidFill>
            <a:srgbClr val="8B7CFF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3168396"/>
            <a:ext cx="161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questions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578608" y="3168396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Fails, or needs re-query loops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31536" y="316839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traversal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02920" y="3657600"/>
            <a:ext cx="4709160" cy="438912"/>
          </a:xfrm>
          <a:prstGeom prst="rect">
            <a:avLst/>
          </a:prstGeom>
          <a:solidFill>
            <a:srgbClr val="141C36"/>
          </a:solidFill>
          <a:ln/>
        </p:spPr>
      </p:sp>
      <p:sp>
        <p:nvSpPr>
          <p:cNvPr id="38" name="Shape 36"/>
          <p:cNvSpPr/>
          <p:nvPr/>
        </p:nvSpPr>
        <p:spPr>
          <a:xfrm>
            <a:off x="5212080" y="3657600"/>
            <a:ext cx="3017520" cy="438912"/>
          </a:xfrm>
          <a:prstGeom prst="rect">
            <a:avLst/>
          </a:prstGeom>
          <a:solidFill>
            <a:srgbClr val="14302B"/>
          </a:solidFill>
          <a:ln/>
        </p:spPr>
      </p:sp>
      <p:sp>
        <p:nvSpPr>
          <p:cNvPr id="39" name="Shape 37"/>
          <p:cNvSpPr/>
          <p:nvPr/>
        </p:nvSpPr>
        <p:spPr>
          <a:xfrm>
            <a:off x="502920" y="3657600"/>
            <a:ext cx="36576" cy="438912"/>
          </a:xfrm>
          <a:prstGeom prst="rect">
            <a:avLst/>
          </a:prstGeom>
          <a:solidFill>
            <a:srgbClr val="8B7CFF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3657600"/>
            <a:ext cx="161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578608" y="3657600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“These chunks scored highest”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431536" y="36576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retrieved path IS the trace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02920" y="4146804"/>
            <a:ext cx="4709160" cy="438912"/>
          </a:xfrm>
          <a:prstGeom prst="rect">
            <a:avLst/>
          </a:prstGeom>
          <a:solidFill>
            <a:srgbClr val="0E1428"/>
          </a:solidFill>
          <a:ln/>
        </p:spPr>
      </p:sp>
      <p:sp>
        <p:nvSpPr>
          <p:cNvPr id="44" name="Shape 42"/>
          <p:cNvSpPr/>
          <p:nvPr/>
        </p:nvSpPr>
        <p:spPr>
          <a:xfrm>
            <a:off x="5212080" y="4146804"/>
            <a:ext cx="3017520" cy="438912"/>
          </a:xfrm>
          <a:prstGeom prst="rect">
            <a:avLst/>
          </a:prstGeom>
          <a:solidFill>
            <a:srgbClr val="102721"/>
          </a:solidFill>
          <a:ln/>
        </p:spPr>
      </p:sp>
      <p:sp>
        <p:nvSpPr>
          <p:cNvPr id="45" name="Shape 43"/>
          <p:cNvSpPr/>
          <p:nvPr/>
        </p:nvSpPr>
        <p:spPr>
          <a:xfrm>
            <a:off x="502920" y="4146804"/>
            <a:ext cx="36576" cy="438912"/>
          </a:xfrm>
          <a:prstGeom prst="rect">
            <a:avLst/>
          </a:prstGeom>
          <a:solidFill>
            <a:srgbClr val="8B7CFF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" y="4146804"/>
            <a:ext cx="161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contract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578608" y="4146804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Text-in → Text-out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431536" y="414680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contracts: Text/Graph, in/out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02920" y="468172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goal — ground the model in external knowledge. Different substrate, so different machinery.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 components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V="1">
            <a:off x="8366760" y="320040"/>
            <a:ext cx="310896" cy="182880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502920"/>
            <a:ext cx="274320" cy="23774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641080" y="320040"/>
            <a:ext cx="36576" cy="42062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16468" y="452628"/>
            <a:ext cx="100584" cy="100584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8" name="Shape 6"/>
          <p:cNvSpPr/>
          <p:nvPr/>
        </p:nvSpPr>
        <p:spPr>
          <a:xfrm>
            <a:off x="8639251" y="281635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9" name="Shape 7"/>
          <p:cNvSpPr/>
          <p:nvPr/>
        </p:nvSpPr>
        <p:spPr>
          <a:xfrm>
            <a:off x="8602675" y="702259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389888"/>
            <a:ext cx="1847088" cy="175564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389888"/>
            <a:ext cx="50292" cy="1755648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5361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1792224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32257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f(Q) → Q*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800" y="2560320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query → graph handles: entity IDs, relation types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04872" y="2267712"/>
            <a:ext cx="173736" cy="0"/>
          </a:xfrm>
          <a:prstGeom prst="line">
            <a:avLst/>
          </a:prstGeom>
          <a:noFill/>
          <a:ln w="25400">
            <a:solidFill>
              <a:srgbClr val="3A467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633472" y="1389888"/>
            <a:ext cx="1847088" cy="175564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33472" y="1389888"/>
            <a:ext cx="50292" cy="1755648"/>
          </a:xfrm>
          <a:prstGeom prst="rect">
            <a:avLst/>
          </a:prstGeom>
          <a:solidFill>
            <a:srgbClr val="8B7CFF"/>
          </a:solidFill>
          <a:ln/>
        </p:spPr>
      </p:sp>
      <p:sp>
        <p:nvSpPr>
          <p:cNvPr id="19" name="Text 17"/>
          <p:cNvSpPr/>
          <p:nvPr/>
        </p:nvSpPr>
        <p:spPr>
          <a:xfrm>
            <a:off x="2816352" y="15361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7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16352" y="1792224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16352" y="232257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7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f(Q*, G) → C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816352" y="2560320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graph. Heuristic, learned, or both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35424" y="2267712"/>
            <a:ext cx="173736" cy="0"/>
          </a:xfrm>
          <a:prstGeom prst="line">
            <a:avLst/>
          </a:prstGeom>
          <a:noFill/>
          <a:ln w="25400">
            <a:solidFill>
              <a:srgbClr val="3A467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64024" y="1389888"/>
            <a:ext cx="1847088" cy="175564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64024" y="1389888"/>
            <a:ext cx="50292" cy="1755648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26" name="Text 24"/>
          <p:cNvSpPr/>
          <p:nvPr/>
        </p:nvSpPr>
        <p:spPr>
          <a:xfrm>
            <a:off x="4946904" y="15361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46904" y="1792224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46904" y="232257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f(Q*, C) → C*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46904" y="2560320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Prune, rerank, augment, verbalise the subgraph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65976" y="2267712"/>
            <a:ext cx="173736" cy="0"/>
          </a:xfrm>
          <a:prstGeom prst="line">
            <a:avLst/>
          </a:prstGeom>
          <a:noFill/>
          <a:ln w="25400">
            <a:solidFill>
              <a:srgbClr val="3A467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94576" y="1389888"/>
            <a:ext cx="1847088" cy="175564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94576" y="1389888"/>
            <a:ext cx="50292" cy="1755648"/>
          </a:xfrm>
          <a:prstGeom prst="rect">
            <a:avLst/>
          </a:prstGeom>
          <a:solidFill>
            <a:srgbClr val="8B7CFF"/>
          </a:solidFill>
          <a:ln/>
        </p:spPr>
      </p:sp>
      <p:sp>
        <p:nvSpPr>
          <p:cNvPr id="33" name="Text 31"/>
          <p:cNvSpPr/>
          <p:nvPr/>
        </p:nvSpPr>
        <p:spPr>
          <a:xfrm>
            <a:off x="7077456" y="15361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7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77456" y="1792224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77456" y="232257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7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f(Q*, C*) → 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077456" y="2560320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text, a class label, or a whole new graph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3529584"/>
            <a:ext cx="7726680" cy="749808"/>
          </a:xfrm>
          <a:prstGeom prst="rect">
            <a:avLst/>
          </a:prstGeom>
          <a:solidFill>
            <a:srgbClr val="101A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2920" y="3529584"/>
            <a:ext cx="50292" cy="749808"/>
          </a:xfrm>
          <a:prstGeom prst="rect">
            <a:avLst/>
          </a:prstGeom>
          <a:solidFill>
            <a:srgbClr val="8B7CFF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36484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7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GRAPH DATA SOURCE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" y="39136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(citations, bonds, user–item) or implicit (co-occurrence, feature correlation). Representation is a performance decision, not formatting.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557016" y="3200400"/>
            <a:ext cx="0" cy="274320"/>
          </a:xfrm>
          <a:prstGeom prst="line">
            <a:avLst/>
          </a:prstGeom>
          <a:noFill/>
          <a:ln w="25400">
            <a:solidFill>
              <a:srgbClr val="8B7CFF"/>
            </a:solidFill>
            <a:prstDash val="solid"/>
            <a:headEnd type="triangle"/>
          </a:ln>
        </p:spPr>
      </p:sp>
      <p:sp>
        <p:nvSpPr>
          <p:cNvPr id="42" name="Text 40"/>
          <p:cNvSpPr/>
          <p:nvPr/>
        </p:nvSpPr>
        <p:spPr>
          <a:xfrm>
            <a:off x="502920" y="468172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composed transforms over one substrate. Two of them have no equivalent in your RAG stack.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DELTA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you don't have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V="1">
            <a:off x="8366760" y="320040"/>
            <a:ext cx="310896" cy="182880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502920"/>
            <a:ext cx="274320" cy="23774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641080" y="320040"/>
            <a:ext cx="36576" cy="42062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16468" y="452628"/>
            <a:ext cx="100584" cy="100584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8" name="Shape 6"/>
          <p:cNvSpPr/>
          <p:nvPr/>
        </p:nvSpPr>
        <p:spPr>
          <a:xfrm>
            <a:off x="8639251" y="281635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9" name="Shape 7"/>
          <p:cNvSpPr/>
          <p:nvPr/>
        </p:nvSpPr>
        <p:spPr>
          <a:xfrm>
            <a:off x="8602675" y="702259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335024"/>
            <a:ext cx="2606040" cy="3108960"/>
          </a:xfrm>
          <a:prstGeom prst="rect">
            <a:avLst/>
          </a:prstGeom>
          <a:solidFill>
            <a:srgbClr val="1B24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335024"/>
            <a:ext cx="50292" cy="3108960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00784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2/5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758952" y="2798064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in this architecture have no counterpart in a standard RAG pipeline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" y="37856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them and you have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extra latency.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3280" y="1335024"/>
            <a:ext cx="4846320" cy="148132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335024"/>
            <a:ext cx="50292" cy="1481328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17" name="Text 15"/>
          <p:cNvSpPr/>
          <p:nvPr/>
        </p:nvSpPr>
        <p:spPr>
          <a:xfrm>
            <a:off x="3639312" y="14996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PROCESSOR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39312" y="1847088"/>
            <a:ext cx="4334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vector store is addressed by embeddings. A graph is addressed by entity IDs and relation types. Something has to translate — and resolve the entity's type, not just its name, because the type constrains which edges the retriever follows next.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83280" y="2962656"/>
            <a:ext cx="4846320" cy="148132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2962656"/>
            <a:ext cx="50292" cy="1481328"/>
          </a:xfrm>
          <a:prstGeom prst="rect">
            <a:avLst/>
          </a:prstGeom>
          <a:solidFill>
            <a:srgbClr val="8B7CFF"/>
          </a:solidFill>
          <a:ln/>
        </p:spPr>
      </p:sp>
      <p:sp>
        <p:nvSpPr>
          <p:cNvPr id="21" name="Text 19"/>
          <p:cNvSpPr/>
          <p:nvPr/>
        </p:nvSpPr>
        <p:spPr>
          <a:xfrm>
            <a:off x="3639312" y="31272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39312" y="3474720"/>
            <a:ext cx="4334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returns a subgraph. The LLM consumes a linear token sequence. Closing that gap — pruning, reranking, verbalising — is a distinct stage with its own failure modes. It is where most GraphRAG projects quietly fall over.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Processor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a text query to a graph you can actually address. Errors here cascade through every later stage.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 flipV="1">
            <a:off x="8366760" y="320040"/>
            <a:ext cx="310896" cy="182880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502920"/>
            <a:ext cx="274320" cy="23774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641080" y="320040"/>
            <a:ext cx="36576" cy="42062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16468" y="452628"/>
            <a:ext cx="100584" cy="100584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9" name="Shape 7"/>
          <p:cNvSpPr/>
          <p:nvPr/>
        </p:nvSpPr>
        <p:spPr>
          <a:xfrm>
            <a:off x="8639251" y="281635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10" name="Shape 8"/>
          <p:cNvSpPr/>
          <p:nvPr/>
        </p:nvSpPr>
        <p:spPr>
          <a:xfrm>
            <a:off x="8602675" y="702259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572768"/>
            <a:ext cx="7726680" cy="530352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6948" y="1677924"/>
            <a:ext cx="320040" cy="320040"/>
          </a:xfrm>
          <a:prstGeom prst="ellipse">
            <a:avLst/>
          </a:prstGeom>
          <a:solidFill>
            <a:srgbClr val="1E2947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359" y="1764335"/>
            <a:ext cx="147218" cy="14721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97864" y="164592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NER &amp; entity linking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97864" y="1856232"/>
            <a:ext cx="6766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mentions → seed node IDs. Resolve the entity TYPE too, not just the string.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2194560"/>
            <a:ext cx="7726680" cy="530352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26948" y="2299716"/>
            <a:ext cx="320040" cy="320040"/>
          </a:xfrm>
          <a:prstGeom prst="ellipse">
            <a:avLst/>
          </a:prstGeom>
          <a:solidFill>
            <a:srgbClr val="1E294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59" y="2386127"/>
            <a:ext cx="147218" cy="14721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97864" y="226771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Relational extraction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197864" y="2478024"/>
            <a:ext cx="6766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verbs → edge types, which set the direction of traversal.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02920" y="2816352"/>
            <a:ext cx="7726680" cy="530352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26948" y="2921508"/>
            <a:ext cx="320040" cy="320040"/>
          </a:xfrm>
          <a:prstGeom prst="ellipse">
            <a:avLst/>
          </a:prstGeom>
          <a:solidFill>
            <a:srgbClr val="1E2947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59" y="3007919"/>
            <a:ext cx="147218" cy="14721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97864" y="2889504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structuration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1197864" y="3099816"/>
            <a:ext cx="6766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Cypher / SPARQL / GraphQL. Text-to-SQL, new dialect.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02920" y="3438144"/>
            <a:ext cx="7726680" cy="530352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26948" y="3543300"/>
            <a:ext cx="320040" cy="320040"/>
          </a:xfrm>
          <a:prstGeom prst="ellipse">
            <a:avLst/>
          </a:prstGeom>
          <a:solidFill>
            <a:srgbClr val="1E2947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359" y="3629711"/>
            <a:ext cx="147218" cy="14721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97864" y="3511296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decomposition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1197864" y="3721608"/>
            <a:ext cx="6766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sub-queries — but unlike RAG they stay logically linked as a graph.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02920" y="4059936"/>
            <a:ext cx="7726680" cy="530352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26948" y="4165092"/>
            <a:ext cx="320040" cy="320040"/>
          </a:xfrm>
          <a:prstGeom prst="ellipse">
            <a:avLst/>
          </a:prstGeom>
          <a:solidFill>
            <a:srgbClr val="1E2947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359" y="4251503"/>
            <a:ext cx="147218" cy="14721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197864" y="4133088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expansion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1197864" y="4343400"/>
            <a:ext cx="6766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via graph neighbours of mentioned entities, not via synonyms.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is uniformly Text-in → Text-out. GraphRAG has four I/O contracts: Text/Graph in × Text/Graph out.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 flipV="1">
            <a:off x="8366760" y="320040"/>
            <a:ext cx="310896" cy="182880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502920"/>
            <a:ext cx="274320" cy="23774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641080" y="320040"/>
            <a:ext cx="36576" cy="42062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16468" y="452628"/>
            <a:ext cx="100584" cy="100584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9" name="Shape 7"/>
          <p:cNvSpPr/>
          <p:nvPr/>
        </p:nvSpPr>
        <p:spPr>
          <a:xfrm>
            <a:off x="8639251" y="281635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10" name="Shape 8"/>
          <p:cNvSpPr/>
          <p:nvPr/>
        </p:nvSpPr>
        <p:spPr>
          <a:xfrm>
            <a:off x="8602675" y="702259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664208"/>
            <a:ext cx="2392680" cy="239572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664208"/>
            <a:ext cx="50292" cy="2395728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" y="1828800"/>
            <a:ext cx="198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HEURISTIC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" y="2157984"/>
            <a:ext cx="19903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linking, relational matching, BFS/DFS, graph kernels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time, zero training, fully explainable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embeddings at disambiguation: Byte vs Bit, President of vs Resident of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69920" y="1664208"/>
            <a:ext cx="2392680" cy="239572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69920" y="1664208"/>
            <a:ext cx="50292" cy="2395728"/>
          </a:xfrm>
          <a:prstGeom prst="rect">
            <a:avLst/>
          </a:prstGeom>
          <a:solidFill>
            <a:srgbClr val="8B7CFF"/>
          </a:solidFill>
          <a:ln/>
        </p:spPr>
      </p:sp>
      <p:sp>
        <p:nvSpPr>
          <p:cNvPr id="17" name="Text 15"/>
          <p:cNvSpPr/>
          <p:nvPr/>
        </p:nvSpPr>
        <p:spPr>
          <a:xfrm>
            <a:off x="3407664" y="1828800"/>
            <a:ext cx="198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8B7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LEARNING-BASED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71088" y="2157984"/>
            <a:ext cx="19903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Node2Vec, Role2Vec, GNNs, graph transformers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doctor ≈ physician, which rules fluff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vs role embeddings — related things vs same structural position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embeddings aren't inductive. GNNs are. Live graphs need inductive.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36920" y="1664208"/>
            <a:ext cx="2392680" cy="239572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36920" y="1664208"/>
            <a:ext cx="50292" cy="2395728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21" name="Text 19"/>
          <p:cNvSpPr/>
          <p:nvPr/>
        </p:nvSpPr>
        <p:spPr>
          <a:xfrm>
            <a:off x="6074664" y="1828800"/>
            <a:ext cx="198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8088" y="2157984"/>
            <a:ext cx="19903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— GNN finds seeds, symbolic search extracts paths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— alternate retrieve/select, one LLM call per hop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— predict the hop count per query. A knob RAG doesn't have.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4206240"/>
            <a:ext cx="7726680" cy="566928"/>
          </a:xfrm>
          <a:prstGeom prst="rect">
            <a:avLst/>
          </a:prstGeom>
          <a:solidFill>
            <a:srgbClr val="2B1F2E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4206240"/>
            <a:ext cx="50292" cy="566928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" y="43159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7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 MODE   </a:t>
            </a:r>
            <a:pPr indent="0" marL="0">
              <a:buNone/>
            </a:pPr>
            <a:r>
              <a:rPr lang="en-US" sz="11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size grows exponentially with hop count. Traversal without pruning blows your context window and your latency budget at the same time.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 your stack is missing — and the one that decides whether any of this works.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 flipV="1">
            <a:off x="8366760" y="320040"/>
            <a:ext cx="310896" cy="182880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502920"/>
            <a:ext cx="274320" cy="23774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641080" y="320040"/>
            <a:ext cx="36576" cy="42062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16468" y="452628"/>
            <a:ext cx="100584" cy="100584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9" name="Shape 7"/>
          <p:cNvSpPr/>
          <p:nvPr/>
        </p:nvSpPr>
        <p:spPr>
          <a:xfrm>
            <a:off x="8639251" y="281635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10" name="Shape 8"/>
          <p:cNvSpPr/>
          <p:nvPr/>
        </p:nvSpPr>
        <p:spPr>
          <a:xfrm>
            <a:off x="8602675" y="702259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700784"/>
            <a:ext cx="3726180" cy="129844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700784"/>
            <a:ext cx="50292" cy="1298448"/>
          </a:xfrm>
          <a:prstGeom prst="rect">
            <a:avLst/>
          </a:prstGeom>
          <a:solidFill>
            <a:srgbClr val="8B7C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36092" y="1915668"/>
            <a:ext cx="338328" cy="338328"/>
          </a:xfrm>
          <a:prstGeom prst="ellipse">
            <a:avLst/>
          </a:prstGeom>
          <a:solidFill>
            <a:srgbClr val="1E2947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441" y="2007017"/>
            <a:ext cx="155631" cy="15563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16152" y="1956816"/>
            <a:ext cx="2811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PRUNE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40664" y="2340864"/>
            <a:ext cx="32689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subgraph without cutting the answer. Semantic scoring, PageRank over reasoning paths, or prize-collecting Steiner tree (G-Retriever).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03420" y="1700784"/>
            <a:ext cx="3726180" cy="129844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03420" y="1700784"/>
            <a:ext cx="50292" cy="1298448"/>
          </a:xfrm>
          <a:prstGeom prst="rect">
            <a:avLst/>
          </a:prstGeom>
          <a:solidFill>
            <a:srgbClr val="8B7CFF"/>
          </a:solidFill>
          <a:ln/>
        </p:spPr>
      </p:sp>
      <p:sp>
        <p:nvSpPr>
          <p:cNvPr id="19" name="Shape 16"/>
          <p:cNvSpPr/>
          <p:nvPr/>
        </p:nvSpPr>
        <p:spPr>
          <a:xfrm>
            <a:off x="4736592" y="1915668"/>
            <a:ext cx="338328" cy="338328"/>
          </a:xfrm>
          <a:prstGeom prst="ellipse">
            <a:avLst/>
          </a:prstGeom>
          <a:solidFill>
            <a:srgbClr val="1E2947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941" y="2007017"/>
            <a:ext cx="155631" cy="15563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16652" y="1956816"/>
            <a:ext cx="2811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RERANK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741164" y="2340864"/>
            <a:ext cx="32689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over-weight early context and lose the middle. Retrieval scores are coarse rankings over a huge candidate set — rerank fine-grained.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02920" y="3236976"/>
            <a:ext cx="3726180" cy="129844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02920" y="3236976"/>
            <a:ext cx="50292" cy="1298448"/>
          </a:xfrm>
          <a:prstGeom prst="rect">
            <a:avLst/>
          </a:prstGeom>
          <a:solidFill>
            <a:srgbClr val="8B7CFF"/>
          </a:solidFill>
          <a:ln/>
        </p:spPr>
      </p:sp>
      <p:sp>
        <p:nvSpPr>
          <p:cNvPr id="25" name="Shape 21"/>
          <p:cNvSpPr/>
          <p:nvPr/>
        </p:nvSpPr>
        <p:spPr>
          <a:xfrm>
            <a:off x="736092" y="3451860"/>
            <a:ext cx="338328" cy="338328"/>
          </a:xfrm>
          <a:prstGeom prst="ellipse">
            <a:avLst/>
          </a:prstGeom>
          <a:solidFill>
            <a:srgbClr val="1E2947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41" y="3543209"/>
            <a:ext cx="155631" cy="155631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16152" y="3493008"/>
            <a:ext cx="2811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AUGMENT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740664" y="3877056"/>
            <a:ext cx="32689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you add: inject the query itself as a node so it connects directly to evidence; use an LLM to enrich sparse node features.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503420" y="3236976"/>
            <a:ext cx="3726180" cy="129844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503420" y="3236976"/>
            <a:ext cx="50292" cy="1298448"/>
          </a:xfrm>
          <a:prstGeom prst="rect">
            <a:avLst/>
          </a:prstGeom>
          <a:solidFill>
            <a:srgbClr val="8B7CFF"/>
          </a:solidFill>
          <a:ln/>
        </p:spPr>
      </p:sp>
      <p:sp>
        <p:nvSpPr>
          <p:cNvPr id="31" name="Shape 26"/>
          <p:cNvSpPr/>
          <p:nvPr/>
        </p:nvSpPr>
        <p:spPr>
          <a:xfrm>
            <a:off x="4736592" y="3451860"/>
            <a:ext cx="338328" cy="338328"/>
          </a:xfrm>
          <a:prstGeom prst="ellipse">
            <a:avLst/>
          </a:prstGeom>
          <a:solidFill>
            <a:srgbClr val="1E2947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941" y="3543209"/>
            <a:ext cx="155631" cy="155631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16652" y="3493008"/>
            <a:ext cx="2811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VERBALISE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4741164" y="3877056"/>
            <a:ext cx="32689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→ text. Tuple → template → model-based summarisation, ascending in cost and fidelity. Ordering measurably changes comprehension.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502920" y="468172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jobs between “we retrieved a subgraph” and “the model can read it”.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GraphRAG task ends in an LLM — picking the wrong generator type is a common architectural mistake.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 flipV="1">
            <a:off x="8366760" y="320040"/>
            <a:ext cx="310896" cy="182880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502920"/>
            <a:ext cx="274320" cy="23774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641080" y="320040"/>
            <a:ext cx="36576" cy="42062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16468" y="452628"/>
            <a:ext cx="100584" cy="100584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9" name="Shape 7"/>
          <p:cNvSpPr/>
          <p:nvPr/>
        </p:nvSpPr>
        <p:spPr>
          <a:xfrm>
            <a:off x="8639251" y="281635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10" name="Shape 8"/>
          <p:cNvSpPr/>
          <p:nvPr/>
        </p:nvSpPr>
        <p:spPr>
          <a:xfrm>
            <a:off x="8602675" y="702259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664208"/>
            <a:ext cx="3246120" cy="2871216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664208"/>
            <a:ext cx="50292" cy="2871216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" y="182880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GENERATOR TYPES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0664" y="219456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Discriminative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0664" y="241401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/ Graph Transformer. Node, edge and graph classification or regression.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0664" y="292608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LLM-based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40664" y="314553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for QA and text generation.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0664" y="365760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Graph-based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0664" y="387705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or Graph VAE, when the output is itself a graph. SE(3)-equivariance keeps molecules valid under rotation.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041648" y="170078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7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GETTING A GRAPH INTO AN LLM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23360" y="1975104"/>
            <a:ext cx="4206240" cy="65836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23360" y="1975104"/>
            <a:ext cx="50292" cy="658368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23" name="Shape 21"/>
          <p:cNvSpPr/>
          <p:nvPr/>
        </p:nvSpPr>
        <p:spPr>
          <a:xfrm>
            <a:off x="4242816" y="2121408"/>
            <a:ext cx="274320" cy="274320"/>
          </a:xfrm>
          <a:prstGeom prst="ellipse">
            <a:avLst/>
          </a:prstGeom>
          <a:solidFill>
            <a:srgbClr val="1E2947"/>
          </a:solidFill>
          <a:ln/>
        </p:spPr>
      </p:sp>
      <p:sp>
        <p:nvSpPr>
          <p:cNvPr id="24" name="Text 22"/>
          <p:cNvSpPr/>
          <p:nvPr/>
        </p:nvSpPr>
        <p:spPr>
          <a:xfrm>
            <a:off x="4242816" y="214884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08576" y="211226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Verbalise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08576" y="23317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 to text. Cheap, no training, loses structure.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023360" y="2779776"/>
            <a:ext cx="4206240" cy="859536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023360" y="2779776"/>
            <a:ext cx="50292" cy="859536"/>
          </a:xfrm>
          <a:prstGeom prst="rect">
            <a:avLst/>
          </a:prstGeom>
          <a:solidFill>
            <a:srgbClr val="8B7C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242816" y="2926080"/>
            <a:ext cx="274320" cy="274320"/>
          </a:xfrm>
          <a:prstGeom prst="ellipse">
            <a:avLst/>
          </a:prstGeom>
          <a:solidFill>
            <a:srgbClr val="1E2947"/>
          </a:solidFill>
          <a:ln/>
        </p:spPr>
      </p:sp>
      <p:sp>
        <p:nvSpPr>
          <p:cNvPr id="30" name="Text 28"/>
          <p:cNvSpPr/>
          <p:nvPr/>
        </p:nvSpPr>
        <p:spPr>
          <a:xfrm>
            <a:off x="4242816" y="295351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7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08576" y="291693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 fusion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608576" y="313639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encodes the subgraph; a learned projector maps it into token-embedding space. LoRA the projector, freeze the LLM.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023360" y="3785616"/>
            <a:ext cx="4206240" cy="74980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023360" y="3785616"/>
            <a:ext cx="50292" cy="749808"/>
          </a:xfrm>
          <a:prstGeom prst="rect">
            <a:avLst/>
          </a:prstGeom>
          <a:solidFill>
            <a:srgbClr val="8B7C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242816" y="3931920"/>
            <a:ext cx="274320" cy="274320"/>
          </a:xfrm>
          <a:prstGeom prst="ellipse">
            <a:avLst/>
          </a:prstGeom>
          <a:solidFill>
            <a:srgbClr val="1E2947"/>
          </a:solidFill>
          <a:ln/>
        </p:spPr>
      </p:sp>
      <p:sp>
        <p:nvSpPr>
          <p:cNvPr id="36" name="Text 34"/>
          <p:cNvSpPr/>
          <p:nvPr/>
        </p:nvSpPr>
        <p:spPr>
          <a:xfrm>
            <a:off x="4242816" y="395935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7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08576" y="392277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Positional fusion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608576" y="414223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node position and pairwise relations as positional signal.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" y="468172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yet shows LLMs reliably distinguish these structural encodings. Ship 1; treat 2 and 3 as experiments.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CORE ARGUMENT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you can't bolt it 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V="1">
            <a:off x="8366760" y="320040"/>
            <a:ext cx="310896" cy="182880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502920"/>
            <a:ext cx="274320" cy="23774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641080" y="320040"/>
            <a:ext cx="36576" cy="42062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16468" y="452628"/>
            <a:ext cx="100584" cy="100584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8" name="Shape 6"/>
          <p:cNvSpPr/>
          <p:nvPr/>
        </p:nvSpPr>
        <p:spPr>
          <a:xfrm>
            <a:off x="8639251" y="281635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9" name="Shape 7"/>
          <p:cNvSpPr/>
          <p:nvPr/>
        </p:nvSpPr>
        <p:spPr>
          <a:xfrm>
            <a:off x="8602675" y="702259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298448"/>
            <a:ext cx="7726680" cy="786384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298448"/>
            <a:ext cx="50292" cy="786384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148132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35608" y="141732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UNIFORM vs DIVERSE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35608" y="1664208"/>
            <a:ext cx="6720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text is a token sequence, so one retriever fits every corpus. Graphs arrive as KG triples, 3D molecules, taxonomies and document trees — no one-size-fits-all.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221992"/>
            <a:ext cx="7726680" cy="786384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221992"/>
            <a:ext cx="50292" cy="786384"/>
          </a:xfrm>
          <a:prstGeom prst="rect">
            <a:avLst/>
          </a:prstGeom>
          <a:solidFill>
            <a:srgbClr val="8B7CFF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" y="2404872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7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35608" y="2340864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INDEPENDENT vs INTERDEPENDENT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35608" y="2587752"/>
            <a:ext cx="6720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throws the edges away. In GraphRAG the edges are the value: they drive traversal, they drive pruning, they carry structure the generator can exploit.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145536"/>
            <a:ext cx="7726680" cy="786384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145536"/>
            <a:ext cx="50292" cy="786384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" y="332841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435608" y="3264408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DOMAIN-INVARIANT vs DOMAIN-SPECIFIC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35608" y="3511296"/>
            <a:ext cx="6720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citation networks, connected papers share a topic. In airline networks, hubs specifically do not connect to hubs. Right in one graph, wrong in the next.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114800"/>
            <a:ext cx="7726680" cy="548640"/>
          </a:xfrm>
          <a:prstGeom prst="rect">
            <a:avLst/>
          </a:prstGeom>
          <a:solidFill>
            <a:srgbClr val="101A3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4114800"/>
            <a:ext cx="50292" cy="548640"/>
          </a:xfrm>
          <a:prstGeom prst="rect">
            <a:avLst/>
          </a:prstGeom>
          <a:solidFill>
            <a:srgbClr val="8B7CFF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" y="42245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domain-general GraphRAG. Whatever you build encodes assumptions about YOUR graph — design the seams so you can re-tune per domain.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PLATFORM ENGINEERS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costs to run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V="1">
            <a:off x="8366760" y="320040"/>
            <a:ext cx="310896" cy="182880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502920"/>
            <a:ext cx="274320" cy="23774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641080" y="320040"/>
            <a:ext cx="36576" cy="42062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16468" y="452628"/>
            <a:ext cx="100584" cy="100584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8" name="Shape 6"/>
          <p:cNvSpPr/>
          <p:nvPr/>
        </p:nvSpPr>
        <p:spPr>
          <a:xfrm>
            <a:off x="8639251" y="281635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9" name="Shape 7"/>
          <p:cNvSpPr/>
          <p:nvPr/>
        </p:nvSpPr>
        <p:spPr>
          <a:xfrm>
            <a:off x="8602675" y="702259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481328"/>
            <a:ext cx="2404872" cy="138988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7804" y="1677924"/>
            <a:ext cx="338328" cy="338328"/>
          </a:xfrm>
          <a:prstGeom prst="ellipse">
            <a:avLst/>
          </a:prstGeom>
          <a:solidFill>
            <a:srgbClr val="1E2947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153" y="1769273"/>
            <a:ext cx="155631" cy="15563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22376" y="210312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22376" y="234086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store and a vector index in the same request path. Plan the join, not two silos.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163824" y="1481328"/>
            <a:ext cx="2404872" cy="138988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78708" y="1677924"/>
            <a:ext cx="338328" cy="338328"/>
          </a:xfrm>
          <a:prstGeom prst="ellipse">
            <a:avLst/>
          </a:prstGeom>
          <a:solidFill>
            <a:srgbClr val="1E2947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057" y="1769273"/>
            <a:ext cx="155631" cy="15563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83280" y="210312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383280" y="234086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→ traverse → prune → rerank → verbalise → generate. Iterative retrievers add an LLM call per hop.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824728" y="1481328"/>
            <a:ext cx="2404872" cy="138988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39612" y="1677924"/>
            <a:ext cx="338328" cy="338328"/>
          </a:xfrm>
          <a:prstGeom prst="ellipse">
            <a:avLst/>
          </a:prstGeom>
          <a:solidFill>
            <a:srgbClr val="1E2947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961" y="1769273"/>
            <a:ext cx="155631" cy="15563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44184" y="210312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CONSTRUCTION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044184" y="234086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Disambiguation, alignment, coreference, incremental update. A pipeline you now own.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02920" y="3127248"/>
            <a:ext cx="2404872" cy="138988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17804" y="3323844"/>
            <a:ext cx="338328" cy="338328"/>
          </a:xfrm>
          <a:prstGeom prst="ellipse">
            <a:avLst/>
          </a:prstGeom>
          <a:solidFill>
            <a:srgbClr val="1E2947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153" y="3415193"/>
            <a:ext cx="155631" cy="15563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2376" y="374904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22376" y="398678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fail differently. End-to-end accuracy won't tell you which one broke.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163824" y="3127248"/>
            <a:ext cx="2404872" cy="138988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378708" y="3323844"/>
            <a:ext cx="338328" cy="338328"/>
          </a:xfrm>
          <a:prstGeom prst="ellipse">
            <a:avLst/>
          </a:prstGeom>
          <a:solidFill>
            <a:srgbClr val="1E2947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0057" y="3415193"/>
            <a:ext cx="155631" cy="155631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383280" y="374904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383280" y="398678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decomposes across components. You will build per-stage eval sets.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5824728" y="3127248"/>
            <a:ext cx="2404872" cy="138988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039612" y="3323844"/>
            <a:ext cx="338328" cy="338328"/>
          </a:xfrm>
          <a:prstGeom prst="ellipse">
            <a:avLst/>
          </a:prstGeom>
          <a:solidFill>
            <a:srgbClr val="1E2947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0961" y="3415193"/>
            <a:ext cx="155631" cy="155631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044184" y="374904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6044184" y="398678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Node-level ACLs don't hold: neighbours leak attributes, message-passing propagates them.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502920" y="468172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upside that pays for it: the retrieved path is an audit trail a domain expert can actually check.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HONEST SCORECARD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Wins and costs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V="1">
            <a:off x="8366760" y="320040"/>
            <a:ext cx="310896" cy="182880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502920"/>
            <a:ext cx="274320" cy="23774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641080" y="320040"/>
            <a:ext cx="36576" cy="42062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16468" y="452628"/>
            <a:ext cx="100584" cy="100584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8" name="Shape 6"/>
          <p:cNvSpPr/>
          <p:nvPr/>
        </p:nvSpPr>
        <p:spPr>
          <a:xfrm>
            <a:off x="8639251" y="281635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9" name="Shape 7"/>
          <p:cNvSpPr/>
          <p:nvPr/>
        </p:nvSpPr>
        <p:spPr>
          <a:xfrm>
            <a:off x="8602675" y="702259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426464"/>
            <a:ext cx="3707892" cy="3054096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426464"/>
            <a:ext cx="50292" cy="3054096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1609344"/>
            <a:ext cx="32506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GAIN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2376" y="1975104"/>
            <a:ext cx="32872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questions answered natively, not with re-query hacks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retrieved path is an audit trail — decisive in regulated domains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queries: intersections, roles, dependencies, ordering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retrieval depth, tuned per query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 disambiguate what embeddings blur together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21708" y="1426464"/>
            <a:ext cx="3707892" cy="3054096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1708" y="1426464"/>
            <a:ext cx="50292" cy="3054096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16" name="Text 14"/>
          <p:cNvSpPr/>
          <p:nvPr/>
        </p:nvSpPr>
        <p:spPr>
          <a:xfrm>
            <a:off x="4777740" y="1609344"/>
            <a:ext cx="32506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7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COSTS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41164" y="1975104"/>
            <a:ext cx="32872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components to build, tune and operate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 becomes your problem — and it's unsolved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Superlinear retrieval latency; an LLM call per hop when iterative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model changes: connections leak what node ACLs protect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ports across domains — expect to re-tune every time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468172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it where relationships carry the answer. Everywhere else, plain RAG is still the right call.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to start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V="1">
            <a:off x="8366760" y="320040"/>
            <a:ext cx="310896" cy="182880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502920"/>
            <a:ext cx="274320" cy="23774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641080" y="320040"/>
            <a:ext cx="36576" cy="420624"/>
          </a:xfrm>
          <a:prstGeom prst="line">
            <a:avLst/>
          </a:prstGeom>
          <a:noFill/>
          <a:ln w="15875">
            <a:solidFill>
              <a:srgbClr val="2330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16468" y="452628"/>
            <a:ext cx="100584" cy="100584"/>
          </a:xfrm>
          <a:prstGeom prst="ellipse">
            <a:avLst/>
          </a:prstGeom>
          <a:solidFill>
            <a:srgbClr val="00E5A8"/>
          </a:solidFill>
          <a:ln/>
        </p:spPr>
      </p:sp>
      <p:sp>
        <p:nvSpPr>
          <p:cNvPr id="8" name="Shape 6"/>
          <p:cNvSpPr/>
          <p:nvPr/>
        </p:nvSpPr>
        <p:spPr>
          <a:xfrm>
            <a:off x="8639251" y="281635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9" name="Shape 7"/>
          <p:cNvSpPr/>
          <p:nvPr/>
        </p:nvSpPr>
        <p:spPr>
          <a:xfrm>
            <a:off x="8602675" y="702259"/>
            <a:ext cx="76810" cy="76810"/>
          </a:xfrm>
          <a:prstGeom prst="ellipse">
            <a:avLst/>
          </a:prstGeom>
          <a:solidFill>
            <a:srgbClr val="8B7C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2984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minimal loop — no training required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19072"/>
            <a:ext cx="1243584" cy="84124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719072"/>
            <a:ext cx="50292" cy="841248"/>
          </a:xfrm>
          <a:prstGeom prst="rect">
            <a:avLst/>
          </a:prstGeom>
          <a:solidFill>
            <a:srgbClr val="8B7CFF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1810512"/>
            <a:ext cx="1024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760220" y="2139696"/>
            <a:ext cx="96012" cy="0"/>
          </a:xfrm>
          <a:prstGeom prst="line">
            <a:avLst/>
          </a:prstGeom>
          <a:noFill/>
          <a:ln w="22225">
            <a:solidFill>
              <a:srgbClr val="3A467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869948" y="1719072"/>
            <a:ext cx="1243584" cy="84124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69948" y="1719072"/>
            <a:ext cx="50292" cy="841248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17" name="Text 15"/>
          <p:cNvSpPr/>
          <p:nvPr/>
        </p:nvSpPr>
        <p:spPr>
          <a:xfrm>
            <a:off x="1997964" y="1810512"/>
            <a:ext cx="1024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27248" y="2139696"/>
            <a:ext cx="96012" cy="0"/>
          </a:xfrm>
          <a:prstGeom prst="line">
            <a:avLst/>
          </a:prstGeom>
          <a:noFill/>
          <a:ln w="22225">
            <a:solidFill>
              <a:srgbClr val="3A467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236976" y="1719072"/>
            <a:ext cx="1243584" cy="84124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36976" y="1719072"/>
            <a:ext cx="50292" cy="841248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21" name="Text 19"/>
          <p:cNvSpPr/>
          <p:nvPr/>
        </p:nvSpPr>
        <p:spPr>
          <a:xfrm>
            <a:off x="3364992" y="1810512"/>
            <a:ext cx="1024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traversal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94276" y="2139696"/>
            <a:ext cx="96012" cy="0"/>
          </a:xfrm>
          <a:prstGeom prst="line">
            <a:avLst/>
          </a:prstGeom>
          <a:noFill/>
          <a:ln w="22225">
            <a:solidFill>
              <a:srgbClr val="3A467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604004" y="1719072"/>
            <a:ext cx="1243584" cy="84124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04004" y="1719072"/>
            <a:ext cx="50292" cy="841248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25" name="Text 23"/>
          <p:cNvSpPr/>
          <p:nvPr/>
        </p:nvSpPr>
        <p:spPr>
          <a:xfrm>
            <a:off x="4732020" y="1810512"/>
            <a:ext cx="1024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pruning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61304" y="2139696"/>
            <a:ext cx="96012" cy="0"/>
          </a:xfrm>
          <a:prstGeom prst="line">
            <a:avLst/>
          </a:prstGeom>
          <a:noFill/>
          <a:ln w="22225">
            <a:solidFill>
              <a:srgbClr val="3A467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971032" y="1719072"/>
            <a:ext cx="1243584" cy="84124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71032" y="1719072"/>
            <a:ext cx="50292" cy="841248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29" name="Text 27"/>
          <p:cNvSpPr/>
          <p:nvPr/>
        </p:nvSpPr>
        <p:spPr>
          <a:xfrm>
            <a:off x="6099048" y="1810512"/>
            <a:ext cx="1024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verbalisation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228332" y="2139696"/>
            <a:ext cx="96012" cy="0"/>
          </a:xfrm>
          <a:prstGeom prst="line">
            <a:avLst/>
          </a:prstGeom>
          <a:noFill/>
          <a:ln w="22225">
            <a:solidFill>
              <a:srgbClr val="3A467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338060" y="1719072"/>
            <a:ext cx="1243584" cy="841248"/>
          </a:xfrm>
          <a:prstGeom prst="rect">
            <a:avLst/>
          </a:prstGeom>
          <a:solidFill>
            <a:srgbClr val="141C3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38060" y="1719072"/>
            <a:ext cx="50292" cy="841248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33" name="Text 31"/>
          <p:cNvSpPr/>
          <p:nvPr/>
        </p:nvSpPr>
        <p:spPr>
          <a:xfrm>
            <a:off x="7466076" y="1810512"/>
            <a:ext cx="1024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Off-the-shelf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" y="27066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instrument every stage, find the weakest one, and spend your budget there.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02920" y="3163824"/>
            <a:ext cx="7726680" cy="1207008"/>
          </a:xfrm>
          <a:prstGeom prst="rect">
            <a:avLst/>
          </a:prstGeom>
          <a:solidFill>
            <a:srgbClr val="1B2445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3163824"/>
            <a:ext cx="50292" cy="1207008"/>
          </a:xfrm>
          <a:prstGeom prst="rect">
            <a:avLst/>
          </a:prstGeom>
          <a:solidFill>
            <a:srgbClr val="00E5A8"/>
          </a:solidFill>
          <a:ln/>
        </p:spPr>
      </p:sp>
      <p:sp>
        <p:nvSpPr>
          <p:cNvPr id="37" name="Text 35"/>
          <p:cNvSpPr/>
          <p:nvPr/>
        </p:nvSpPr>
        <p:spPr>
          <a:xfrm>
            <a:off x="813816" y="33832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Adopt the five-component vocabulary even if you build a subset.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13816" y="371246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7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buys you clean seams, per-stage metrics, and the ability to swap a heuristic retriever for a GNN without touching anything downstream.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455371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 et al., “Retrieval-Augmented Generation with Graphs (GraphRAG)” · arXiv:2501.00309v2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GraphRAG — Architecture &amp; What It Adds to RAG</dc:title>
  <dc:subject>PptxGenJS Presentation</dc:subject>
  <dc:creator>esynergy</dc:creator>
  <cp:lastModifiedBy>esynergy</cp:lastModifiedBy>
  <cp:revision>1</cp:revision>
  <dcterms:created xsi:type="dcterms:W3CDTF">2026-07-27T07:44:17Z</dcterms:created>
  <dcterms:modified xsi:type="dcterms:W3CDTF">2026-07-27T07:44:17Z</dcterms:modified>
</cp:coreProperties>
</file>