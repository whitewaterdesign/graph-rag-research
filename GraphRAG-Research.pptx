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pic>
        <p:nvPicPr>
          <p:cNvPr id="2" name="Picture 1" descr="presentation-home.png"/>
          <p:cNvPicPr>
            <a:picLocks noChangeAspect="1"/>
          </p:cNvPicPr>
          <p:nvPr/>
        </p:nvPicPr>
        <p:blipFill>
          <a:blip r:embed="rId2"/>
          <a:stretch>
            <a:fillRect/>
          </a:stretch>
        </p:blipFill>
        <p:spPr>
          <a:xfrm>
            <a:off x="0" y="-1737"/>
            <a:ext cx="12191695" cy="68614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841248"/>
            <a:ext cx="10692079" cy="1042416"/>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Retrieval-Augmented Generation with Graphs (GraphRAG), Han et al.</a:t>
            </a:r>
          </a:p>
        </p:txBody>
      </p:sp>
      <p:sp>
        <p:nvSpPr>
          <p:cNvPr id="3" name="Rectangle 2"/>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4" name="TextBox 3"/>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5" name="TextBox 4"/>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a:t>
            </a:r>
          </a:p>
        </p:txBody>
      </p:sp>
      <p:sp>
        <p:nvSpPr>
          <p:cNvPr id="6" name="TextBox 5"/>
          <p:cNvSpPr txBox="1"/>
          <p:nvPr/>
        </p:nvSpPr>
        <p:spPr>
          <a:xfrm>
            <a:off x="749808" y="2084831"/>
            <a:ext cx="10692079" cy="546608"/>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Graph RAG follows a multistep process taken from 53 page meta-analysis (Han et al., 2025).</a:t>
            </a:r>
          </a:p>
        </p:txBody>
      </p:sp>
      <p:pic>
        <p:nvPicPr>
          <p:cNvPr id="7" name="Picture 6" descr="rag-graph-paper.png"/>
          <p:cNvPicPr>
            <a:picLocks noChangeAspect="1"/>
          </p:cNvPicPr>
          <p:nvPr/>
        </p:nvPicPr>
        <p:blipFill>
          <a:blip r:embed="rId2"/>
          <a:stretch>
            <a:fillRect/>
          </a:stretch>
        </p:blipFill>
        <p:spPr>
          <a:xfrm>
            <a:off x="3511666" y="2832608"/>
            <a:ext cx="5168362" cy="33670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01</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Representations</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REPRESENTATIONS</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A knowledge graph of films, people and studios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a:t>
            </a:r>
          </a:p>
        </p:txBody>
      </p:sp>
      <p:pic>
        <p:nvPicPr>
          <p:cNvPr id="7" name="Picture 6" descr="knowledge-graph.png"/>
          <p:cNvPicPr>
            <a:picLocks noChangeAspect="1"/>
          </p:cNvPicPr>
          <p:nvPr/>
        </p:nvPicPr>
        <p:blipFill>
          <a:blip r:embed="rId2"/>
          <a:stretch>
            <a:fillRect/>
          </a:stretch>
        </p:blipFill>
        <p:spPr>
          <a:xfrm>
            <a:off x="2490181" y="1755648"/>
            <a:ext cx="7211333" cy="44439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REPRESENTATIONS</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Triples, Property Graph vs Tensor</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a:t>
            </a:r>
          </a:p>
        </p:txBody>
      </p:sp>
      <p:sp>
        <p:nvSpPr>
          <p:cNvPr id="7" name="Rounded Rectangle 6"/>
          <p:cNvSpPr/>
          <p:nvPr/>
        </p:nvSpPr>
        <p:spPr>
          <a:xfrm>
            <a:off x="786384" y="1860804"/>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8" name="TextBox 7"/>
          <p:cNvSpPr txBox="1"/>
          <p:nvPr/>
        </p:nvSpPr>
        <p:spPr>
          <a:xfrm>
            <a:off x="1060704" y="1755648"/>
            <a:ext cx="10381183" cy="550163"/>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RDF Triples</a:t>
            </a:r>
            <a:r>
              <a:rPr sz="1500" b="0" i="0">
                <a:solidFill>
                  <a:srgbClr val="333B43"/>
                </a:solidFill>
                <a:latin typeface="Calibri"/>
              </a:rPr>
              <a:t> (PaymentsAPI, ownedBy, PaymentsTeam) nodes and edges are represented as </a:t>
            </a:r>
            <a:r>
              <a:rPr sz="1500" b="1" i="0">
                <a:solidFill>
                  <a:srgbClr val="333B43"/>
                </a:solidFill>
                <a:latin typeface="Calibri"/>
              </a:rPr>
              <a:t>subject-relationship-object</a:t>
            </a:r>
            <a:r>
              <a:rPr sz="1500" b="0" i="0">
                <a:solidFill>
                  <a:srgbClr val="333B43"/>
                </a:solidFill>
                <a:latin typeface="Calibri"/>
              </a:rPr>
              <a:t> triples</a:t>
            </a:r>
          </a:p>
        </p:txBody>
      </p:sp>
      <p:sp>
        <p:nvSpPr>
          <p:cNvPr id="9" name="Rounded Rectangle 8"/>
          <p:cNvSpPr/>
          <p:nvPr/>
        </p:nvSpPr>
        <p:spPr>
          <a:xfrm>
            <a:off x="786384" y="2410968"/>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0" name="TextBox 9"/>
          <p:cNvSpPr txBox="1"/>
          <p:nvPr/>
        </p:nvSpPr>
        <p:spPr>
          <a:xfrm>
            <a:off x="1060704" y="2305812"/>
            <a:ext cx="10381183" cy="550163"/>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Labelled Property Graph</a:t>
            </a:r>
            <a:r>
              <a:rPr sz="1500" b="0" i="0">
                <a:solidFill>
                  <a:srgbClr val="333B43"/>
                </a:solidFill>
                <a:latin typeface="Calibri"/>
              </a:rPr>
              <a:t> Neo4j is an example, nodes and relationships can contain multiple properties, which are very useful for searching over</a:t>
            </a:r>
          </a:p>
        </p:txBody>
      </p:sp>
      <p:sp>
        <p:nvSpPr>
          <p:cNvPr id="11" name="Rounded Rectangle 10"/>
          <p:cNvSpPr/>
          <p:nvPr/>
        </p:nvSpPr>
        <p:spPr>
          <a:xfrm>
            <a:off x="786384" y="2961132"/>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2" name="TextBox 11"/>
          <p:cNvSpPr txBox="1"/>
          <p:nvPr/>
        </p:nvSpPr>
        <p:spPr>
          <a:xfrm>
            <a:off x="1060704" y="2855975"/>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GNN Graph</a:t>
            </a:r>
            <a:r>
              <a:rPr sz="1500" b="0" i="0">
                <a:solidFill>
                  <a:srgbClr val="333B43"/>
                </a:solidFill>
                <a:latin typeface="Calibri"/>
              </a:rPr>
              <a:t> x,edge_index, edge_attr - a numerical representation optimised for 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02</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Previous spike</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PREVIOUS SPIKE</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Previous spike</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4</a:t>
            </a:r>
          </a:p>
        </p:txBody>
      </p:sp>
      <p:sp>
        <p:nvSpPr>
          <p:cNvPr id="7" name="Rounded Rectangle 6"/>
          <p:cNvSpPr/>
          <p:nvPr/>
        </p:nvSpPr>
        <p:spPr>
          <a:xfrm>
            <a:off x="786384" y="1860804"/>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8" name="TextBox 7"/>
          <p:cNvSpPr txBox="1"/>
          <p:nvPr/>
        </p:nvSpPr>
        <p:spPr>
          <a:xfrm>
            <a:off x="1060704" y="1755648"/>
            <a:ext cx="10381183" cy="104546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Query processor</a:t>
            </a:r>
            <a:r>
              <a:rPr sz="1500" b="0" i="0">
                <a:solidFill>
                  <a:srgbClr val="333B43"/>
                </a:solidFill>
                <a:latin typeface="Calibri"/>
              </a:rPr>
              <a:t> - The LLM had access to a schema tool, so it had the schema of a graph (in Cypher) and an MCP server for making queries. Based on the schema it converted the query into a Cypher query (</a:t>
            </a:r>
            <a:r>
              <a:rPr sz="1500" b="1" i="0">
                <a:solidFill>
                  <a:srgbClr val="333B43"/>
                </a:solidFill>
                <a:latin typeface="Calibri"/>
              </a:rPr>
              <a:t>Query Structuration</a:t>
            </a:r>
            <a:r>
              <a:rPr sz="1500" b="0" i="0">
                <a:solidFill>
                  <a:srgbClr val="333B43"/>
                </a:solidFill>
                <a:latin typeface="Calibri"/>
              </a:rPr>
              <a:t>) to get the appropriate responses from the graph to answer its question. All the heavy lifting was done by the prompt and the Query -&gt; Cypher translation</a:t>
            </a:r>
          </a:p>
        </p:txBody>
      </p:sp>
      <p:sp>
        <p:nvSpPr>
          <p:cNvPr id="9" name="Rounded Rectangle 8"/>
          <p:cNvSpPr/>
          <p:nvPr/>
        </p:nvSpPr>
        <p:spPr>
          <a:xfrm>
            <a:off x="786384" y="2906268"/>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0" name="TextBox 9"/>
          <p:cNvSpPr txBox="1"/>
          <p:nvPr/>
        </p:nvSpPr>
        <p:spPr>
          <a:xfrm>
            <a:off x="1060704" y="2801112"/>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Retriever</a:t>
            </a:r>
            <a:r>
              <a:rPr sz="1500" b="0" i="0">
                <a:solidFill>
                  <a:srgbClr val="333B43"/>
                </a:solidFill>
                <a:latin typeface="Calibri"/>
              </a:rPr>
              <a:t> - An MCP server did a raw Cypher request to the graph and returned the</a:t>
            </a:r>
          </a:p>
        </p:txBody>
      </p:sp>
      <p:sp>
        <p:nvSpPr>
          <p:cNvPr id="11" name="Rounded Rectangle 10"/>
          <p:cNvSpPr/>
          <p:nvPr/>
        </p:nvSpPr>
        <p:spPr>
          <a:xfrm>
            <a:off x="786384" y="3235452"/>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2" name="TextBox 11"/>
          <p:cNvSpPr txBox="1"/>
          <p:nvPr/>
        </p:nvSpPr>
        <p:spPr>
          <a:xfrm>
            <a:off x="1060704" y="3130296"/>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Graph Data Source</a:t>
            </a:r>
            <a:r>
              <a:rPr sz="1500" b="0" i="0">
                <a:solidFill>
                  <a:srgbClr val="333B43"/>
                </a:solidFill>
                <a:latin typeface="Calibri"/>
              </a:rPr>
              <a:t> - Neo4J database</a:t>
            </a:r>
          </a:p>
        </p:txBody>
      </p:sp>
      <p:sp>
        <p:nvSpPr>
          <p:cNvPr id="13" name="Rounded Rectangle 12"/>
          <p:cNvSpPr/>
          <p:nvPr/>
        </p:nvSpPr>
        <p:spPr>
          <a:xfrm>
            <a:off x="786384" y="3564636"/>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4" name="TextBox 13"/>
          <p:cNvSpPr txBox="1"/>
          <p:nvPr/>
        </p:nvSpPr>
        <p:spPr>
          <a:xfrm>
            <a:off x="1060704" y="3459480"/>
            <a:ext cx="10381183" cy="550163"/>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Organiser</a:t>
            </a:r>
            <a:r>
              <a:rPr sz="1500" b="0" i="0">
                <a:solidFill>
                  <a:srgbClr val="333B43"/>
                </a:solidFill>
                <a:latin typeface="Calibri"/>
              </a:rPr>
              <a:t> - The prompt turned the Cypher response back into a human-readable answer, as well as returning the context</a:t>
            </a:r>
          </a:p>
        </p:txBody>
      </p:sp>
      <p:sp>
        <p:nvSpPr>
          <p:cNvPr id="15" name="TextBox 14"/>
          <p:cNvSpPr txBox="1"/>
          <p:nvPr/>
        </p:nvSpPr>
        <p:spPr>
          <a:xfrm>
            <a:off x="749808" y="4119372"/>
            <a:ext cx="10692079" cy="1103376"/>
          </a:xfrm>
          <a:prstGeom prst="rect">
            <a:avLst/>
          </a:prstGeom>
          <a:noFill/>
        </p:spPr>
        <p:txBody>
          <a:bodyPr wrap="square" lIns="0" tIns="0" rIns="0" bIns="0" anchor="t">
            <a:spAutoFit/>
          </a:bodyPr>
          <a:lstStyle/>
          <a:p>
            <a:pPr algn="l">
              <a:lnSpc>
                <a:spcPct val="134000"/>
              </a:lnSpc>
              <a:spcBef>
                <a:spcPts val="0"/>
              </a:spcBef>
              <a:spcAft>
                <a:spcPts val="0"/>
              </a:spcAft>
            </a:pPr>
            <a:r>
              <a:rPr sz="1500" b="1" i="0">
                <a:solidFill>
                  <a:srgbClr val="333B43"/>
                </a:solidFill>
                <a:latin typeface="Calibri"/>
              </a:rPr>
              <a:t>Results</a:t>
            </a:r>
            <a:r>
              <a:rPr sz="1500" b="0" i="0">
                <a:solidFill>
                  <a:srgbClr val="333B43"/>
                </a:solidFill>
                <a:latin typeface="Calibri"/>
              </a:rPr>
              <a:t> - It performed very well with single hop queries, queries that required aggregation. Responses were much more deterministic than with the RAG agent. </a:t>
            </a:r>
            <a:r>
              <a:rPr sz="1500" b="1" i="0">
                <a:solidFill>
                  <a:srgbClr val="333B43"/>
                </a:solidFill>
                <a:latin typeface="Calibri"/>
              </a:rPr>
              <a:t>But</a:t>
            </a:r>
            <a:r>
              <a:rPr sz="1500" b="0" i="0">
                <a:solidFill>
                  <a:srgbClr val="333B43"/>
                </a:solidFill>
                <a:latin typeface="Calibri"/>
              </a:rPr>
              <a:t>, it struggled when answers were more than one or two hops. The point of this research is to see what options we have for an engine that is able to return accurate results a more than one hop.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PREVIOUS SPIKE</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Examples of 1–2 Hop Knowledge Graph Paths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5</a:t>
            </a:r>
          </a:p>
        </p:txBody>
      </p:sp>
      <p:sp>
        <p:nvSpPr>
          <p:cNvPr id="7" name="Rounded Rectangle 6"/>
          <p:cNvSpPr/>
          <p:nvPr/>
        </p:nvSpPr>
        <p:spPr>
          <a:xfrm>
            <a:off x="786384" y="1860804"/>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8" name="TextBox 7"/>
          <p:cNvSpPr txBox="1"/>
          <p:nvPr/>
        </p:nvSpPr>
        <p:spPr>
          <a:xfrm>
            <a:off x="1060704" y="1755648"/>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Person → Company</a:t>
            </a:r>
            <a:r>
              <a:rPr sz="1500" b="0" i="0">
                <a:solidFill>
                  <a:srgbClr val="333B43"/>
                </a:solidFill>
                <a:latin typeface="Calibri"/>
              </a:rPr>
              <a:t> Alice → </a:t>
            </a:r>
            <a:r>
              <a:rPr sz="1500" b="1" i="0">
                <a:solidFill>
                  <a:srgbClr val="333B43"/>
                </a:solidFill>
                <a:latin typeface="Calibri"/>
              </a:rPr>
              <a:t>works_at</a:t>
            </a:r>
            <a:r>
              <a:rPr sz="1500" b="0" i="0">
                <a:solidFill>
                  <a:srgbClr val="333B43"/>
                </a:solidFill>
                <a:latin typeface="Calibri"/>
              </a:rPr>
              <a:t> → Google </a:t>
            </a:r>
            <a:r>
              <a:rPr sz="1500" b="0" i="1">
                <a:solidFill>
                  <a:srgbClr val="333B43"/>
                </a:solidFill>
                <a:latin typeface="Calibri"/>
              </a:rPr>
              <a:t>1 hop</a:t>
            </a:r>
          </a:p>
        </p:txBody>
      </p:sp>
      <p:sp>
        <p:nvSpPr>
          <p:cNvPr id="9" name="Rounded Rectangle 8"/>
          <p:cNvSpPr/>
          <p:nvPr/>
        </p:nvSpPr>
        <p:spPr>
          <a:xfrm>
            <a:off x="786384" y="2299716"/>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0" name="TextBox 9"/>
          <p:cNvSpPr txBox="1"/>
          <p:nvPr/>
        </p:nvSpPr>
        <p:spPr>
          <a:xfrm>
            <a:off x="1060704" y="2194560"/>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Person → City</a:t>
            </a:r>
            <a:r>
              <a:rPr sz="1500" b="0" i="0">
                <a:solidFill>
                  <a:srgbClr val="333B43"/>
                </a:solidFill>
                <a:latin typeface="Calibri"/>
              </a:rPr>
              <a:t> Bob → </a:t>
            </a:r>
            <a:r>
              <a:rPr sz="1500" b="1" i="0">
                <a:solidFill>
                  <a:srgbClr val="333B43"/>
                </a:solidFill>
                <a:latin typeface="Calibri"/>
              </a:rPr>
              <a:t>lives_in</a:t>
            </a:r>
            <a:r>
              <a:rPr sz="1500" b="0" i="0">
                <a:solidFill>
                  <a:srgbClr val="333B43"/>
                </a:solidFill>
                <a:latin typeface="Calibri"/>
              </a:rPr>
              <a:t> → London </a:t>
            </a:r>
            <a:r>
              <a:rPr sz="1500" b="0" i="1">
                <a:solidFill>
                  <a:srgbClr val="333B43"/>
                </a:solidFill>
                <a:latin typeface="Calibri"/>
              </a:rPr>
              <a:t>1 hop</a:t>
            </a:r>
          </a:p>
        </p:txBody>
      </p:sp>
      <p:sp>
        <p:nvSpPr>
          <p:cNvPr id="11" name="Rounded Rectangle 10"/>
          <p:cNvSpPr/>
          <p:nvPr/>
        </p:nvSpPr>
        <p:spPr>
          <a:xfrm>
            <a:off x="786384" y="2738628"/>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2" name="TextBox 11"/>
          <p:cNvSpPr txBox="1"/>
          <p:nvPr/>
        </p:nvSpPr>
        <p:spPr>
          <a:xfrm>
            <a:off x="1060704" y="2633472"/>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Person → Company → City</a:t>
            </a:r>
            <a:r>
              <a:rPr sz="1500" b="0" i="0">
                <a:solidFill>
                  <a:srgbClr val="333B43"/>
                </a:solidFill>
                <a:latin typeface="Calibri"/>
              </a:rPr>
              <a:t> Alice → </a:t>
            </a:r>
            <a:r>
              <a:rPr sz="1500" b="1" i="0">
                <a:solidFill>
                  <a:srgbClr val="333B43"/>
                </a:solidFill>
                <a:latin typeface="Calibri"/>
              </a:rPr>
              <a:t>works_at</a:t>
            </a:r>
            <a:r>
              <a:rPr sz="1500" b="0" i="0">
                <a:solidFill>
                  <a:srgbClr val="333B43"/>
                </a:solidFill>
                <a:latin typeface="Calibri"/>
              </a:rPr>
              <a:t> → Google → </a:t>
            </a:r>
            <a:r>
              <a:rPr sz="1500" b="1" i="0">
                <a:solidFill>
                  <a:srgbClr val="333B43"/>
                </a:solidFill>
                <a:latin typeface="Calibri"/>
              </a:rPr>
              <a:t>headquartered_in</a:t>
            </a:r>
            <a:r>
              <a:rPr sz="1500" b="0" i="0">
                <a:solidFill>
                  <a:srgbClr val="333B43"/>
                </a:solidFill>
                <a:latin typeface="Calibri"/>
              </a:rPr>
              <a:t> → Mountain View </a:t>
            </a:r>
            <a:r>
              <a:rPr sz="1500" b="0" i="1">
                <a:solidFill>
                  <a:srgbClr val="333B43"/>
                </a:solidFill>
                <a:latin typeface="Calibri"/>
              </a:rPr>
              <a:t>2 hops</a:t>
            </a:r>
          </a:p>
        </p:txBody>
      </p:sp>
      <p:sp>
        <p:nvSpPr>
          <p:cNvPr id="13" name="Rounded Rectangle 12"/>
          <p:cNvSpPr/>
          <p:nvPr/>
        </p:nvSpPr>
        <p:spPr>
          <a:xfrm>
            <a:off x="786384" y="3177540"/>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4" name="TextBox 13"/>
          <p:cNvSpPr txBox="1"/>
          <p:nvPr/>
        </p:nvSpPr>
        <p:spPr>
          <a:xfrm>
            <a:off x="1060704" y="3072384"/>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Drug → Disease → Symptom</a:t>
            </a:r>
            <a:r>
              <a:rPr sz="1500" b="0" i="0">
                <a:solidFill>
                  <a:srgbClr val="333B43"/>
                </a:solidFill>
                <a:latin typeface="Calibri"/>
              </a:rPr>
              <a:t> Metformin → </a:t>
            </a:r>
            <a:r>
              <a:rPr sz="1500" b="1" i="0">
                <a:solidFill>
                  <a:srgbClr val="333B43"/>
                </a:solidFill>
                <a:latin typeface="Calibri"/>
              </a:rPr>
              <a:t>treats</a:t>
            </a:r>
            <a:r>
              <a:rPr sz="1500" b="0" i="0">
                <a:solidFill>
                  <a:srgbClr val="333B43"/>
                </a:solidFill>
                <a:latin typeface="Calibri"/>
              </a:rPr>
              <a:t> → Type 2 Diabetes → </a:t>
            </a:r>
            <a:r>
              <a:rPr sz="1500" b="1" i="0">
                <a:solidFill>
                  <a:srgbClr val="333B43"/>
                </a:solidFill>
                <a:latin typeface="Calibri"/>
              </a:rPr>
              <a:t>has_symptom</a:t>
            </a:r>
            <a:r>
              <a:rPr sz="1500" b="0" i="0">
                <a:solidFill>
                  <a:srgbClr val="333B43"/>
                </a:solidFill>
                <a:latin typeface="Calibri"/>
              </a:rPr>
              <a:t> → Fatigue </a:t>
            </a:r>
            <a:r>
              <a:rPr sz="1500" b="0" i="1">
                <a:solidFill>
                  <a:srgbClr val="333B43"/>
                </a:solidFill>
                <a:latin typeface="Calibri"/>
              </a:rPr>
              <a:t>2 hops</a:t>
            </a:r>
          </a:p>
        </p:txBody>
      </p:sp>
      <p:sp>
        <p:nvSpPr>
          <p:cNvPr id="15" name="Rounded Rectangle 14"/>
          <p:cNvSpPr/>
          <p:nvPr/>
        </p:nvSpPr>
        <p:spPr>
          <a:xfrm>
            <a:off x="786384" y="3616452"/>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6" name="TextBox 15"/>
          <p:cNvSpPr txBox="1"/>
          <p:nvPr/>
        </p:nvSpPr>
        <p:spPr>
          <a:xfrm>
            <a:off x="1060704" y="3511296"/>
            <a:ext cx="10381183" cy="550163"/>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Developer → API → Service</a:t>
            </a:r>
            <a:r>
              <a:rPr sz="1500" b="0" i="0">
                <a:solidFill>
                  <a:srgbClr val="333B43"/>
                </a:solidFill>
                <a:latin typeface="Calibri"/>
              </a:rPr>
              <a:t> Developer → </a:t>
            </a:r>
            <a:r>
              <a:rPr sz="1500" b="1" i="0">
                <a:solidFill>
                  <a:srgbClr val="333B43"/>
                </a:solidFill>
                <a:latin typeface="Calibri"/>
              </a:rPr>
              <a:t>uses</a:t>
            </a:r>
            <a:r>
              <a:rPr sz="1500" b="0" i="0">
                <a:solidFill>
                  <a:srgbClr val="333B43"/>
                </a:solidFill>
                <a:latin typeface="Calibri"/>
              </a:rPr>
              <a:t> → Payments API → </a:t>
            </a:r>
            <a:r>
              <a:rPr sz="1500" b="1" i="0">
                <a:solidFill>
                  <a:srgbClr val="333B43"/>
                </a:solidFill>
                <a:latin typeface="Calibri"/>
              </a:rPr>
              <a:t>connects_to</a:t>
            </a:r>
            <a:r>
              <a:rPr sz="1500" b="0" i="0">
                <a:solidFill>
                  <a:srgbClr val="333B43"/>
                </a:solidFill>
                <a:latin typeface="Calibri"/>
              </a:rPr>
              <a:t> → Payment Service </a:t>
            </a:r>
            <a:r>
              <a:rPr sz="1500" b="0" i="1">
                <a:solidFill>
                  <a:srgbClr val="333B43"/>
                </a:solidFill>
                <a:latin typeface="Calibri"/>
              </a:rPr>
              <a:t>2 hops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03</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Background Information</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BACKGROUND INFORMATION</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Heuristics vs Semantics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6</a:t>
            </a:r>
          </a:p>
        </p:txBody>
      </p:sp>
      <p:sp>
        <p:nvSpPr>
          <p:cNvPr id="7" name="Rounded Rectangle 6"/>
          <p:cNvSpPr/>
          <p:nvPr/>
        </p:nvSpPr>
        <p:spPr>
          <a:xfrm>
            <a:off x="749808" y="1755648"/>
            <a:ext cx="5154015"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8" name="Rectangle 7"/>
          <p:cNvSpPr/>
          <p:nvPr/>
        </p:nvSpPr>
        <p:spPr>
          <a:xfrm>
            <a:off x="749808" y="1755648"/>
            <a:ext cx="5154015" cy="68580"/>
          </a:xfrm>
          <a:prstGeom prst="rect">
            <a:avLst/>
          </a:prstGeom>
          <a:solidFill>
            <a:srgbClr val="3E5C76"/>
          </a:solidFill>
          <a:ln>
            <a:noFill/>
          </a:ln>
          <a:effectLst/>
        </p:spPr>
        <p:txBody>
          <a:bodyPr rtlCol="0" anchor="ctr"/>
          <a:lstStyle/>
          <a:p>
            <a:pPr algn="ctr"/>
            <a:endParaRPr/>
          </a:p>
        </p:txBody>
      </p:sp>
      <p:sp>
        <p:nvSpPr>
          <p:cNvPr id="9" name="TextBox 8"/>
          <p:cNvSpPr txBox="1"/>
          <p:nvPr/>
        </p:nvSpPr>
        <p:spPr>
          <a:xfrm>
            <a:off x="1115568" y="2139696"/>
            <a:ext cx="4422495" cy="457200"/>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Heuristics</a:t>
            </a:r>
          </a:p>
        </p:txBody>
      </p:sp>
      <p:sp>
        <p:nvSpPr>
          <p:cNvPr id="10" name="TextBox 9"/>
          <p:cNvSpPr txBox="1"/>
          <p:nvPr/>
        </p:nvSpPr>
        <p:spPr>
          <a:xfrm>
            <a:off x="1115568" y="2688336"/>
            <a:ext cx="4422495" cy="1912112"/>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Uses traditional rules, practical rule of thumb, clues. For example, word clues, if we are looking for a book on gardening, we go to the gardening section, look for books with gardening in the title, check for books next to the gardening book, look for books written by Alan Titchmarsh or Monty Don. Fuzzy searches would fit into this field</a:t>
            </a:r>
          </a:p>
        </p:txBody>
      </p:sp>
      <p:sp>
        <p:nvSpPr>
          <p:cNvPr id="11" name="Rounded Rectangle 10"/>
          <p:cNvSpPr/>
          <p:nvPr/>
        </p:nvSpPr>
        <p:spPr>
          <a:xfrm>
            <a:off x="6287871" y="1755648"/>
            <a:ext cx="5154015"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2" name="Rectangle 11"/>
          <p:cNvSpPr/>
          <p:nvPr/>
        </p:nvSpPr>
        <p:spPr>
          <a:xfrm>
            <a:off x="6287871" y="1755648"/>
            <a:ext cx="5154015" cy="68580"/>
          </a:xfrm>
          <a:prstGeom prst="rect">
            <a:avLst/>
          </a:prstGeom>
          <a:solidFill>
            <a:srgbClr val="B0703A"/>
          </a:solidFill>
          <a:ln>
            <a:noFill/>
          </a:ln>
          <a:effectLst/>
        </p:spPr>
        <p:txBody>
          <a:bodyPr rtlCol="0" anchor="ctr"/>
          <a:lstStyle/>
          <a:p>
            <a:pPr algn="ctr"/>
            <a:endParaRPr/>
          </a:p>
        </p:txBody>
      </p:sp>
      <p:sp>
        <p:nvSpPr>
          <p:cNvPr id="13" name="TextBox 12"/>
          <p:cNvSpPr txBox="1"/>
          <p:nvPr/>
        </p:nvSpPr>
        <p:spPr>
          <a:xfrm>
            <a:off x="6653631" y="2139696"/>
            <a:ext cx="4422495" cy="457200"/>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Semantics</a:t>
            </a:r>
          </a:p>
        </p:txBody>
      </p:sp>
      <p:sp>
        <p:nvSpPr>
          <p:cNvPr id="14" name="TextBox 13"/>
          <p:cNvSpPr txBox="1"/>
          <p:nvPr/>
        </p:nvSpPr>
        <p:spPr>
          <a:xfrm>
            <a:off x="6653631" y="2688336"/>
            <a:ext cx="4422495" cy="2594864"/>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Based on meaning, we first understand the meaning behind the sentence and then approach the problem that way. For example if someone says "I'm going to get a sandwich", we can probably ascertain that they are hungry. Within the context of Artificial Intelligence and ML, when we are talking about semantics, we are probably likely to use embeddings and mechanisms such as cosine similarity. Embeddings are able to capture the meaning of a phrase rather than the just the raw shape of the words.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BACKGROUND INFORMATION</a:t>
            </a:r>
          </a:p>
        </p:txBody>
      </p:sp>
      <p:sp>
        <p:nvSpPr>
          <p:cNvPr id="3" name="TextBox 2"/>
          <p:cNvSpPr txBox="1"/>
          <p:nvPr/>
        </p:nvSpPr>
        <p:spPr>
          <a:xfrm>
            <a:off x="749808" y="841248"/>
            <a:ext cx="10692079" cy="1042416"/>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Cosine similarity: closeness of meaning as the angle between two vectors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7</a:t>
            </a:r>
          </a:p>
        </p:txBody>
      </p:sp>
      <p:pic>
        <p:nvPicPr>
          <p:cNvPr id="7" name="Picture 6" descr="img_2.png"/>
          <p:cNvPicPr>
            <a:picLocks noChangeAspect="1"/>
          </p:cNvPicPr>
          <p:nvPr/>
        </p:nvPicPr>
        <p:blipFill>
          <a:blip r:embed="rId2"/>
          <a:stretch>
            <a:fillRect/>
          </a:stretch>
        </p:blipFill>
        <p:spPr>
          <a:xfrm>
            <a:off x="3511996" y="2176272"/>
            <a:ext cx="5167702" cy="4023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BACKGROUND INFORMATION</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The GraphRAG pipeline</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8</a:t>
            </a:r>
          </a:p>
        </p:txBody>
      </p:sp>
      <p:pic>
        <p:nvPicPr>
          <p:cNvPr id="7" name="Picture 6" descr="graphrag-pipeline.png"/>
          <p:cNvPicPr>
            <a:picLocks noChangeAspect="1"/>
          </p:cNvPicPr>
          <p:nvPr/>
        </p:nvPicPr>
        <p:blipFill>
          <a:blip r:embed="rId2"/>
          <a:stretch>
            <a:fillRect/>
          </a:stretch>
        </p:blipFill>
        <p:spPr>
          <a:xfrm>
            <a:off x="1913939" y="1755648"/>
            <a:ext cx="8363817" cy="4059936"/>
          </a:xfrm>
          <a:prstGeom prst="rect">
            <a:avLst/>
          </a:prstGeom>
        </p:spPr>
      </p:pic>
      <p:sp>
        <p:nvSpPr>
          <p:cNvPr id="8" name="TextBox 7"/>
          <p:cNvSpPr txBox="1"/>
          <p:nvPr/>
        </p:nvSpPr>
        <p:spPr>
          <a:xfrm>
            <a:off x="749808" y="5888736"/>
            <a:ext cx="10692079" cy="292608"/>
          </a:xfrm>
          <a:prstGeom prst="rect">
            <a:avLst/>
          </a:prstGeom>
          <a:noFill/>
        </p:spPr>
        <p:txBody>
          <a:bodyPr wrap="square" lIns="0" tIns="0" rIns="0" bIns="0" anchor="t">
            <a:spAutoFit/>
          </a:bodyPr>
          <a:lstStyle/>
          <a:p>
            <a:pPr algn="ctr">
              <a:lnSpc>
                <a:spcPct val="128000"/>
              </a:lnSpc>
              <a:spcBef>
                <a:spcPts val="0"/>
              </a:spcBef>
              <a:spcAft>
                <a:spcPts val="0"/>
              </a:spcAft>
            </a:pPr>
            <a:r>
              <a:rPr sz="1150" b="0" i="1">
                <a:solidFill>
                  <a:srgbClr val="6E757D"/>
                </a:solidFill>
                <a:latin typeface="Calibri"/>
              </a:rPr>
              <a:t>How a query moves through the four stages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BACKGROUND INFORMATION</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The GraphRAG framework</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9</a:t>
            </a:r>
          </a:p>
        </p:txBody>
      </p:sp>
      <p:pic>
        <p:nvPicPr>
          <p:cNvPr id="7" name="Picture 6" descr="img.png"/>
          <p:cNvPicPr>
            <a:picLocks noChangeAspect="1"/>
          </p:cNvPicPr>
          <p:nvPr/>
        </p:nvPicPr>
        <p:blipFill>
          <a:blip r:embed="rId2"/>
          <a:stretch>
            <a:fillRect/>
          </a:stretch>
        </p:blipFill>
        <p:spPr>
          <a:xfrm>
            <a:off x="749808" y="2148216"/>
            <a:ext cx="10692079" cy="3274799"/>
          </a:xfrm>
          <a:prstGeom prst="rect">
            <a:avLst/>
          </a:prstGeom>
        </p:spPr>
      </p:pic>
      <p:sp>
        <p:nvSpPr>
          <p:cNvPr id="8" name="TextBox 7"/>
          <p:cNvSpPr txBox="1"/>
          <p:nvPr/>
        </p:nvSpPr>
        <p:spPr>
          <a:xfrm>
            <a:off x="749808" y="5888736"/>
            <a:ext cx="10692079" cy="292608"/>
          </a:xfrm>
          <a:prstGeom prst="rect">
            <a:avLst/>
          </a:prstGeom>
          <a:noFill/>
        </p:spPr>
        <p:txBody>
          <a:bodyPr wrap="square" lIns="0" tIns="0" rIns="0" bIns="0" anchor="t">
            <a:spAutoFit/>
          </a:bodyPr>
          <a:lstStyle/>
          <a:p>
            <a:pPr algn="ctr">
              <a:lnSpc>
                <a:spcPct val="128000"/>
              </a:lnSpc>
              <a:spcBef>
                <a:spcPts val="0"/>
              </a:spcBef>
              <a:spcAft>
                <a:spcPts val="0"/>
              </a:spcAft>
            </a:pPr>
            <a:r>
              <a:rPr sz="1150" b="0" i="1">
                <a:solidFill>
                  <a:srgbClr val="6E757D"/>
                </a:solidFill>
                <a:latin typeface="Calibri"/>
              </a:rPr>
              <a:t>The GraphRAG framework: query processor, retriever, organizer, generator (Han et al., 2025)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04</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Query Processor</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QUERY PROCESSOR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Query Processor</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10</a:t>
            </a:r>
          </a:p>
        </p:txBody>
      </p:sp>
      <p:sp>
        <p:nvSpPr>
          <p:cNvPr id="7" name="TextBox 6"/>
          <p:cNvSpPr txBox="1"/>
          <p:nvPr/>
        </p:nvSpPr>
        <p:spPr>
          <a:xfrm>
            <a:off x="749808" y="1755648"/>
            <a:ext cx="10692079" cy="37185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You start with a query, then the pipeline goes through a first stage where it formulates the query.</a:t>
            </a:r>
          </a:p>
        </p:txBody>
      </p:sp>
      <p:sp>
        <p:nvSpPr>
          <p:cNvPr id="8" name="TextBox 7"/>
          <p:cNvSpPr txBox="1"/>
          <p:nvPr/>
        </p:nvSpPr>
        <p:spPr>
          <a:xfrm>
            <a:off x="749808" y="2310383"/>
            <a:ext cx="10692079" cy="37185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There are a number of different approaches for how the query can be formulated:</a:t>
            </a:r>
          </a:p>
        </p:txBody>
      </p:sp>
      <p:sp>
        <p:nvSpPr>
          <p:cNvPr id="9" name="Rounded Rectangle 8"/>
          <p:cNvSpPr/>
          <p:nvPr/>
        </p:nvSpPr>
        <p:spPr>
          <a:xfrm>
            <a:off x="786384" y="2970275"/>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0" name="TextBox 9"/>
          <p:cNvSpPr txBox="1"/>
          <p:nvPr/>
        </p:nvSpPr>
        <p:spPr>
          <a:xfrm>
            <a:off x="1060704" y="2865119"/>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entity recognition</a:t>
            </a:r>
          </a:p>
        </p:txBody>
      </p:sp>
      <p:sp>
        <p:nvSpPr>
          <p:cNvPr id="11" name="Rounded Rectangle 10"/>
          <p:cNvSpPr/>
          <p:nvPr/>
        </p:nvSpPr>
        <p:spPr>
          <a:xfrm>
            <a:off x="786384" y="3299459"/>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2" name="TextBox 11"/>
          <p:cNvSpPr txBox="1"/>
          <p:nvPr/>
        </p:nvSpPr>
        <p:spPr>
          <a:xfrm>
            <a:off x="1060704" y="3194303"/>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relational extraction</a:t>
            </a:r>
          </a:p>
        </p:txBody>
      </p:sp>
      <p:sp>
        <p:nvSpPr>
          <p:cNvPr id="13" name="Rounded Rectangle 12"/>
          <p:cNvSpPr/>
          <p:nvPr/>
        </p:nvSpPr>
        <p:spPr>
          <a:xfrm>
            <a:off x="786384" y="3628643"/>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4" name="TextBox 13"/>
          <p:cNvSpPr txBox="1"/>
          <p:nvPr/>
        </p:nvSpPr>
        <p:spPr>
          <a:xfrm>
            <a:off x="1060704" y="3523487"/>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query structuration</a:t>
            </a:r>
          </a:p>
        </p:txBody>
      </p:sp>
      <p:sp>
        <p:nvSpPr>
          <p:cNvPr id="15" name="Rounded Rectangle 14"/>
          <p:cNvSpPr/>
          <p:nvPr/>
        </p:nvSpPr>
        <p:spPr>
          <a:xfrm>
            <a:off x="786384" y="3957828"/>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6" name="TextBox 15"/>
          <p:cNvSpPr txBox="1"/>
          <p:nvPr/>
        </p:nvSpPr>
        <p:spPr>
          <a:xfrm>
            <a:off x="1060704" y="3852671"/>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query decomposition</a:t>
            </a:r>
          </a:p>
        </p:txBody>
      </p:sp>
      <p:sp>
        <p:nvSpPr>
          <p:cNvPr id="17" name="Rounded Rectangle 16"/>
          <p:cNvSpPr/>
          <p:nvPr/>
        </p:nvSpPr>
        <p:spPr>
          <a:xfrm>
            <a:off x="786384" y="4287012"/>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8" name="TextBox 17"/>
          <p:cNvSpPr txBox="1"/>
          <p:nvPr/>
        </p:nvSpPr>
        <p:spPr>
          <a:xfrm>
            <a:off x="1060704" y="4181856"/>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query expansion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QUERY PROCESSOR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The five query-processing techniques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11</a:t>
            </a:r>
          </a:p>
        </p:txBody>
      </p:sp>
      <p:pic>
        <p:nvPicPr>
          <p:cNvPr id="7" name="Picture 6" descr="query-structurisation.png"/>
          <p:cNvPicPr>
            <a:picLocks noChangeAspect="1"/>
          </p:cNvPicPr>
          <p:nvPr/>
        </p:nvPicPr>
        <p:blipFill>
          <a:blip r:embed="rId2"/>
          <a:stretch>
            <a:fillRect/>
          </a:stretch>
        </p:blipFill>
        <p:spPr>
          <a:xfrm>
            <a:off x="749808" y="1814221"/>
            <a:ext cx="10692079" cy="3942790"/>
          </a:xfrm>
          <a:prstGeom prst="rect">
            <a:avLst/>
          </a:prstGeom>
        </p:spPr>
      </p:pic>
      <p:sp>
        <p:nvSpPr>
          <p:cNvPr id="8" name="TextBox 7"/>
          <p:cNvSpPr txBox="1"/>
          <p:nvPr/>
        </p:nvSpPr>
        <p:spPr>
          <a:xfrm>
            <a:off x="749808" y="5888736"/>
            <a:ext cx="10692079" cy="292608"/>
          </a:xfrm>
          <a:prstGeom prst="rect">
            <a:avLst/>
          </a:prstGeom>
          <a:noFill/>
        </p:spPr>
        <p:txBody>
          <a:bodyPr wrap="square" lIns="0" tIns="0" rIns="0" bIns="0" anchor="t">
            <a:spAutoFit/>
          </a:bodyPr>
          <a:lstStyle/>
          <a:p>
            <a:pPr algn="ctr">
              <a:lnSpc>
                <a:spcPct val="128000"/>
              </a:lnSpc>
              <a:spcBef>
                <a:spcPts val="0"/>
              </a:spcBef>
              <a:spcAft>
                <a:spcPts val="0"/>
              </a:spcAft>
            </a:pPr>
            <a:r>
              <a:rPr sz="1150" b="0" i="1">
                <a:solidFill>
                  <a:srgbClr val="6E757D"/>
                </a:solidFill>
                <a:latin typeface="Calibri"/>
              </a:rPr>
              <a:t>The five query-processing techniques, with a worked example of each (Han et al., 2025)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QUERY PROCESSOR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Query Processor (cont.)</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12</a:t>
            </a:r>
          </a:p>
        </p:txBody>
      </p:sp>
      <p:sp>
        <p:nvSpPr>
          <p:cNvPr id="7" name="Rounded Rectangle 6"/>
          <p:cNvSpPr/>
          <p:nvPr/>
        </p:nvSpPr>
        <p:spPr>
          <a:xfrm>
            <a:off x="749808" y="1755648"/>
            <a:ext cx="3368954" cy="207568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8" name="Rectangle 7"/>
          <p:cNvSpPr/>
          <p:nvPr/>
        </p:nvSpPr>
        <p:spPr>
          <a:xfrm>
            <a:off x="749808" y="1755648"/>
            <a:ext cx="68580" cy="2075688"/>
          </a:xfrm>
          <a:prstGeom prst="rect">
            <a:avLst/>
          </a:prstGeom>
          <a:solidFill>
            <a:srgbClr val="3E5C76"/>
          </a:solidFill>
          <a:ln>
            <a:noFill/>
          </a:ln>
          <a:effectLst/>
        </p:spPr>
        <p:txBody>
          <a:bodyPr rtlCol="0" anchor="ctr"/>
          <a:lstStyle/>
          <a:p>
            <a:pPr algn="ctr"/>
            <a:endParaRPr/>
          </a:p>
        </p:txBody>
      </p:sp>
      <p:sp>
        <p:nvSpPr>
          <p:cNvPr id="9" name="TextBox 8"/>
          <p:cNvSpPr txBox="1"/>
          <p:nvPr/>
        </p:nvSpPr>
        <p:spPr>
          <a:xfrm>
            <a:off x="1060704" y="2011680"/>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Entity Recognition</a:t>
            </a:r>
          </a:p>
        </p:txBody>
      </p:sp>
      <p:sp>
        <p:nvSpPr>
          <p:cNvPr id="10" name="TextBox 9"/>
          <p:cNvSpPr txBox="1"/>
          <p:nvPr/>
        </p:nvSpPr>
        <p:spPr>
          <a:xfrm>
            <a:off x="1060704" y="2670048"/>
            <a:ext cx="2802026" cy="941831"/>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Can use an LLM, or some other deep learning model to extract named entities (nouns that belong to predefined categories)</a:t>
            </a:r>
          </a:p>
        </p:txBody>
      </p:sp>
      <p:sp>
        <p:nvSpPr>
          <p:cNvPr id="11" name="Rounded Rectangle 10"/>
          <p:cNvSpPr/>
          <p:nvPr/>
        </p:nvSpPr>
        <p:spPr>
          <a:xfrm>
            <a:off x="4411370" y="1755648"/>
            <a:ext cx="3368954" cy="207568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2" name="Rectangle 11"/>
          <p:cNvSpPr/>
          <p:nvPr/>
        </p:nvSpPr>
        <p:spPr>
          <a:xfrm>
            <a:off x="4411370" y="1755648"/>
            <a:ext cx="68580" cy="2075688"/>
          </a:xfrm>
          <a:prstGeom prst="rect">
            <a:avLst/>
          </a:prstGeom>
          <a:solidFill>
            <a:srgbClr val="B0703A"/>
          </a:solidFill>
          <a:ln>
            <a:noFill/>
          </a:ln>
          <a:effectLst/>
        </p:spPr>
        <p:txBody>
          <a:bodyPr rtlCol="0" anchor="ctr"/>
          <a:lstStyle/>
          <a:p>
            <a:pPr algn="ctr"/>
            <a:endParaRPr/>
          </a:p>
        </p:txBody>
      </p:sp>
      <p:sp>
        <p:nvSpPr>
          <p:cNvPr id="13" name="TextBox 12"/>
          <p:cNvSpPr txBox="1"/>
          <p:nvPr/>
        </p:nvSpPr>
        <p:spPr>
          <a:xfrm>
            <a:off x="4722266" y="2011680"/>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Relational Extraction</a:t>
            </a:r>
          </a:p>
        </p:txBody>
      </p:sp>
      <p:sp>
        <p:nvSpPr>
          <p:cNvPr id="14" name="TextBox 13"/>
          <p:cNvSpPr txBox="1"/>
          <p:nvPr/>
        </p:nvSpPr>
        <p:spPr>
          <a:xfrm>
            <a:off x="4722266" y="2670048"/>
            <a:ext cx="2802026" cy="941831"/>
          </a:xfrm>
          <a:prstGeom prst="rect">
            <a:avLst/>
          </a:prstGeom>
          <a:noFill/>
        </p:spPr>
        <p:txBody>
          <a:bodyPr wrap="square" lIns="0" tIns="0" rIns="0" bIns="0" anchor="t">
            <a:spAutoFit/>
          </a:bodyPr>
          <a:lstStyle/>
          <a:p>
            <a:pPr algn="l">
              <a:lnSpc>
                <a:spcPct val="130000"/>
              </a:lnSpc>
              <a:spcBef>
                <a:spcPts val="0"/>
              </a:spcBef>
              <a:spcAft>
                <a:spcPts val="0"/>
              </a:spcAft>
            </a:pPr>
            <a:r>
              <a:rPr sz="1100" b="0" i="0">
                <a:solidFill>
                  <a:srgbClr val="6E757D"/>
                </a:solidFill>
                <a:latin typeface="Calibri"/>
              </a:rPr>
              <a:t>Identify a relation, such as 'capital of' from a query such as 'What is the capital of China?' then uses a vector similarity search to find corresponding edges.</a:t>
            </a:r>
          </a:p>
        </p:txBody>
      </p:sp>
      <p:sp>
        <p:nvSpPr>
          <p:cNvPr id="15" name="Rounded Rectangle 14"/>
          <p:cNvSpPr/>
          <p:nvPr/>
        </p:nvSpPr>
        <p:spPr>
          <a:xfrm>
            <a:off x="8072932" y="1755648"/>
            <a:ext cx="3368954" cy="207568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6" name="Rectangle 15"/>
          <p:cNvSpPr/>
          <p:nvPr/>
        </p:nvSpPr>
        <p:spPr>
          <a:xfrm>
            <a:off x="8072932" y="1755648"/>
            <a:ext cx="68580" cy="2075688"/>
          </a:xfrm>
          <a:prstGeom prst="rect">
            <a:avLst/>
          </a:prstGeom>
          <a:solidFill>
            <a:srgbClr val="47795F"/>
          </a:solidFill>
          <a:ln>
            <a:noFill/>
          </a:ln>
          <a:effectLst/>
        </p:spPr>
        <p:txBody>
          <a:bodyPr rtlCol="0" anchor="ctr"/>
          <a:lstStyle/>
          <a:p>
            <a:pPr algn="ctr"/>
            <a:endParaRPr/>
          </a:p>
        </p:txBody>
      </p:sp>
      <p:sp>
        <p:nvSpPr>
          <p:cNvPr id="17" name="TextBox 16"/>
          <p:cNvSpPr txBox="1"/>
          <p:nvPr/>
        </p:nvSpPr>
        <p:spPr>
          <a:xfrm>
            <a:off x="8383828" y="2011680"/>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Query Structuration</a:t>
            </a:r>
          </a:p>
        </p:txBody>
      </p:sp>
      <p:sp>
        <p:nvSpPr>
          <p:cNvPr id="18" name="TextBox 17"/>
          <p:cNvSpPr txBox="1"/>
          <p:nvPr/>
        </p:nvSpPr>
        <p:spPr>
          <a:xfrm>
            <a:off x="8383828" y="2670048"/>
            <a:ext cx="2802026" cy="941831"/>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This is what we did. Converting a query into Cypher, SQL, SPARQL.</a:t>
            </a:r>
          </a:p>
        </p:txBody>
      </p:sp>
      <p:sp>
        <p:nvSpPr>
          <p:cNvPr id="19" name="Rounded Rectangle 18"/>
          <p:cNvSpPr/>
          <p:nvPr/>
        </p:nvSpPr>
        <p:spPr>
          <a:xfrm>
            <a:off x="749808" y="4123944"/>
            <a:ext cx="3368954" cy="207568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20" name="Rectangle 19"/>
          <p:cNvSpPr/>
          <p:nvPr/>
        </p:nvSpPr>
        <p:spPr>
          <a:xfrm>
            <a:off x="749808" y="4123944"/>
            <a:ext cx="68580" cy="2075688"/>
          </a:xfrm>
          <a:prstGeom prst="rect">
            <a:avLst/>
          </a:prstGeom>
          <a:solidFill>
            <a:srgbClr val="6D5A7B"/>
          </a:solidFill>
          <a:ln>
            <a:noFill/>
          </a:ln>
          <a:effectLst/>
        </p:spPr>
        <p:txBody>
          <a:bodyPr rtlCol="0" anchor="ctr"/>
          <a:lstStyle/>
          <a:p>
            <a:pPr algn="ctr"/>
            <a:endParaRPr/>
          </a:p>
        </p:txBody>
      </p:sp>
      <p:sp>
        <p:nvSpPr>
          <p:cNvPr id="21" name="TextBox 20"/>
          <p:cNvSpPr txBox="1"/>
          <p:nvPr/>
        </p:nvSpPr>
        <p:spPr>
          <a:xfrm>
            <a:off x="1060704" y="4379976"/>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Query Decomposition</a:t>
            </a:r>
          </a:p>
        </p:txBody>
      </p:sp>
      <p:sp>
        <p:nvSpPr>
          <p:cNvPr id="22" name="TextBox 21"/>
          <p:cNvSpPr txBox="1"/>
          <p:nvPr/>
        </p:nvSpPr>
        <p:spPr>
          <a:xfrm>
            <a:off x="1060704" y="5038344"/>
            <a:ext cx="2802026" cy="941832"/>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For extra long queries break down into sub queries/sub-tasks</a:t>
            </a:r>
          </a:p>
        </p:txBody>
      </p:sp>
      <p:sp>
        <p:nvSpPr>
          <p:cNvPr id="23" name="Rounded Rectangle 22"/>
          <p:cNvSpPr/>
          <p:nvPr/>
        </p:nvSpPr>
        <p:spPr>
          <a:xfrm>
            <a:off x="4411370" y="4123944"/>
            <a:ext cx="3368954" cy="207568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24" name="Rectangle 23"/>
          <p:cNvSpPr/>
          <p:nvPr/>
        </p:nvSpPr>
        <p:spPr>
          <a:xfrm>
            <a:off x="4411370" y="4123944"/>
            <a:ext cx="68580" cy="2075688"/>
          </a:xfrm>
          <a:prstGeom prst="rect">
            <a:avLst/>
          </a:prstGeom>
          <a:solidFill>
            <a:srgbClr val="3E5C76"/>
          </a:solidFill>
          <a:ln>
            <a:noFill/>
          </a:ln>
          <a:effectLst/>
        </p:spPr>
        <p:txBody>
          <a:bodyPr rtlCol="0" anchor="ctr"/>
          <a:lstStyle/>
          <a:p>
            <a:pPr algn="ctr"/>
            <a:endParaRPr/>
          </a:p>
        </p:txBody>
      </p:sp>
      <p:sp>
        <p:nvSpPr>
          <p:cNvPr id="25" name="TextBox 24"/>
          <p:cNvSpPr txBox="1"/>
          <p:nvPr/>
        </p:nvSpPr>
        <p:spPr>
          <a:xfrm>
            <a:off x="4722266" y="4379976"/>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Query Expansion</a:t>
            </a:r>
          </a:p>
        </p:txBody>
      </p:sp>
      <p:sp>
        <p:nvSpPr>
          <p:cNvPr id="26" name="TextBox 25"/>
          <p:cNvSpPr txBox="1"/>
          <p:nvPr/>
        </p:nvSpPr>
        <p:spPr>
          <a:xfrm>
            <a:off x="4722266" y="5038344"/>
            <a:ext cx="2802026" cy="941832"/>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Perform graph retrieval to expand the query, so it can then be used against a naïve RAG retriever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05</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Retriever</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Retrieval in three steps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13</a:t>
            </a:r>
          </a:p>
        </p:txBody>
      </p:sp>
      <p:pic>
        <p:nvPicPr>
          <p:cNvPr id="7" name="Picture 6" descr="knowledge-graph-entity.png"/>
          <p:cNvPicPr>
            <a:picLocks noChangeAspect="1"/>
          </p:cNvPicPr>
          <p:nvPr/>
        </p:nvPicPr>
        <p:blipFill>
          <a:blip r:embed="rId2"/>
          <a:stretch>
            <a:fillRect/>
          </a:stretch>
        </p:blipFill>
        <p:spPr>
          <a:xfrm>
            <a:off x="3016320" y="1755648"/>
            <a:ext cx="6159055" cy="4059936"/>
          </a:xfrm>
          <a:prstGeom prst="rect">
            <a:avLst/>
          </a:prstGeom>
        </p:spPr>
      </p:pic>
      <p:sp>
        <p:nvSpPr>
          <p:cNvPr id="8" name="TextBox 7"/>
          <p:cNvSpPr txBox="1"/>
          <p:nvPr/>
        </p:nvSpPr>
        <p:spPr>
          <a:xfrm>
            <a:off x="749808" y="5888736"/>
            <a:ext cx="10692079" cy="292608"/>
          </a:xfrm>
          <a:prstGeom prst="rect">
            <a:avLst/>
          </a:prstGeom>
          <a:noFill/>
        </p:spPr>
        <p:txBody>
          <a:bodyPr wrap="square" lIns="0" tIns="0" rIns="0" bIns="0" anchor="t">
            <a:spAutoFit/>
          </a:bodyPr>
          <a:lstStyle/>
          <a:p>
            <a:pPr algn="ctr">
              <a:lnSpc>
                <a:spcPct val="128000"/>
              </a:lnSpc>
              <a:spcBef>
                <a:spcPts val="0"/>
              </a:spcBef>
              <a:spcAft>
                <a:spcPts val="0"/>
              </a:spcAft>
            </a:pPr>
            <a:r>
              <a:rPr sz="1150" b="0" i="1">
                <a:solidFill>
                  <a:srgbClr val="6E757D"/>
                </a:solidFill>
                <a:latin typeface="Calibri"/>
              </a:rPr>
              <a:t>Retrieval in three steps: entity linking, relational matching, then graph traversal (Han et al., 2025)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Heuristic-based (Rule) Retriever</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14</a:t>
            </a:r>
          </a:p>
        </p:txBody>
      </p:sp>
      <p:sp>
        <p:nvSpPr>
          <p:cNvPr id="7" name="TextBox 6"/>
          <p:cNvSpPr txBox="1"/>
          <p:nvPr/>
        </p:nvSpPr>
        <p:spPr>
          <a:xfrm>
            <a:off x="749808" y="1700784"/>
            <a:ext cx="10692079" cy="319024"/>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A retriever can use one or a combination of these techniques.</a:t>
            </a:r>
          </a:p>
        </p:txBody>
      </p:sp>
      <p:sp>
        <p:nvSpPr>
          <p:cNvPr id="8" name="Rounded Rectangle 7"/>
          <p:cNvSpPr/>
          <p:nvPr/>
        </p:nvSpPr>
        <p:spPr>
          <a:xfrm>
            <a:off x="749808" y="2275840"/>
            <a:ext cx="5199735" cy="306324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9" name="Rectangle 8"/>
          <p:cNvSpPr/>
          <p:nvPr/>
        </p:nvSpPr>
        <p:spPr>
          <a:xfrm>
            <a:off x="749808" y="2275840"/>
            <a:ext cx="68580" cy="3063240"/>
          </a:xfrm>
          <a:prstGeom prst="rect">
            <a:avLst/>
          </a:prstGeom>
          <a:solidFill>
            <a:srgbClr val="3E5C76"/>
          </a:solidFill>
          <a:ln>
            <a:noFill/>
          </a:ln>
          <a:effectLst/>
        </p:spPr>
        <p:txBody>
          <a:bodyPr rtlCol="0" anchor="ctr"/>
          <a:lstStyle/>
          <a:p>
            <a:pPr algn="ctr"/>
            <a:endParaRPr/>
          </a:p>
        </p:txBody>
      </p:sp>
      <p:sp>
        <p:nvSpPr>
          <p:cNvPr id="10" name="TextBox 9"/>
          <p:cNvSpPr txBox="1"/>
          <p:nvPr/>
        </p:nvSpPr>
        <p:spPr>
          <a:xfrm>
            <a:off x="1060704" y="2531872"/>
            <a:ext cx="4632807"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Entity Linking</a:t>
            </a:r>
          </a:p>
        </p:txBody>
      </p:sp>
      <p:sp>
        <p:nvSpPr>
          <p:cNvPr id="11" name="TextBox 10"/>
          <p:cNvSpPr txBox="1"/>
          <p:nvPr/>
        </p:nvSpPr>
        <p:spPr>
          <a:xfrm>
            <a:off x="1060704" y="3190240"/>
            <a:ext cx="4632807" cy="1929383"/>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We find entities within the query and map them to corresponding </a:t>
            </a:r>
            <a:r>
              <a:rPr sz="1200" b="1" i="0">
                <a:solidFill>
                  <a:srgbClr val="6E757D"/>
                </a:solidFill>
                <a:latin typeface="Calibri"/>
              </a:rPr>
              <a:t>seed</a:t>
            </a:r>
            <a:r>
              <a:rPr sz="1200" b="0" i="0">
                <a:solidFill>
                  <a:srgbClr val="6E757D"/>
                </a:solidFill>
                <a:latin typeface="Calibri"/>
              </a:rPr>
              <a:t> nodes in the graph. This can be the retriever or can be the foundation for further graph traversal. Accurate entity recognition can be conducted using Top-K nodes computed through vector embeddings and lexical features. For more niche queries additional context can be augmented by an LLM at the query stage (adding extra descriptive text)</a:t>
            </a:r>
          </a:p>
        </p:txBody>
      </p:sp>
      <p:sp>
        <p:nvSpPr>
          <p:cNvPr id="12" name="Rounded Rectangle 11"/>
          <p:cNvSpPr/>
          <p:nvPr/>
        </p:nvSpPr>
        <p:spPr>
          <a:xfrm>
            <a:off x="6242151" y="2275840"/>
            <a:ext cx="5199735" cy="306324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3" name="Rectangle 12"/>
          <p:cNvSpPr/>
          <p:nvPr/>
        </p:nvSpPr>
        <p:spPr>
          <a:xfrm>
            <a:off x="6242151" y="2275840"/>
            <a:ext cx="68580" cy="3063240"/>
          </a:xfrm>
          <a:prstGeom prst="rect">
            <a:avLst/>
          </a:prstGeom>
          <a:solidFill>
            <a:srgbClr val="B0703A"/>
          </a:solidFill>
          <a:ln>
            <a:noFill/>
          </a:ln>
          <a:effectLst/>
        </p:spPr>
        <p:txBody>
          <a:bodyPr rtlCol="0" anchor="ctr"/>
          <a:lstStyle/>
          <a:p>
            <a:pPr algn="ctr"/>
            <a:endParaRPr/>
          </a:p>
        </p:txBody>
      </p:sp>
      <p:sp>
        <p:nvSpPr>
          <p:cNvPr id="14" name="TextBox 13"/>
          <p:cNvSpPr txBox="1"/>
          <p:nvPr/>
        </p:nvSpPr>
        <p:spPr>
          <a:xfrm>
            <a:off x="6553047" y="2531872"/>
            <a:ext cx="4632807"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Relational Matching</a:t>
            </a:r>
          </a:p>
        </p:txBody>
      </p:sp>
      <p:sp>
        <p:nvSpPr>
          <p:cNvPr id="15" name="TextBox 14"/>
          <p:cNvSpPr txBox="1"/>
          <p:nvPr/>
        </p:nvSpPr>
        <p:spPr>
          <a:xfrm>
            <a:off x="6553047" y="3190240"/>
            <a:ext cx="4632807" cy="1929383"/>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Identify edges (relationships) within a graph that correlate to relations in the query. Especially valuable for problems that focus on finding relationships between entities.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HEURISTIC-BASED (RULE) RETRIEVER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Graph Traversal</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15</a:t>
            </a:r>
          </a:p>
        </p:txBody>
      </p:sp>
      <p:sp>
        <p:nvSpPr>
          <p:cNvPr id="7" name="TextBox 6"/>
          <p:cNvSpPr txBox="1"/>
          <p:nvPr/>
        </p:nvSpPr>
        <p:spPr>
          <a:xfrm>
            <a:off x="749808" y="1700784"/>
            <a:ext cx="10692079" cy="546608"/>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BFS and DFS are performed on the graph to get query information: extract all paths up to length l between entity linked nodes (e.g. entity1 -&gt; [e₁ … eₗ₋₁] -&gt; entity2), or an l-hop subgraph around the initial entities.</a:t>
            </a:r>
          </a:p>
        </p:txBody>
      </p:sp>
      <p:sp>
        <p:nvSpPr>
          <p:cNvPr id="8" name="Rounded Rectangle 7"/>
          <p:cNvSpPr/>
          <p:nvPr/>
        </p:nvSpPr>
        <p:spPr>
          <a:xfrm>
            <a:off x="749808" y="5563616"/>
            <a:ext cx="45720" cy="636016"/>
          </a:xfrm>
          <a:prstGeom prst="roundRect">
            <a:avLst>
              <a:gd name="adj" fmla="val 6000"/>
            </a:avLst>
          </a:prstGeom>
          <a:solidFill>
            <a:srgbClr val="B0703A"/>
          </a:solidFill>
          <a:ln>
            <a:noFill/>
          </a:ln>
          <a:effectLst/>
        </p:spPr>
        <p:txBody>
          <a:bodyPr rtlCol="0" anchor="ctr"/>
          <a:lstStyle/>
          <a:p>
            <a:pPr algn="ctr"/>
            <a:endParaRPr/>
          </a:p>
        </p:txBody>
      </p:sp>
      <p:sp>
        <p:nvSpPr>
          <p:cNvPr id="9" name="TextBox 8"/>
          <p:cNvSpPr txBox="1"/>
          <p:nvPr/>
        </p:nvSpPr>
        <p:spPr>
          <a:xfrm>
            <a:off x="1024127" y="5563616"/>
            <a:ext cx="10417759" cy="636016"/>
          </a:xfrm>
          <a:prstGeom prst="rect">
            <a:avLst/>
          </a:prstGeom>
          <a:noFill/>
        </p:spPr>
        <p:txBody>
          <a:bodyPr wrap="square" lIns="0" tIns="0" rIns="0" bIns="0" anchor="t">
            <a:spAutoFit/>
          </a:bodyPr>
          <a:lstStyle/>
          <a:p>
            <a:pPr algn="l">
              <a:lnSpc>
                <a:spcPct val="134000"/>
              </a:lnSpc>
              <a:spcBef>
                <a:spcPts val="0"/>
              </a:spcBef>
              <a:spcAft>
                <a:spcPts val="0"/>
              </a:spcAft>
            </a:pPr>
            <a:r>
              <a:rPr sz="1600" b="0" i="1">
                <a:solidFill>
                  <a:srgbClr val="22374A"/>
                </a:solidFill>
                <a:latin typeface="Georgia"/>
              </a:rPr>
              <a:t>The consensus is that two hops is the ideal — as the number of hops grows beyond that, accuracy dramatically declines.</a:t>
            </a:r>
          </a:p>
        </p:txBody>
      </p:sp>
      <p:sp>
        <p:nvSpPr>
          <p:cNvPr id="10" name="Rounded Rectangle 9"/>
          <p:cNvSpPr/>
          <p:nvPr/>
        </p:nvSpPr>
        <p:spPr>
          <a:xfrm>
            <a:off x="749808" y="2521712"/>
            <a:ext cx="3307994" cy="273100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1" name="Rectangle 10"/>
          <p:cNvSpPr/>
          <p:nvPr/>
        </p:nvSpPr>
        <p:spPr>
          <a:xfrm>
            <a:off x="749808" y="2521712"/>
            <a:ext cx="3307994" cy="68580"/>
          </a:xfrm>
          <a:prstGeom prst="rect">
            <a:avLst/>
          </a:prstGeom>
          <a:solidFill>
            <a:srgbClr val="3E5C76"/>
          </a:solidFill>
          <a:ln>
            <a:noFill/>
          </a:ln>
          <a:effectLst/>
        </p:spPr>
        <p:txBody>
          <a:bodyPr rtlCol="0" anchor="ctr"/>
          <a:lstStyle/>
          <a:p>
            <a:pPr algn="ctr"/>
            <a:endParaRPr/>
          </a:p>
        </p:txBody>
      </p:sp>
      <p:sp>
        <p:nvSpPr>
          <p:cNvPr id="12" name="TextBox 11"/>
          <p:cNvSpPr txBox="1"/>
          <p:nvPr/>
        </p:nvSpPr>
        <p:spPr>
          <a:xfrm>
            <a:off x="1115568" y="2905760"/>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Paths</a:t>
            </a:r>
          </a:p>
        </p:txBody>
      </p:sp>
      <p:sp>
        <p:nvSpPr>
          <p:cNvPr id="13" name="TextBox 12"/>
          <p:cNvSpPr txBox="1"/>
          <p:nvPr/>
        </p:nvSpPr>
        <p:spPr>
          <a:xfrm>
            <a:off x="1115568" y="3669791"/>
            <a:ext cx="2576474" cy="904239"/>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A </a:t>
            </a:r>
            <a:r>
              <a:rPr sz="1000" b="0" i="1">
                <a:solidFill>
                  <a:srgbClr val="333B43"/>
                </a:solidFill>
                <a:latin typeface="Calibri"/>
              </a:rPr>
              <a:t>join</a:t>
            </a:r>
            <a:r>
              <a:rPr sz="1000" b="0" i="0">
                <a:solidFill>
                  <a:srgbClr val="333B43"/>
                </a:solidFill>
                <a:latin typeface="Calibri"/>
              </a:rPr>
              <a:t> operation. Works if there are two or more seed nodes, fails if there is only one. Prunes everything in the l-hop subgraph that is not on the path between those seed entities.</a:t>
            </a:r>
          </a:p>
        </p:txBody>
      </p:sp>
      <p:sp>
        <p:nvSpPr>
          <p:cNvPr id="14" name="Rounded Rectangle 13"/>
          <p:cNvSpPr/>
          <p:nvPr/>
        </p:nvSpPr>
        <p:spPr>
          <a:xfrm>
            <a:off x="4441850" y="2521712"/>
            <a:ext cx="3307994" cy="273100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5" name="Rectangle 14"/>
          <p:cNvSpPr/>
          <p:nvPr/>
        </p:nvSpPr>
        <p:spPr>
          <a:xfrm>
            <a:off x="4441850" y="2521712"/>
            <a:ext cx="3307994" cy="68580"/>
          </a:xfrm>
          <a:prstGeom prst="rect">
            <a:avLst/>
          </a:prstGeom>
          <a:solidFill>
            <a:srgbClr val="B0703A"/>
          </a:solidFill>
          <a:ln>
            <a:noFill/>
          </a:ln>
          <a:effectLst/>
        </p:spPr>
        <p:txBody>
          <a:bodyPr rtlCol="0" anchor="ctr"/>
          <a:lstStyle/>
          <a:p>
            <a:pPr algn="ctr"/>
            <a:endParaRPr/>
          </a:p>
        </p:txBody>
      </p:sp>
      <p:sp>
        <p:nvSpPr>
          <p:cNvPr id="16" name="TextBox 15"/>
          <p:cNvSpPr txBox="1"/>
          <p:nvPr/>
        </p:nvSpPr>
        <p:spPr>
          <a:xfrm>
            <a:off x="4807610" y="2905760"/>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l-hop subgraph</a:t>
            </a:r>
          </a:p>
        </p:txBody>
      </p:sp>
      <p:sp>
        <p:nvSpPr>
          <p:cNvPr id="17" name="TextBox 16"/>
          <p:cNvSpPr txBox="1"/>
          <p:nvPr/>
        </p:nvSpPr>
        <p:spPr>
          <a:xfrm>
            <a:off x="4807610" y="3669791"/>
            <a:ext cx="2576474" cy="741680"/>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A ball, a full scoop of everything around the seed nodes, nothing is disregarded. This is the fallback when entity linking yields a single seed.</a:t>
            </a:r>
          </a:p>
        </p:txBody>
      </p:sp>
      <p:sp>
        <p:nvSpPr>
          <p:cNvPr id="18" name="Rounded Rectangle 17"/>
          <p:cNvSpPr/>
          <p:nvPr/>
        </p:nvSpPr>
        <p:spPr>
          <a:xfrm>
            <a:off x="8133892" y="2521712"/>
            <a:ext cx="3307994" cy="2731008"/>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9" name="Rectangle 18"/>
          <p:cNvSpPr/>
          <p:nvPr/>
        </p:nvSpPr>
        <p:spPr>
          <a:xfrm>
            <a:off x="8133892" y="2521712"/>
            <a:ext cx="3307994" cy="68580"/>
          </a:xfrm>
          <a:prstGeom prst="rect">
            <a:avLst/>
          </a:prstGeom>
          <a:solidFill>
            <a:srgbClr val="47795F"/>
          </a:solidFill>
          <a:ln>
            <a:noFill/>
          </a:ln>
          <a:effectLst/>
        </p:spPr>
        <p:txBody>
          <a:bodyPr rtlCol="0" anchor="ctr"/>
          <a:lstStyle/>
          <a:p>
            <a:pPr algn="ctr"/>
            <a:endParaRPr/>
          </a:p>
        </p:txBody>
      </p:sp>
      <p:sp>
        <p:nvSpPr>
          <p:cNvPr id="20" name="TextBox 19"/>
          <p:cNvSpPr txBox="1"/>
          <p:nvPr/>
        </p:nvSpPr>
        <p:spPr>
          <a:xfrm>
            <a:off x="8499652" y="2905760"/>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47795F"/>
                </a:solidFill>
                <a:latin typeface="Georgia"/>
              </a:rPr>
              <a:t>Both, not either-or</a:t>
            </a:r>
          </a:p>
        </p:txBody>
      </p:sp>
      <p:sp>
        <p:nvSpPr>
          <p:cNvPr id="21" name="TextBox 20"/>
          <p:cNvSpPr txBox="1"/>
          <p:nvPr/>
        </p:nvSpPr>
        <p:spPr>
          <a:xfrm>
            <a:off x="8499652" y="3669791"/>
            <a:ext cx="2576474" cy="1229360"/>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A retriever would normally have both: a subgraph if extracted entities are equal to 1, paths if they are greater. Either way the result is then pruned (top-k relevance, cross-encoder rerank, LLM-as-a-pruner) or fed into a GNN to give candidate answers.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GRAPH TRAVERSAL</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Pruning</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16</a:t>
            </a:r>
          </a:p>
        </p:txBody>
      </p:sp>
      <p:sp>
        <p:nvSpPr>
          <p:cNvPr id="7" name="Rounded Rectangle 6"/>
          <p:cNvSpPr/>
          <p:nvPr/>
        </p:nvSpPr>
        <p:spPr>
          <a:xfrm>
            <a:off x="749808" y="1755648"/>
            <a:ext cx="3307994"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8" name="Rectangle 7"/>
          <p:cNvSpPr/>
          <p:nvPr/>
        </p:nvSpPr>
        <p:spPr>
          <a:xfrm>
            <a:off x="749808" y="1755648"/>
            <a:ext cx="3307994" cy="68580"/>
          </a:xfrm>
          <a:prstGeom prst="rect">
            <a:avLst/>
          </a:prstGeom>
          <a:solidFill>
            <a:srgbClr val="3E5C76"/>
          </a:solidFill>
          <a:ln>
            <a:noFill/>
          </a:ln>
          <a:effectLst/>
        </p:spPr>
        <p:txBody>
          <a:bodyPr rtlCol="0" anchor="ctr"/>
          <a:lstStyle/>
          <a:p>
            <a:pPr algn="ctr"/>
            <a:endParaRPr/>
          </a:p>
        </p:txBody>
      </p:sp>
      <p:sp>
        <p:nvSpPr>
          <p:cNvPr id="9" name="TextBox 8"/>
          <p:cNvSpPr txBox="1"/>
          <p:nvPr/>
        </p:nvSpPr>
        <p:spPr>
          <a:xfrm>
            <a:off x="1115568" y="2139696"/>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Top-K Relevance</a:t>
            </a:r>
          </a:p>
        </p:txBody>
      </p:sp>
      <p:sp>
        <p:nvSpPr>
          <p:cNvPr id="10" name="TextBox 9"/>
          <p:cNvSpPr txBox="1"/>
          <p:nvPr/>
        </p:nvSpPr>
        <p:spPr>
          <a:xfrm>
            <a:off x="1115568" y="2903728"/>
            <a:ext cx="2576474" cy="806704"/>
          </a:xfrm>
          <a:prstGeom prst="rect">
            <a:avLst/>
          </a:prstGeom>
          <a:noFill/>
        </p:spPr>
        <p:txBody>
          <a:bodyPr wrap="square" lIns="0" tIns="0" rIns="0" bIns="0" anchor="t">
            <a:spAutoFit/>
          </a:bodyPr>
          <a:lstStyle/>
          <a:p>
            <a:pPr algn="l">
              <a:lnSpc>
                <a:spcPct val="136000"/>
              </a:lnSpc>
              <a:spcBef>
                <a:spcPts val="0"/>
              </a:spcBef>
              <a:spcAft>
                <a:spcPts val="0"/>
              </a:spcAft>
            </a:pPr>
            <a:r>
              <a:rPr sz="1100" b="0" i="0">
                <a:solidFill>
                  <a:srgbClr val="333B43"/>
                </a:solidFill>
                <a:latin typeface="Calibri"/>
              </a:rPr>
              <a:t> Using an LM that calculates probabilities calculate the probability of the node being relevant to the answer.</a:t>
            </a:r>
          </a:p>
        </p:txBody>
      </p:sp>
      <p:sp>
        <p:nvSpPr>
          <p:cNvPr id="11" name="Rounded Rectangle 10"/>
          <p:cNvSpPr/>
          <p:nvPr/>
        </p:nvSpPr>
        <p:spPr>
          <a:xfrm>
            <a:off x="4441850" y="1755648"/>
            <a:ext cx="3307994"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2" name="Rectangle 11"/>
          <p:cNvSpPr/>
          <p:nvPr/>
        </p:nvSpPr>
        <p:spPr>
          <a:xfrm>
            <a:off x="4441850" y="1755648"/>
            <a:ext cx="3307994" cy="68580"/>
          </a:xfrm>
          <a:prstGeom prst="rect">
            <a:avLst/>
          </a:prstGeom>
          <a:solidFill>
            <a:srgbClr val="B0703A"/>
          </a:solidFill>
          <a:ln>
            <a:noFill/>
          </a:ln>
          <a:effectLst/>
        </p:spPr>
        <p:txBody>
          <a:bodyPr rtlCol="0" anchor="ctr"/>
          <a:lstStyle/>
          <a:p>
            <a:pPr algn="ctr"/>
            <a:endParaRPr/>
          </a:p>
        </p:txBody>
      </p:sp>
      <p:sp>
        <p:nvSpPr>
          <p:cNvPr id="13" name="TextBox 12"/>
          <p:cNvSpPr txBox="1"/>
          <p:nvPr/>
        </p:nvSpPr>
        <p:spPr>
          <a:xfrm>
            <a:off x="4807610" y="2139696"/>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Cross-encoder Rerank</a:t>
            </a:r>
          </a:p>
        </p:txBody>
      </p:sp>
      <p:sp>
        <p:nvSpPr>
          <p:cNvPr id="14" name="TextBox 13"/>
          <p:cNvSpPr txBox="1"/>
          <p:nvPr/>
        </p:nvSpPr>
        <p:spPr>
          <a:xfrm>
            <a:off x="4807610" y="2903728"/>
            <a:ext cx="2576474" cy="2773680"/>
          </a:xfrm>
          <a:prstGeom prst="rect">
            <a:avLst/>
          </a:prstGeom>
          <a:noFill/>
        </p:spPr>
        <p:txBody>
          <a:bodyPr wrap="square" lIns="0" tIns="0" rIns="0" bIns="0" anchor="t">
            <a:spAutoFit/>
          </a:bodyPr>
          <a:lstStyle/>
          <a:p>
            <a:pPr algn="l">
              <a:lnSpc>
                <a:spcPct val="136000"/>
              </a:lnSpc>
              <a:spcBef>
                <a:spcPts val="0"/>
              </a:spcBef>
              <a:spcAft>
                <a:spcPts val="0"/>
              </a:spcAft>
            </a:pPr>
            <a:r>
              <a:rPr sz="1100" b="0" i="0">
                <a:solidFill>
                  <a:srgbClr val="333B43"/>
                </a:solidFill>
                <a:latin typeface="Calibri"/>
              </a:rPr>
              <a:t> Use a model specifically built for ranking (e.g. bge-reranker-large). Score the reasoning chain/path such as Ian Rush →PLAYED_FOR→ Liverpool →COMPETES_IN→ Premier League" for a question such Where did Ian Rush play and in which league does that team play in?". In HyKGE the scoring is not performed against the question, the LLM provides a hypothesis for an answer, the entities are extracted from the hypothesis and then the result is chunked. This is compared against the reasoning chains.</a:t>
            </a:r>
          </a:p>
        </p:txBody>
      </p:sp>
      <p:sp>
        <p:nvSpPr>
          <p:cNvPr id="15" name="Rounded Rectangle 14"/>
          <p:cNvSpPr/>
          <p:nvPr/>
        </p:nvSpPr>
        <p:spPr>
          <a:xfrm>
            <a:off x="8133892" y="1755648"/>
            <a:ext cx="3307994"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6" name="Rectangle 15"/>
          <p:cNvSpPr/>
          <p:nvPr/>
        </p:nvSpPr>
        <p:spPr>
          <a:xfrm>
            <a:off x="8133892" y="1755648"/>
            <a:ext cx="3307994" cy="68580"/>
          </a:xfrm>
          <a:prstGeom prst="rect">
            <a:avLst/>
          </a:prstGeom>
          <a:solidFill>
            <a:srgbClr val="47795F"/>
          </a:solidFill>
          <a:ln>
            <a:noFill/>
          </a:ln>
          <a:effectLst/>
        </p:spPr>
        <p:txBody>
          <a:bodyPr rtlCol="0" anchor="ctr"/>
          <a:lstStyle/>
          <a:p>
            <a:pPr algn="ctr"/>
            <a:endParaRPr/>
          </a:p>
        </p:txBody>
      </p:sp>
      <p:sp>
        <p:nvSpPr>
          <p:cNvPr id="17" name="TextBox 16"/>
          <p:cNvSpPr txBox="1"/>
          <p:nvPr/>
        </p:nvSpPr>
        <p:spPr>
          <a:xfrm>
            <a:off x="8499652" y="2139696"/>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47795F"/>
                </a:solidFill>
                <a:latin typeface="Georgia"/>
              </a:rPr>
              <a:t>LLM as a pruner</a:t>
            </a:r>
          </a:p>
        </p:txBody>
      </p:sp>
      <p:sp>
        <p:nvSpPr>
          <p:cNvPr id="18" name="Rounded Rectangle 17"/>
          <p:cNvSpPr/>
          <p:nvPr/>
        </p:nvSpPr>
        <p:spPr>
          <a:xfrm>
            <a:off x="8536228" y="3004312"/>
            <a:ext cx="82296" cy="82296"/>
          </a:xfrm>
          <a:prstGeom prst="roundRect">
            <a:avLst>
              <a:gd name="adj" fmla="val 50000"/>
            </a:avLst>
          </a:prstGeom>
          <a:solidFill>
            <a:srgbClr val="47795F"/>
          </a:solidFill>
          <a:ln>
            <a:noFill/>
          </a:ln>
          <a:effectLst/>
        </p:spPr>
        <p:txBody>
          <a:bodyPr rtlCol="0" anchor="ctr"/>
          <a:lstStyle/>
          <a:p>
            <a:pPr algn="ctr"/>
            <a:endParaRPr/>
          </a:p>
        </p:txBody>
      </p:sp>
      <p:sp>
        <p:nvSpPr>
          <p:cNvPr id="19" name="TextBox 18"/>
          <p:cNvSpPr txBox="1"/>
          <p:nvPr/>
        </p:nvSpPr>
        <p:spPr>
          <a:xfrm>
            <a:off x="8792260" y="2903728"/>
            <a:ext cx="2283866" cy="867664"/>
          </a:xfrm>
          <a:prstGeom prst="rect">
            <a:avLst/>
          </a:prstGeom>
          <a:noFill/>
        </p:spPr>
        <p:txBody>
          <a:bodyPr wrap="square" lIns="0" tIns="0" rIns="0" bIns="0" anchor="t">
            <a:spAutoFit/>
          </a:bodyPr>
          <a:lstStyle/>
          <a:p>
            <a:pPr algn="l">
              <a:lnSpc>
                <a:spcPct val="130000"/>
              </a:lnSpc>
              <a:spcBef>
                <a:spcPts val="0"/>
              </a:spcBef>
              <a:spcAft>
                <a:spcPts val="0"/>
              </a:spcAft>
            </a:pPr>
            <a:r>
              <a:rPr sz="1000" b="1" i="0">
                <a:solidFill>
                  <a:srgbClr val="333B43"/>
                </a:solidFill>
                <a:latin typeface="Calibri"/>
              </a:rPr>
              <a:t>Post-hoc</a:t>
            </a:r>
            <a:r>
              <a:rPr sz="1000" b="0" i="0">
                <a:solidFill>
                  <a:srgbClr val="333B43"/>
                </a:solidFill>
                <a:latin typeface="Calibri"/>
              </a:rPr>
              <a:t> - Give all the triples to an LLM and prompt the LLM to rank the triples in terms of relevance to the prompt. The top-K are kept. One call per LLM query.</a:t>
            </a:r>
          </a:p>
        </p:txBody>
      </p:sp>
      <p:sp>
        <p:nvSpPr>
          <p:cNvPr id="20" name="Rounded Rectangle 19"/>
          <p:cNvSpPr/>
          <p:nvPr/>
        </p:nvSpPr>
        <p:spPr>
          <a:xfrm>
            <a:off x="8536228" y="3981704"/>
            <a:ext cx="82296" cy="82296"/>
          </a:xfrm>
          <a:prstGeom prst="roundRect">
            <a:avLst>
              <a:gd name="adj" fmla="val 50000"/>
            </a:avLst>
          </a:prstGeom>
          <a:solidFill>
            <a:srgbClr val="47795F"/>
          </a:solidFill>
          <a:ln>
            <a:noFill/>
          </a:ln>
          <a:effectLst/>
        </p:spPr>
        <p:txBody>
          <a:bodyPr rtlCol="0" anchor="ctr"/>
          <a:lstStyle/>
          <a:p>
            <a:pPr algn="ctr"/>
            <a:endParaRPr/>
          </a:p>
        </p:txBody>
      </p:sp>
      <p:sp>
        <p:nvSpPr>
          <p:cNvPr id="21" name="TextBox 20"/>
          <p:cNvSpPr txBox="1"/>
          <p:nvPr/>
        </p:nvSpPr>
        <p:spPr>
          <a:xfrm>
            <a:off x="8792260" y="3881120"/>
            <a:ext cx="2283866" cy="1192784"/>
          </a:xfrm>
          <a:prstGeom prst="rect">
            <a:avLst/>
          </a:prstGeom>
          <a:noFill/>
        </p:spPr>
        <p:txBody>
          <a:bodyPr wrap="square" lIns="0" tIns="0" rIns="0" bIns="0" anchor="t">
            <a:spAutoFit/>
          </a:bodyPr>
          <a:lstStyle/>
          <a:p>
            <a:pPr algn="l">
              <a:lnSpc>
                <a:spcPct val="130000"/>
              </a:lnSpc>
              <a:spcBef>
                <a:spcPts val="0"/>
              </a:spcBef>
              <a:spcAft>
                <a:spcPts val="0"/>
              </a:spcAft>
            </a:pPr>
            <a:r>
              <a:rPr sz="1000" b="1" i="0">
                <a:solidFill>
                  <a:srgbClr val="333B43"/>
                </a:solidFill>
                <a:latin typeface="Calibri"/>
              </a:rPr>
              <a:t>Inline steering</a:t>
            </a:r>
            <a:r>
              <a:rPr sz="1000" b="0" i="0">
                <a:solidFill>
                  <a:srgbClr val="333B43"/>
                </a:solidFill>
                <a:latin typeface="Calibri"/>
              </a:rPr>
              <a:t> - during traversal the LLM can choose whether to continue, or what to drop. It prunes as it goes, keeps track where the results are and decides whether to continue. The cost for this though is unbounded.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Learning Based Retrieval</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17</a:t>
            </a:r>
          </a:p>
        </p:txBody>
      </p:sp>
      <p:sp>
        <p:nvSpPr>
          <p:cNvPr id="7" name="TextBox 6"/>
          <p:cNvSpPr txBox="1"/>
          <p:nvPr/>
        </p:nvSpPr>
        <p:spPr>
          <a:xfrm>
            <a:off x="749808" y="1700784"/>
            <a:ext cx="10692079" cy="319024"/>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There are two forms of embedding, shallow and deep. We're going to focus on deep embeddings.</a:t>
            </a:r>
          </a:p>
        </p:txBody>
      </p:sp>
      <p:sp>
        <p:nvSpPr>
          <p:cNvPr id="8" name="Rounded Rectangle 7"/>
          <p:cNvSpPr/>
          <p:nvPr/>
        </p:nvSpPr>
        <p:spPr>
          <a:xfrm>
            <a:off x="749808" y="2294128"/>
            <a:ext cx="5154015" cy="390550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9" name="Rectangle 8"/>
          <p:cNvSpPr/>
          <p:nvPr/>
        </p:nvSpPr>
        <p:spPr>
          <a:xfrm>
            <a:off x="749808" y="2294128"/>
            <a:ext cx="5154015" cy="68580"/>
          </a:xfrm>
          <a:prstGeom prst="rect">
            <a:avLst/>
          </a:prstGeom>
          <a:solidFill>
            <a:srgbClr val="3E5C76"/>
          </a:solidFill>
          <a:ln>
            <a:noFill/>
          </a:ln>
          <a:effectLst/>
        </p:spPr>
        <p:txBody>
          <a:bodyPr rtlCol="0" anchor="ctr"/>
          <a:lstStyle/>
          <a:p>
            <a:pPr algn="ctr"/>
            <a:endParaRPr/>
          </a:p>
        </p:txBody>
      </p:sp>
      <p:sp>
        <p:nvSpPr>
          <p:cNvPr id="10" name="TextBox 9"/>
          <p:cNvSpPr txBox="1"/>
          <p:nvPr/>
        </p:nvSpPr>
        <p:spPr>
          <a:xfrm>
            <a:off x="1115568" y="2678176"/>
            <a:ext cx="4422495" cy="457200"/>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GNN-RAG</a:t>
            </a:r>
          </a:p>
        </p:txBody>
      </p:sp>
      <p:sp>
        <p:nvSpPr>
          <p:cNvPr id="11" name="TextBox 10"/>
          <p:cNvSpPr txBox="1"/>
          <p:nvPr/>
        </p:nvSpPr>
        <p:spPr>
          <a:xfrm>
            <a:off x="1115568" y="3226816"/>
            <a:ext cx="4422495" cy="1456944"/>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An upcoming architecture, published for a conference in 2025 and becoming popular. Needs to be pre-trained on a set of questions and answers (these can be produced synthetically from the graph &amp; an LLM). The maximum number of hops it can comfortably retrieve is three.</a:t>
            </a:r>
          </a:p>
        </p:txBody>
      </p:sp>
      <p:sp>
        <p:nvSpPr>
          <p:cNvPr id="12" name="Rounded Rectangle 11"/>
          <p:cNvSpPr/>
          <p:nvPr/>
        </p:nvSpPr>
        <p:spPr>
          <a:xfrm>
            <a:off x="6287871" y="2294128"/>
            <a:ext cx="5154015" cy="390550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3" name="Rectangle 12"/>
          <p:cNvSpPr/>
          <p:nvPr/>
        </p:nvSpPr>
        <p:spPr>
          <a:xfrm>
            <a:off x="6287871" y="2294128"/>
            <a:ext cx="5154015" cy="68580"/>
          </a:xfrm>
          <a:prstGeom prst="rect">
            <a:avLst/>
          </a:prstGeom>
          <a:solidFill>
            <a:srgbClr val="B0703A"/>
          </a:solidFill>
          <a:ln>
            <a:noFill/>
          </a:ln>
          <a:effectLst/>
        </p:spPr>
        <p:txBody>
          <a:bodyPr rtlCol="0" anchor="ctr"/>
          <a:lstStyle/>
          <a:p>
            <a:pPr algn="ctr"/>
            <a:endParaRPr/>
          </a:p>
        </p:txBody>
      </p:sp>
      <p:sp>
        <p:nvSpPr>
          <p:cNvPr id="14" name="TextBox 13"/>
          <p:cNvSpPr txBox="1"/>
          <p:nvPr/>
        </p:nvSpPr>
        <p:spPr>
          <a:xfrm>
            <a:off x="6653631" y="2678176"/>
            <a:ext cx="4422495" cy="457200"/>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How the GNN learns</a:t>
            </a:r>
          </a:p>
        </p:txBody>
      </p:sp>
      <p:sp>
        <p:nvSpPr>
          <p:cNvPr id="15" name="TextBox 14"/>
          <p:cNvSpPr txBox="1"/>
          <p:nvPr/>
        </p:nvSpPr>
        <p:spPr>
          <a:xfrm>
            <a:off x="6653631" y="3226816"/>
            <a:ext cx="4422495" cy="1684528"/>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It trains paths from each node to l hops by sending messages between the nodes. The weights of a node are its individual weights merged with weights passed through from neighbours. Pre-training needs graph triples from the original graph plus question and node answer pairs.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LEARNING BASED RETRIEVAL</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Retrieval steps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18</a:t>
            </a:r>
          </a:p>
        </p:txBody>
      </p:sp>
      <p:sp>
        <p:nvSpPr>
          <p:cNvPr id="7" name="TextBox 6"/>
          <p:cNvSpPr txBox="1"/>
          <p:nvPr/>
        </p:nvSpPr>
        <p:spPr>
          <a:xfrm>
            <a:off x="749808" y="1700784"/>
            <a:ext cx="10692079" cy="319024"/>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Once the graph is trained the retriever takes the following steps:</a:t>
            </a:r>
          </a:p>
        </p:txBody>
      </p:sp>
      <p:sp>
        <p:nvSpPr>
          <p:cNvPr id="8" name="Rounded Rectangle 7"/>
          <p:cNvSpPr/>
          <p:nvPr/>
        </p:nvSpPr>
        <p:spPr>
          <a:xfrm>
            <a:off x="749808" y="2275840"/>
            <a:ext cx="402336" cy="402336"/>
          </a:xfrm>
          <a:prstGeom prst="roundRect">
            <a:avLst>
              <a:gd name="adj" fmla="val 50000"/>
            </a:avLst>
          </a:prstGeom>
          <a:solidFill>
            <a:srgbClr val="3E5C76"/>
          </a:solidFill>
          <a:ln>
            <a:noFill/>
          </a:ln>
          <a:effectLst/>
        </p:spPr>
        <p:txBody>
          <a:bodyPr rtlCol="0" anchor="ctr"/>
          <a:lstStyle/>
          <a:p>
            <a:pPr algn="ctr"/>
            <a:endParaRPr/>
          </a:p>
        </p:txBody>
      </p:sp>
      <p:sp>
        <p:nvSpPr>
          <p:cNvPr id="9" name="TextBox 8"/>
          <p:cNvSpPr txBox="1"/>
          <p:nvPr/>
        </p:nvSpPr>
        <p:spPr>
          <a:xfrm>
            <a:off x="749808" y="2326132"/>
            <a:ext cx="402336" cy="310896"/>
          </a:xfrm>
          <a:prstGeom prst="rect">
            <a:avLst/>
          </a:prstGeom>
          <a:noFill/>
        </p:spPr>
        <p:txBody>
          <a:bodyPr wrap="square" lIns="0" tIns="0" rIns="0" bIns="0" anchor="t">
            <a:spAutoFit/>
          </a:bodyPr>
          <a:lstStyle/>
          <a:p>
            <a:pPr algn="ctr">
              <a:lnSpc>
                <a:spcPct val="128000"/>
              </a:lnSpc>
              <a:spcBef>
                <a:spcPts val="0"/>
              </a:spcBef>
              <a:spcAft>
                <a:spcPts val="0"/>
              </a:spcAft>
            </a:pPr>
            <a:r>
              <a:rPr sz="1500" b="1" i="0">
                <a:solidFill>
                  <a:srgbClr val="FFFFFF"/>
                </a:solidFill>
                <a:latin typeface="Georgia"/>
              </a:rPr>
              <a:t>1</a:t>
            </a:r>
          </a:p>
        </p:txBody>
      </p:sp>
      <p:sp>
        <p:nvSpPr>
          <p:cNvPr id="10" name="Rounded Rectangle 9"/>
          <p:cNvSpPr/>
          <p:nvPr/>
        </p:nvSpPr>
        <p:spPr>
          <a:xfrm>
            <a:off x="937259" y="2696464"/>
            <a:ext cx="27432" cy="250748"/>
          </a:xfrm>
          <a:prstGeom prst="roundRect">
            <a:avLst>
              <a:gd name="adj" fmla="val 6000"/>
            </a:avLst>
          </a:prstGeom>
          <a:solidFill>
            <a:srgbClr val="DFE4E9"/>
          </a:solidFill>
          <a:ln>
            <a:noFill/>
          </a:ln>
          <a:effectLst/>
        </p:spPr>
        <p:txBody>
          <a:bodyPr rtlCol="0" anchor="ctr"/>
          <a:lstStyle/>
          <a:p>
            <a:pPr algn="ctr"/>
            <a:endParaRPr/>
          </a:p>
        </p:txBody>
      </p:sp>
      <p:sp>
        <p:nvSpPr>
          <p:cNvPr id="11" name="TextBox 10"/>
          <p:cNvSpPr txBox="1"/>
          <p:nvPr/>
        </p:nvSpPr>
        <p:spPr>
          <a:xfrm>
            <a:off x="1444752" y="2294128"/>
            <a:ext cx="9997135" cy="475488"/>
          </a:xfrm>
          <a:prstGeom prst="rect">
            <a:avLst/>
          </a:prstGeom>
          <a:noFill/>
        </p:spPr>
        <p:txBody>
          <a:bodyPr wrap="square" lIns="0" tIns="0" rIns="0" bIns="0" anchor="t">
            <a:spAutoFit/>
          </a:bodyPr>
          <a:lstStyle/>
          <a:p>
            <a:pPr algn="l">
              <a:lnSpc>
                <a:spcPct val="130000"/>
              </a:lnSpc>
              <a:spcBef>
                <a:spcPts val="0"/>
              </a:spcBef>
              <a:spcAft>
                <a:spcPts val="0"/>
              </a:spcAft>
            </a:pPr>
            <a:r>
              <a:rPr sz="1400" b="0" i="0">
                <a:solidFill>
                  <a:srgbClr val="333B43"/>
                </a:solidFill>
                <a:latin typeface="Calibri"/>
              </a:rPr>
              <a:t>With entity linking find the seed node/s (us)</a:t>
            </a:r>
          </a:p>
        </p:txBody>
      </p:sp>
      <p:sp>
        <p:nvSpPr>
          <p:cNvPr id="12" name="Rounded Rectangle 11"/>
          <p:cNvSpPr/>
          <p:nvPr/>
        </p:nvSpPr>
        <p:spPr>
          <a:xfrm>
            <a:off x="749808" y="2965500"/>
            <a:ext cx="402336" cy="402336"/>
          </a:xfrm>
          <a:prstGeom prst="roundRect">
            <a:avLst>
              <a:gd name="adj" fmla="val 50000"/>
            </a:avLst>
          </a:prstGeom>
          <a:solidFill>
            <a:srgbClr val="B0703A"/>
          </a:solidFill>
          <a:ln>
            <a:noFill/>
          </a:ln>
          <a:effectLst/>
        </p:spPr>
        <p:txBody>
          <a:bodyPr rtlCol="0" anchor="ctr"/>
          <a:lstStyle/>
          <a:p>
            <a:pPr algn="ctr"/>
            <a:endParaRPr/>
          </a:p>
        </p:txBody>
      </p:sp>
      <p:sp>
        <p:nvSpPr>
          <p:cNvPr id="13" name="TextBox 12"/>
          <p:cNvSpPr txBox="1"/>
          <p:nvPr/>
        </p:nvSpPr>
        <p:spPr>
          <a:xfrm>
            <a:off x="749808" y="3015792"/>
            <a:ext cx="402336" cy="310896"/>
          </a:xfrm>
          <a:prstGeom prst="rect">
            <a:avLst/>
          </a:prstGeom>
          <a:noFill/>
        </p:spPr>
        <p:txBody>
          <a:bodyPr wrap="square" lIns="0" tIns="0" rIns="0" bIns="0" anchor="t">
            <a:spAutoFit/>
          </a:bodyPr>
          <a:lstStyle/>
          <a:p>
            <a:pPr algn="ctr">
              <a:lnSpc>
                <a:spcPct val="128000"/>
              </a:lnSpc>
              <a:spcBef>
                <a:spcPts val="0"/>
              </a:spcBef>
              <a:spcAft>
                <a:spcPts val="0"/>
              </a:spcAft>
            </a:pPr>
            <a:r>
              <a:rPr sz="1500" b="1" i="0">
                <a:solidFill>
                  <a:srgbClr val="FFFFFF"/>
                </a:solidFill>
                <a:latin typeface="Georgia"/>
              </a:rPr>
              <a:t>2</a:t>
            </a:r>
          </a:p>
        </p:txBody>
      </p:sp>
      <p:sp>
        <p:nvSpPr>
          <p:cNvPr id="14" name="Rounded Rectangle 13"/>
          <p:cNvSpPr/>
          <p:nvPr/>
        </p:nvSpPr>
        <p:spPr>
          <a:xfrm>
            <a:off x="937259" y="3386124"/>
            <a:ext cx="27432" cy="250748"/>
          </a:xfrm>
          <a:prstGeom prst="roundRect">
            <a:avLst>
              <a:gd name="adj" fmla="val 6000"/>
            </a:avLst>
          </a:prstGeom>
          <a:solidFill>
            <a:srgbClr val="DFE4E9"/>
          </a:solidFill>
          <a:ln>
            <a:noFill/>
          </a:ln>
          <a:effectLst/>
        </p:spPr>
        <p:txBody>
          <a:bodyPr rtlCol="0" anchor="ctr"/>
          <a:lstStyle/>
          <a:p>
            <a:pPr algn="ctr"/>
            <a:endParaRPr/>
          </a:p>
        </p:txBody>
      </p:sp>
      <p:sp>
        <p:nvSpPr>
          <p:cNvPr id="15" name="TextBox 14"/>
          <p:cNvSpPr txBox="1"/>
          <p:nvPr/>
        </p:nvSpPr>
        <p:spPr>
          <a:xfrm>
            <a:off x="1444752" y="2983788"/>
            <a:ext cx="9997135" cy="475488"/>
          </a:xfrm>
          <a:prstGeom prst="rect">
            <a:avLst/>
          </a:prstGeom>
          <a:noFill/>
        </p:spPr>
        <p:txBody>
          <a:bodyPr wrap="square" lIns="0" tIns="0" rIns="0" bIns="0" anchor="t">
            <a:spAutoFit/>
          </a:bodyPr>
          <a:lstStyle/>
          <a:p>
            <a:pPr algn="l">
              <a:lnSpc>
                <a:spcPct val="130000"/>
              </a:lnSpc>
              <a:spcBef>
                <a:spcPts val="0"/>
              </a:spcBef>
              <a:spcAft>
                <a:spcPts val="0"/>
              </a:spcAft>
            </a:pPr>
            <a:r>
              <a:rPr sz="1400" b="0" i="0">
                <a:solidFill>
                  <a:srgbClr val="333B43"/>
                </a:solidFill>
                <a:latin typeface="Calibri"/>
              </a:rPr>
              <a:t>Manually extract a subgraph of n-hops from the seed nodes, transforming into KG-triples (e_id × r × e_id) (us)</a:t>
            </a:r>
          </a:p>
        </p:txBody>
      </p:sp>
      <p:sp>
        <p:nvSpPr>
          <p:cNvPr id="16" name="Rounded Rectangle 15"/>
          <p:cNvSpPr/>
          <p:nvPr/>
        </p:nvSpPr>
        <p:spPr>
          <a:xfrm>
            <a:off x="749808" y="3655161"/>
            <a:ext cx="402336" cy="402336"/>
          </a:xfrm>
          <a:prstGeom prst="roundRect">
            <a:avLst>
              <a:gd name="adj" fmla="val 50000"/>
            </a:avLst>
          </a:prstGeom>
          <a:solidFill>
            <a:srgbClr val="47795F"/>
          </a:solidFill>
          <a:ln>
            <a:noFill/>
          </a:ln>
          <a:effectLst/>
        </p:spPr>
        <p:txBody>
          <a:bodyPr rtlCol="0" anchor="ctr"/>
          <a:lstStyle/>
          <a:p>
            <a:pPr algn="ctr"/>
            <a:endParaRPr/>
          </a:p>
        </p:txBody>
      </p:sp>
      <p:sp>
        <p:nvSpPr>
          <p:cNvPr id="17" name="TextBox 16"/>
          <p:cNvSpPr txBox="1"/>
          <p:nvPr/>
        </p:nvSpPr>
        <p:spPr>
          <a:xfrm>
            <a:off x="749808" y="3705453"/>
            <a:ext cx="402336" cy="310896"/>
          </a:xfrm>
          <a:prstGeom prst="rect">
            <a:avLst/>
          </a:prstGeom>
          <a:noFill/>
        </p:spPr>
        <p:txBody>
          <a:bodyPr wrap="square" lIns="0" tIns="0" rIns="0" bIns="0" anchor="t">
            <a:spAutoFit/>
          </a:bodyPr>
          <a:lstStyle/>
          <a:p>
            <a:pPr algn="ctr">
              <a:lnSpc>
                <a:spcPct val="128000"/>
              </a:lnSpc>
              <a:spcBef>
                <a:spcPts val="0"/>
              </a:spcBef>
              <a:spcAft>
                <a:spcPts val="0"/>
              </a:spcAft>
            </a:pPr>
            <a:r>
              <a:rPr sz="1500" b="1" i="0">
                <a:solidFill>
                  <a:srgbClr val="FFFFFF"/>
                </a:solidFill>
                <a:latin typeface="Georgia"/>
              </a:rPr>
              <a:t>3</a:t>
            </a:r>
          </a:p>
        </p:txBody>
      </p:sp>
      <p:sp>
        <p:nvSpPr>
          <p:cNvPr id="18" name="Rounded Rectangle 17"/>
          <p:cNvSpPr/>
          <p:nvPr/>
        </p:nvSpPr>
        <p:spPr>
          <a:xfrm>
            <a:off x="937259" y="4075785"/>
            <a:ext cx="27432" cy="250748"/>
          </a:xfrm>
          <a:prstGeom prst="roundRect">
            <a:avLst>
              <a:gd name="adj" fmla="val 6000"/>
            </a:avLst>
          </a:prstGeom>
          <a:solidFill>
            <a:srgbClr val="DFE4E9"/>
          </a:solidFill>
          <a:ln>
            <a:noFill/>
          </a:ln>
          <a:effectLst/>
        </p:spPr>
        <p:txBody>
          <a:bodyPr rtlCol="0" anchor="ctr"/>
          <a:lstStyle/>
          <a:p>
            <a:pPr algn="ctr"/>
            <a:endParaRPr/>
          </a:p>
        </p:txBody>
      </p:sp>
      <p:sp>
        <p:nvSpPr>
          <p:cNvPr id="19" name="TextBox 18"/>
          <p:cNvSpPr txBox="1"/>
          <p:nvPr/>
        </p:nvSpPr>
        <p:spPr>
          <a:xfrm>
            <a:off x="1444752" y="3673449"/>
            <a:ext cx="9997135" cy="475488"/>
          </a:xfrm>
          <a:prstGeom prst="rect">
            <a:avLst/>
          </a:prstGeom>
          <a:noFill/>
        </p:spPr>
        <p:txBody>
          <a:bodyPr wrap="square" lIns="0" tIns="0" rIns="0" bIns="0" anchor="t">
            <a:spAutoFit/>
          </a:bodyPr>
          <a:lstStyle/>
          <a:p>
            <a:pPr algn="l">
              <a:lnSpc>
                <a:spcPct val="130000"/>
              </a:lnSpc>
              <a:spcBef>
                <a:spcPts val="0"/>
              </a:spcBef>
              <a:spcAft>
                <a:spcPts val="0"/>
              </a:spcAft>
            </a:pPr>
            <a:r>
              <a:rPr sz="1400" b="0" i="0">
                <a:solidFill>
                  <a:srgbClr val="333B43"/>
                </a:solidFill>
                <a:latin typeface="Calibri"/>
              </a:rPr>
              <a:t>Pass the query, seed node id/s, flat list of entity strings (these are usually a text id) and subgraph tuples to the retrieval command (GNN-RAG)</a:t>
            </a:r>
          </a:p>
        </p:txBody>
      </p:sp>
      <p:sp>
        <p:nvSpPr>
          <p:cNvPr id="20" name="Rounded Rectangle 19"/>
          <p:cNvSpPr/>
          <p:nvPr/>
        </p:nvSpPr>
        <p:spPr>
          <a:xfrm>
            <a:off x="749808" y="4344822"/>
            <a:ext cx="402336" cy="402336"/>
          </a:xfrm>
          <a:prstGeom prst="roundRect">
            <a:avLst>
              <a:gd name="adj" fmla="val 50000"/>
            </a:avLst>
          </a:prstGeom>
          <a:solidFill>
            <a:srgbClr val="6D5A7B"/>
          </a:solidFill>
          <a:ln>
            <a:noFill/>
          </a:ln>
          <a:effectLst/>
        </p:spPr>
        <p:txBody>
          <a:bodyPr rtlCol="0" anchor="ctr"/>
          <a:lstStyle/>
          <a:p>
            <a:pPr algn="ctr"/>
            <a:endParaRPr/>
          </a:p>
        </p:txBody>
      </p:sp>
      <p:sp>
        <p:nvSpPr>
          <p:cNvPr id="21" name="TextBox 20"/>
          <p:cNvSpPr txBox="1"/>
          <p:nvPr/>
        </p:nvSpPr>
        <p:spPr>
          <a:xfrm>
            <a:off x="749808" y="4395114"/>
            <a:ext cx="402336" cy="310896"/>
          </a:xfrm>
          <a:prstGeom prst="rect">
            <a:avLst/>
          </a:prstGeom>
          <a:noFill/>
        </p:spPr>
        <p:txBody>
          <a:bodyPr wrap="square" lIns="0" tIns="0" rIns="0" bIns="0" anchor="t">
            <a:spAutoFit/>
          </a:bodyPr>
          <a:lstStyle/>
          <a:p>
            <a:pPr algn="ctr">
              <a:lnSpc>
                <a:spcPct val="128000"/>
              </a:lnSpc>
              <a:spcBef>
                <a:spcPts val="0"/>
              </a:spcBef>
              <a:spcAft>
                <a:spcPts val="0"/>
              </a:spcAft>
            </a:pPr>
            <a:r>
              <a:rPr sz="1500" b="1" i="0">
                <a:solidFill>
                  <a:srgbClr val="FFFFFF"/>
                </a:solidFill>
                <a:latin typeface="Georgia"/>
              </a:rPr>
              <a:t>4</a:t>
            </a:r>
          </a:p>
        </p:txBody>
      </p:sp>
      <p:sp>
        <p:nvSpPr>
          <p:cNvPr id="22" name="Rounded Rectangle 21"/>
          <p:cNvSpPr/>
          <p:nvPr/>
        </p:nvSpPr>
        <p:spPr>
          <a:xfrm>
            <a:off x="937259" y="4765446"/>
            <a:ext cx="27432" cy="250748"/>
          </a:xfrm>
          <a:prstGeom prst="roundRect">
            <a:avLst>
              <a:gd name="adj" fmla="val 6000"/>
            </a:avLst>
          </a:prstGeom>
          <a:solidFill>
            <a:srgbClr val="DFE4E9"/>
          </a:solidFill>
          <a:ln>
            <a:noFill/>
          </a:ln>
          <a:effectLst/>
        </p:spPr>
        <p:txBody>
          <a:bodyPr rtlCol="0" anchor="ctr"/>
          <a:lstStyle/>
          <a:p>
            <a:pPr algn="ctr"/>
            <a:endParaRPr/>
          </a:p>
        </p:txBody>
      </p:sp>
      <p:sp>
        <p:nvSpPr>
          <p:cNvPr id="23" name="TextBox 22"/>
          <p:cNvSpPr txBox="1"/>
          <p:nvPr/>
        </p:nvSpPr>
        <p:spPr>
          <a:xfrm>
            <a:off x="1444752" y="4363110"/>
            <a:ext cx="9997135" cy="475488"/>
          </a:xfrm>
          <a:prstGeom prst="rect">
            <a:avLst/>
          </a:prstGeom>
          <a:noFill/>
        </p:spPr>
        <p:txBody>
          <a:bodyPr wrap="square" lIns="0" tIns="0" rIns="0" bIns="0" anchor="t">
            <a:spAutoFit/>
          </a:bodyPr>
          <a:lstStyle/>
          <a:p>
            <a:pPr algn="l">
              <a:lnSpc>
                <a:spcPct val="130000"/>
              </a:lnSpc>
              <a:spcBef>
                <a:spcPts val="0"/>
              </a:spcBef>
              <a:spcAft>
                <a:spcPts val="0"/>
              </a:spcAft>
            </a:pPr>
            <a:r>
              <a:rPr sz="1400" b="0" i="0">
                <a:solidFill>
                  <a:srgbClr val="333B43"/>
                </a:solidFill>
                <a:latin typeface="Calibri"/>
              </a:rPr>
              <a:t>Receive a list of entity scores (which nodes the GNN predicts answers the question most accurately) (GNN-RAG)</a:t>
            </a:r>
          </a:p>
        </p:txBody>
      </p:sp>
      <p:sp>
        <p:nvSpPr>
          <p:cNvPr id="24" name="Rounded Rectangle 23"/>
          <p:cNvSpPr/>
          <p:nvPr/>
        </p:nvSpPr>
        <p:spPr>
          <a:xfrm>
            <a:off x="749808" y="5034483"/>
            <a:ext cx="402336" cy="402336"/>
          </a:xfrm>
          <a:prstGeom prst="roundRect">
            <a:avLst>
              <a:gd name="adj" fmla="val 50000"/>
            </a:avLst>
          </a:prstGeom>
          <a:solidFill>
            <a:srgbClr val="3E5C76"/>
          </a:solidFill>
          <a:ln>
            <a:noFill/>
          </a:ln>
          <a:effectLst/>
        </p:spPr>
        <p:txBody>
          <a:bodyPr rtlCol="0" anchor="ctr"/>
          <a:lstStyle/>
          <a:p>
            <a:pPr algn="ctr"/>
            <a:endParaRPr/>
          </a:p>
        </p:txBody>
      </p:sp>
      <p:sp>
        <p:nvSpPr>
          <p:cNvPr id="25" name="TextBox 24"/>
          <p:cNvSpPr txBox="1"/>
          <p:nvPr/>
        </p:nvSpPr>
        <p:spPr>
          <a:xfrm>
            <a:off x="749808" y="5084775"/>
            <a:ext cx="402336" cy="310896"/>
          </a:xfrm>
          <a:prstGeom prst="rect">
            <a:avLst/>
          </a:prstGeom>
          <a:noFill/>
        </p:spPr>
        <p:txBody>
          <a:bodyPr wrap="square" lIns="0" tIns="0" rIns="0" bIns="0" anchor="t">
            <a:spAutoFit/>
          </a:bodyPr>
          <a:lstStyle/>
          <a:p>
            <a:pPr algn="ctr">
              <a:lnSpc>
                <a:spcPct val="128000"/>
              </a:lnSpc>
              <a:spcBef>
                <a:spcPts val="0"/>
              </a:spcBef>
              <a:spcAft>
                <a:spcPts val="0"/>
              </a:spcAft>
            </a:pPr>
            <a:r>
              <a:rPr sz="1500" b="1" i="0">
                <a:solidFill>
                  <a:srgbClr val="FFFFFF"/>
                </a:solidFill>
                <a:latin typeface="Georgia"/>
              </a:rPr>
              <a:t>5</a:t>
            </a:r>
          </a:p>
        </p:txBody>
      </p:sp>
      <p:sp>
        <p:nvSpPr>
          <p:cNvPr id="26" name="Rounded Rectangle 25"/>
          <p:cNvSpPr/>
          <p:nvPr/>
        </p:nvSpPr>
        <p:spPr>
          <a:xfrm>
            <a:off x="937259" y="5455107"/>
            <a:ext cx="27432" cy="250748"/>
          </a:xfrm>
          <a:prstGeom prst="roundRect">
            <a:avLst>
              <a:gd name="adj" fmla="val 6000"/>
            </a:avLst>
          </a:prstGeom>
          <a:solidFill>
            <a:srgbClr val="DFE4E9"/>
          </a:solidFill>
          <a:ln>
            <a:noFill/>
          </a:ln>
          <a:effectLst/>
        </p:spPr>
        <p:txBody>
          <a:bodyPr rtlCol="0" anchor="ctr"/>
          <a:lstStyle/>
          <a:p>
            <a:pPr algn="ctr"/>
            <a:endParaRPr/>
          </a:p>
        </p:txBody>
      </p:sp>
      <p:sp>
        <p:nvSpPr>
          <p:cNvPr id="27" name="TextBox 26"/>
          <p:cNvSpPr txBox="1"/>
          <p:nvPr/>
        </p:nvSpPr>
        <p:spPr>
          <a:xfrm>
            <a:off x="1444752" y="5052771"/>
            <a:ext cx="9997135" cy="475488"/>
          </a:xfrm>
          <a:prstGeom prst="rect">
            <a:avLst/>
          </a:prstGeom>
          <a:noFill/>
        </p:spPr>
        <p:txBody>
          <a:bodyPr wrap="square" lIns="0" tIns="0" rIns="0" bIns="0" anchor="t">
            <a:spAutoFit/>
          </a:bodyPr>
          <a:lstStyle/>
          <a:p>
            <a:pPr algn="l">
              <a:lnSpc>
                <a:spcPct val="130000"/>
              </a:lnSpc>
              <a:spcBef>
                <a:spcPts val="0"/>
              </a:spcBef>
              <a:spcAft>
                <a:spcPts val="0"/>
              </a:spcAft>
            </a:pPr>
            <a:r>
              <a:rPr sz="1400" b="0" i="0">
                <a:solidFill>
                  <a:srgbClr val="333B43"/>
                </a:solidFill>
                <a:latin typeface="Calibri"/>
              </a:rPr>
              <a:t>Trace the paths (or shortest paths) to the node to return an explanation - tracing all paths up to n-hops then reranking would be the most accurate</a:t>
            </a:r>
          </a:p>
        </p:txBody>
      </p:sp>
      <p:sp>
        <p:nvSpPr>
          <p:cNvPr id="28" name="Rounded Rectangle 27"/>
          <p:cNvSpPr/>
          <p:nvPr/>
        </p:nvSpPr>
        <p:spPr>
          <a:xfrm>
            <a:off x="749808" y="5724144"/>
            <a:ext cx="402336" cy="402336"/>
          </a:xfrm>
          <a:prstGeom prst="roundRect">
            <a:avLst>
              <a:gd name="adj" fmla="val 50000"/>
            </a:avLst>
          </a:prstGeom>
          <a:solidFill>
            <a:srgbClr val="B0703A"/>
          </a:solidFill>
          <a:ln>
            <a:noFill/>
          </a:ln>
          <a:effectLst/>
        </p:spPr>
        <p:txBody>
          <a:bodyPr rtlCol="0" anchor="ctr"/>
          <a:lstStyle/>
          <a:p>
            <a:pPr algn="ctr"/>
            <a:endParaRPr/>
          </a:p>
        </p:txBody>
      </p:sp>
      <p:sp>
        <p:nvSpPr>
          <p:cNvPr id="29" name="TextBox 28"/>
          <p:cNvSpPr txBox="1"/>
          <p:nvPr/>
        </p:nvSpPr>
        <p:spPr>
          <a:xfrm>
            <a:off x="749808" y="5774436"/>
            <a:ext cx="402336" cy="310896"/>
          </a:xfrm>
          <a:prstGeom prst="rect">
            <a:avLst/>
          </a:prstGeom>
          <a:noFill/>
        </p:spPr>
        <p:txBody>
          <a:bodyPr wrap="square" lIns="0" tIns="0" rIns="0" bIns="0" anchor="t">
            <a:spAutoFit/>
          </a:bodyPr>
          <a:lstStyle/>
          <a:p>
            <a:pPr algn="ctr">
              <a:lnSpc>
                <a:spcPct val="128000"/>
              </a:lnSpc>
              <a:spcBef>
                <a:spcPts val="0"/>
              </a:spcBef>
              <a:spcAft>
                <a:spcPts val="0"/>
              </a:spcAft>
            </a:pPr>
            <a:r>
              <a:rPr sz="1500" b="1" i="0">
                <a:solidFill>
                  <a:srgbClr val="FFFFFF"/>
                </a:solidFill>
                <a:latin typeface="Georgia"/>
              </a:rPr>
              <a:t>6</a:t>
            </a:r>
          </a:p>
        </p:txBody>
      </p:sp>
      <p:sp>
        <p:nvSpPr>
          <p:cNvPr id="30" name="TextBox 29"/>
          <p:cNvSpPr txBox="1"/>
          <p:nvPr/>
        </p:nvSpPr>
        <p:spPr>
          <a:xfrm>
            <a:off x="1444752" y="5742432"/>
            <a:ext cx="9997135" cy="475488"/>
          </a:xfrm>
          <a:prstGeom prst="rect">
            <a:avLst/>
          </a:prstGeom>
          <a:noFill/>
        </p:spPr>
        <p:txBody>
          <a:bodyPr wrap="square" lIns="0" tIns="0" rIns="0" bIns="0" anchor="t">
            <a:spAutoFit/>
          </a:bodyPr>
          <a:lstStyle/>
          <a:p>
            <a:pPr algn="l">
              <a:lnSpc>
                <a:spcPct val="130000"/>
              </a:lnSpc>
              <a:spcBef>
                <a:spcPts val="0"/>
              </a:spcBef>
              <a:spcAft>
                <a:spcPts val="0"/>
              </a:spcAft>
            </a:pPr>
            <a:r>
              <a:rPr sz="1400" b="0" i="0">
                <a:solidFill>
                  <a:srgbClr val="333B43"/>
                </a:solidFill>
                <a:latin typeface="Calibri"/>
              </a:rPr>
              <a:t>Output the returned paths as triples to the LLM for context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LEARNING BASED RETRIEVAL</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GNN-RAG explanation</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19</a:t>
            </a:r>
          </a:p>
        </p:txBody>
      </p:sp>
      <p:sp>
        <p:nvSpPr>
          <p:cNvPr id="7" name="TextBox 6"/>
          <p:cNvSpPr txBox="1"/>
          <p:nvPr/>
        </p:nvSpPr>
        <p:spPr>
          <a:xfrm>
            <a:off x="749808" y="1755648"/>
            <a:ext cx="10692079" cy="110337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GNN-RAG sets all the sub-graph nodes to zeros, then inputs the question embedding into the seed nodes. Imagine it's like ink being added to the seed nodes. The ink then traces it's way through the graph, and based on the question finds its way to the most appropriate answer entities. This leaves a metaphorical ink trail throughout the GNN network...and returns the entities in order of how relevant they are to the question.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LEARNING BASED RETRIEVAL</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Ink flowing through a graph</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20</a:t>
            </a:r>
          </a:p>
        </p:txBody>
      </p:sp>
      <p:pic>
        <p:nvPicPr>
          <p:cNvPr id="7" name="Picture 6" descr="gnn-rag-ink.png"/>
          <p:cNvPicPr>
            <a:picLocks noChangeAspect="1"/>
          </p:cNvPicPr>
          <p:nvPr/>
        </p:nvPicPr>
        <p:blipFill>
          <a:blip r:embed="rId2"/>
          <a:stretch>
            <a:fillRect/>
          </a:stretch>
        </p:blipFill>
        <p:spPr>
          <a:xfrm>
            <a:off x="3050895" y="1755648"/>
            <a:ext cx="6089904" cy="4059936"/>
          </a:xfrm>
          <a:prstGeom prst="rect">
            <a:avLst/>
          </a:prstGeom>
        </p:spPr>
      </p:pic>
      <p:sp>
        <p:nvSpPr>
          <p:cNvPr id="8" name="TextBox 7"/>
          <p:cNvSpPr txBox="1"/>
          <p:nvPr/>
        </p:nvSpPr>
        <p:spPr>
          <a:xfrm>
            <a:off x="749808" y="5888736"/>
            <a:ext cx="10692079" cy="292608"/>
          </a:xfrm>
          <a:prstGeom prst="rect">
            <a:avLst/>
          </a:prstGeom>
          <a:noFill/>
        </p:spPr>
        <p:txBody>
          <a:bodyPr wrap="square" lIns="0" tIns="0" rIns="0" bIns="0" anchor="t">
            <a:spAutoFit/>
          </a:bodyPr>
          <a:lstStyle/>
          <a:p>
            <a:pPr algn="ctr">
              <a:lnSpc>
                <a:spcPct val="128000"/>
              </a:lnSpc>
              <a:spcBef>
                <a:spcPts val="0"/>
              </a:spcBef>
              <a:spcAft>
                <a:spcPts val="0"/>
              </a:spcAft>
            </a:pPr>
            <a:r>
              <a:rPr sz="1150" b="0" i="1">
                <a:solidFill>
                  <a:srgbClr val="6E757D"/>
                </a:solidFill>
                <a:latin typeface="Calibri"/>
              </a:rPr>
              <a:t>Ink flowing through a graph: the question embedding is injected into the seed nodes, spreads by message passing, and settles on the entities that answer the question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LEARNING BASED RETRIEVAL</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Why GNN-RAG over rules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21</a:t>
            </a:r>
          </a:p>
        </p:txBody>
      </p:sp>
      <p:sp>
        <p:nvSpPr>
          <p:cNvPr id="7" name="TextBox 6"/>
          <p:cNvSpPr txBox="1"/>
          <p:nvPr/>
        </p:nvSpPr>
        <p:spPr>
          <a:xfrm>
            <a:off x="749808" y="1700784"/>
            <a:ext cx="10692079" cy="546608"/>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A rule-based/heuristic search walks the graph by matching the words in the question to the labels on the connections — it only works when the right link happens to sound right.</a:t>
            </a:r>
          </a:p>
        </p:txBody>
      </p:sp>
      <p:sp>
        <p:nvSpPr>
          <p:cNvPr id="8" name="Rounded Rectangle 7"/>
          <p:cNvSpPr/>
          <p:nvPr/>
        </p:nvSpPr>
        <p:spPr>
          <a:xfrm>
            <a:off x="749808" y="2521712"/>
            <a:ext cx="3307994" cy="367792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9" name="Rectangle 8"/>
          <p:cNvSpPr/>
          <p:nvPr/>
        </p:nvSpPr>
        <p:spPr>
          <a:xfrm>
            <a:off x="749808" y="2521712"/>
            <a:ext cx="3307994" cy="68580"/>
          </a:xfrm>
          <a:prstGeom prst="rect">
            <a:avLst/>
          </a:prstGeom>
          <a:solidFill>
            <a:srgbClr val="3E5C76"/>
          </a:solidFill>
          <a:ln>
            <a:noFill/>
          </a:ln>
          <a:effectLst/>
        </p:spPr>
        <p:txBody>
          <a:bodyPr rtlCol="0" anchor="ctr"/>
          <a:lstStyle/>
          <a:p>
            <a:pPr algn="ctr"/>
            <a:endParaRPr/>
          </a:p>
        </p:txBody>
      </p:sp>
      <p:sp>
        <p:nvSpPr>
          <p:cNvPr id="10" name="TextBox 9"/>
          <p:cNvSpPr txBox="1"/>
          <p:nvPr/>
        </p:nvSpPr>
        <p:spPr>
          <a:xfrm>
            <a:off x="1115568" y="2905760"/>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Learns your domain</a:t>
            </a:r>
          </a:p>
        </p:txBody>
      </p:sp>
      <p:sp>
        <p:nvSpPr>
          <p:cNvPr id="11" name="TextBox 10"/>
          <p:cNvSpPr txBox="1"/>
          <p:nvPr/>
        </p:nvSpPr>
        <p:spPr>
          <a:xfrm>
            <a:off x="1115568" y="3669791"/>
            <a:ext cx="2576474" cy="2042160"/>
          </a:xfrm>
          <a:prstGeom prst="rect">
            <a:avLst/>
          </a:prstGeom>
          <a:noFill/>
        </p:spPr>
        <p:txBody>
          <a:bodyPr wrap="square" lIns="0" tIns="0" rIns="0" bIns="0" anchor="t">
            <a:spAutoFit/>
          </a:bodyPr>
          <a:lstStyle/>
          <a:p>
            <a:pPr algn="l">
              <a:lnSpc>
                <a:spcPct val="136000"/>
              </a:lnSpc>
              <a:spcBef>
                <a:spcPts val="0"/>
              </a:spcBef>
              <a:spcAft>
                <a:spcPts val="0"/>
              </a:spcAft>
            </a:pPr>
            <a:r>
              <a:rPr sz="1200" b="0" i="0">
                <a:solidFill>
                  <a:srgbClr val="333B43"/>
                </a:solidFill>
                <a:latin typeface="Calibri"/>
              </a:rPr>
              <a:t>GNN-RAG learns from past questions and their correct answers which connections actually lead somewhere useful, even when the wording gives no clue. You bake domain knowledge into the model while training, so it discovers routes that are not understandable at face value to the embeddings alone.</a:t>
            </a:r>
          </a:p>
        </p:txBody>
      </p:sp>
      <p:sp>
        <p:nvSpPr>
          <p:cNvPr id="12" name="Rounded Rectangle 11"/>
          <p:cNvSpPr/>
          <p:nvPr/>
        </p:nvSpPr>
        <p:spPr>
          <a:xfrm>
            <a:off x="4441850" y="2521712"/>
            <a:ext cx="3307994" cy="367792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3" name="Rectangle 12"/>
          <p:cNvSpPr/>
          <p:nvPr/>
        </p:nvSpPr>
        <p:spPr>
          <a:xfrm>
            <a:off x="4441850" y="2521712"/>
            <a:ext cx="3307994" cy="68580"/>
          </a:xfrm>
          <a:prstGeom prst="rect">
            <a:avLst/>
          </a:prstGeom>
          <a:solidFill>
            <a:srgbClr val="B0703A"/>
          </a:solidFill>
          <a:ln>
            <a:noFill/>
          </a:ln>
          <a:effectLst/>
        </p:spPr>
        <p:txBody>
          <a:bodyPr rtlCol="0" anchor="ctr"/>
          <a:lstStyle/>
          <a:p>
            <a:pPr algn="ctr"/>
            <a:endParaRPr/>
          </a:p>
        </p:txBody>
      </p:sp>
      <p:sp>
        <p:nvSpPr>
          <p:cNvPr id="14" name="TextBox 13"/>
          <p:cNvSpPr txBox="1"/>
          <p:nvPr/>
        </p:nvSpPr>
        <p:spPr>
          <a:xfrm>
            <a:off x="4807610" y="2905760"/>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Complete answer sets</a:t>
            </a:r>
          </a:p>
        </p:txBody>
      </p:sp>
      <p:sp>
        <p:nvSpPr>
          <p:cNvPr id="15" name="TextBox 14"/>
          <p:cNvSpPr txBox="1"/>
          <p:nvPr/>
        </p:nvSpPr>
        <p:spPr>
          <a:xfrm>
            <a:off x="4807610" y="3669791"/>
            <a:ext cx="2576474" cy="676656"/>
          </a:xfrm>
          <a:prstGeom prst="rect">
            <a:avLst/>
          </a:prstGeom>
          <a:noFill/>
        </p:spPr>
        <p:txBody>
          <a:bodyPr wrap="square" lIns="0" tIns="0" rIns="0" bIns="0" anchor="t">
            <a:spAutoFit/>
          </a:bodyPr>
          <a:lstStyle/>
          <a:p>
            <a:pPr algn="l">
              <a:lnSpc>
                <a:spcPct val="136000"/>
              </a:lnSpc>
              <a:spcBef>
                <a:spcPts val="0"/>
              </a:spcBef>
              <a:spcAft>
                <a:spcPts val="0"/>
              </a:spcAft>
            </a:pPr>
            <a:r>
              <a:rPr sz="1200" b="0" i="0">
                <a:solidFill>
                  <a:srgbClr val="333B43"/>
                </a:solidFill>
                <a:latin typeface="Calibri"/>
              </a:rPr>
              <a:t>It returns a complete set of answers rather than a fixed top few.</a:t>
            </a:r>
          </a:p>
        </p:txBody>
      </p:sp>
      <p:sp>
        <p:nvSpPr>
          <p:cNvPr id="16" name="Rounded Rectangle 15"/>
          <p:cNvSpPr/>
          <p:nvPr/>
        </p:nvSpPr>
        <p:spPr>
          <a:xfrm>
            <a:off x="8133892" y="2521712"/>
            <a:ext cx="3307994" cy="367792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7" name="Rectangle 16"/>
          <p:cNvSpPr/>
          <p:nvPr/>
        </p:nvSpPr>
        <p:spPr>
          <a:xfrm>
            <a:off x="8133892" y="2521712"/>
            <a:ext cx="3307994" cy="68580"/>
          </a:xfrm>
          <a:prstGeom prst="rect">
            <a:avLst/>
          </a:prstGeom>
          <a:solidFill>
            <a:srgbClr val="47795F"/>
          </a:solidFill>
          <a:ln>
            <a:noFill/>
          </a:ln>
          <a:effectLst/>
        </p:spPr>
        <p:txBody>
          <a:bodyPr rtlCol="0" anchor="ctr"/>
          <a:lstStyle/>
          <a:p>
            <a:pPr algn="ctr"/>
            <a:endParaRPr/>
          </a:p>
        </p:txBody>
      </p:sp>
      <p:sp>
        <p:nvSpPr>
          <p:cNvPr id="18" name="TextBox 17"/>
          <p:cNvSpPr txBox="1"/>
          <p:nvPr/>
        </p:nvSpPr>
        <p:spPr>
          <a:xfrm>
            <a:off x="8499652" y="2905760"/>
            <a:ext cx="2576474"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47795F"/>
                </a:solidFill>
                <a:latin typeface="Georgia"/>
              </a:rPr>
              <a:t>Gets better</a:t>
            </a:r>
          </a:p>
        </p:txBody>
      </p:sp>
      <p:sp>
        <p:nvSpPr>
          <p:cNvPr id="19" name="TextBox 18"/>
          <p:cNvSpPr txBox="1"/>
          <p:nvPr/>
        </p:nvSpPr>
        <p:spPr>
          <a:xfrm>
            <a:off x="8499652" y="3669791"/>
            <a:ext cx="2576474" cy="676656"/>
          </a:xfrm>
          <a:prstGeom prst="rect">
            <a:avLst/>
          </a:prstGeom>
          <a:noFill/>
        </p:spPr>
        <p:txBody>
          <a:bodyPr wrap="square" lIns="0" tIns="0" rIns="0" bIns="0" anchor="t">
            <a:spAutoFit/>
          </a:bodyPr>
          <a:lstStyle/>
          <a:p>
            <a:pPr algn="l">
              <a:lnSpc>
                <a:spcPct val="136000"/>
              </a:lnSpc>
              <a:spcBef>
                <a:spcPts val="0"/>
              </a:spcBef>
              <a:spcAft>
                <a:spcPts val="0"/>
              </a:spcAft>
            </a:pPr>
            <a:r>
              <a:rPr sz="1200" b="0" i="0">
                <a:solidFill>
                  <a:srgbClr val="333B43"/>
                </a:solidFill>
                <a:latin typeface="Calibri"/>
              </a:rPr>
              <a:t>It keeps improving as you collect more examples. The rule-based version never does.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LEARNING BASED RETRIEVAL</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Learning Based Retrieval vs purely Heuristics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22</a:t>
            </a:r>
          </a:p>
        </p:txBody>
      </p:sp>
      <p:sp>
        <p:nvSpPr>
          <p:cNvPr id="7" name="TextBox 6"/>
          <p:cNvSpPr txBox="1"/>
          <p:nvPr/>
        </p:nvSpPr>
        <p:spPr>
          <a:xfrm>
            <a:off x="749808" y="1755648"/>
            <a:ext cx="10692079" cy="1347215"/>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In every system some level of heuristics is needed, but learning based retrieval will take the subgraph generated from that step and predict a likely destination node (or nodes) based on its prior training. There is an added cost to this, that you need create labelled data - questions and answers and train a dataset. Based on the table below, you can see with supervised training (EmbedKGQA, NSM and UniKGQA) with GNNs hugely outperform untrained LLM retrieval when you get to three hops.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LEARNING BASED RETRIEVAL</a:t>
            </a:r>
          </a:p>
        </p:txBody>
      </p:sp>
      <p:sp>
        <p:nvSpPr>
          <p:cNvPr id="3" name="TextBox 2"/>
          <p:cNvSpPr txBox="1"/>
          <p:nvPr/>
        </p:nvSpPr>
        <p:spPr>
          <a:xfrm>
            <a:off x="749808" y="841248"/>
            <a:ext cx="10692079" cy="1042416"/>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Learning Based Retrieval vs purely Heuristics (cont.)</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23</a:t>
            </a:r>
          </a:p>
        </p:txBody>
      </p:sp>
      <p:graphicFrame>
        <p:nvGraphicFramePr>
          <p:cNvPr id="7" name="Table 6"/>
          <p:cNvGraphicFramePr>
            <a:graphicFrameLocks noGrp="1"/>
          </p:cNvGraphicFramePr>
          <p:nvPr/>
        </p:nvGraphicFramePr>
        <p:xfrm>
          <a:off x="749808" y="2176272"/>
          <a:ext cx="10692076" cy="3308096"/>
        </p:xfrm>
        <a:graphic>
          <a:graphicData uri="http://schemas.openxmlformats.org/drawingml/2006/table">
            <a:tbl>
              <a:tblPr firstRow="1" bandRow="1">
                <a:tableStyleId>{5C22544A-7EE6-4342-B048-85BDC9FD1C3A}</a:tableStyleId>
              </a:tblPr>
              <a:tblGrid>
                <a:gridCol w="2916021">
                  <a:extLst>
                    <a:ext uri="{9D8B030D-6E8A-4147-A177-3AD203B41FA5}">
                      <a16:colId xmlns:a16="http://schemas.microsoft.com/office/drawing/2014/main" val="20000"/>
                    </a:ext>
                  </a:extLst>
                </a:gridCol>
                <a:gridCol w="1777384">
                  <a:extLst>
                    <a:ext uri="{9D8B030D-6E8A-4147-A177-3AD203B41FA5}">
                      <a16:colId xmlns:a16="http://schemas.microsoft.com/office/drawing/2014/main" val="20001"/>
                    </a:ext>
                  </a:extLst>
                </a:gridCol>
                <a:gridCol w="1999557">
                  <a:extLst>
                    <a:ext uri="{9D8B030D-6E8A-4147-A177-3AD203B41FA5}">
                      <a16:colId xmlns:a16="http://schemas.microsoft.com/office/drawing/2014/main" val="20002"/>
                    </a:ext>
                  </a:extLst>
                </a:gridCol>
                <a:gridCol w="1999557">
                  <a:extLst>
                    <a:ext uri="{9D8B030D-6E8A-4147-A177-3AD203B41FA5}">
                      <a16:colId xmlns:a16="http://schemas.microsoft.com/office/drawing/2014/main" val="20003"/>
                    </a:ext>
                  </a:extLst>
                </a:gridCol>
                <a:gridCol w="1999557">
                  <a:extLst>
                    <a:ext uri="{9D8B030D-6E8A-4147-A177-3AD203B41FA5}">
                      <a16:colId xmlns:a16="http://schemas.microsoft.com/office/drawing/2014/main" val="20004"/>
                    </a:ext>
                  </a:extLst>
                </a:gridCol>
              </a:tblGrid>
              <a:tr h="420624">
                <a:tc>
                  <a:txBody>
                    <a:bodyPr/>
                    <a:lstStyle/>
                    <a:p>
                      <a:pPr algn="l">
                        <a:lnSpc>
                          <a:spcPct val="128000"/>
                        </a:lnSpc>
                        <a:spcBef>
                          <a:spcPts val="0"/>
                        </a:spcBef>
                        <a:spcAft>
                          <a:spcPts val="0"/>
                        </a:spcAft>
                      </a:pPr>
                      <a:r>
                        <a:rPr sz="1250" b="1" i="0">
                          <a:solidFill>
                            <a:srgbClr val="FFFFFF"/>
                          </a:solidFill>
                          <a:latin typeface="Calibri"/>
                        </a:rPr>
                        <a:t>Method</a:t>
                      </a:r>
                    </a:p>
                  </a:txBody>
                  <a:tcPr marL="128016" marR="128016" anchor="ctr">
                    <a:solidFill>
                      <a:srgbClr val="22374A"/>
                    </a:solidFill>
                  </a:tcPr>
                </a:tc>
                <a:tc>
                  <a:txBody>
                    <a:bodyPr/>
                    <a:lstStyle/>
                    <a:p>
                      <a:pPr algn="ctr">
                        <a:lnSpc>
                          <a:spcPct val="128000"/>
                        </a:lnSpc>
                        <a:spcBef>
                          <a:spcPts val="0"/>
                        </a:spcBef>
                        <a:spcAft>
                          <a:spcPts val="0"/>
                        </a:spcAft>
                      </a:pPr>
                      <a:r>
                        <a:rPr sz="1250" b="1" i="0">
                          <a:solidFill>
                            <a:srgbClr val="FFFFFF"/>
                          </a:solidFill>
                          <a:latin typeface="Calibri"/>
                        </a:rPr>
                        <a:t>WebQSP</a:t>
                      </a:r>
                    </a:p>
                  </a:txBody>
                  <a:tcPr marL="128016" marR="128016" anchor="ctr">
                    <a:solidFill>
                      <a:srgbClr val="22374A"/>
                    </a:solidFill>
                  </a:tcPr>
                </a:tc>
                <a:tc>
                  <a:txBody>
                    <a:bodyPr/>
                    <a:lstStyle/>
                    <a:p>
                      <a:pPr algn="ctr">
                        <a:lnSpc>
                          <a:spcPct val="128000"/>
                        </a:lnSpc>
                        <a:spcBef>
                          <a:spcPts val="0"/>
                        </a:spcBef>
                        <a:spcAft>
                          <a:spcPts val="0"/>
                        </a:spcAft>
                      </a:pPr>
                      <a:r>
                        <a:rPr sz="1250" b="1" i="0">
                          <a:solidFill>
                            <a:srgbClr val="FFFFFF"/>
                          </a:solidFill>
                          <a:latin typeface="Calibri"/>
                        </a:rPr>
                        <a:t>MQA 1-hop</a:t>
                      </a:r>
                    </a:p>
                  </a:txBody>
                  <a:tcPr marL="128016" marR="128016" anchor="ctr">
                    <a:solidFill>
                      <a:srgbClr val="22374A"/>
                    </a:solidFill>
                  </a:tcPr>
                </a:tc>
                <a:tc>
                  <a:txBody>
                    <a:bodyPr/>
                    <a:lstStyle/>
                    <a:p>
                      <a:pPr algn="ctr">
                        <a:lnSpc>
                          <a:spcPct val="128000"/>
                        </a:lnSpc>
                        <a:spcBef>
                          <a:spcPts val="0"/>
                        </a:spcBef>
                        <a:spcAft>
                          <a:spcPts val="0"/>
                        </a:spcAft>
                      </a:pPr>
                      <a:r>
                        <a:rPr sz="1250" b="1" i="0">
                          <a:solidFill>
                            <a:srgbClr val="FFFFFF"/>
                          </a:solidFill>
                          <a:latin typeface="Calibri"/>
                        </a:rPr>
                        <a:t>MQA 2-hop</a:t>
                      </a:r>
                    </a:p>
                  </a:txBody>
                  <a:tcPr marL="128016" marR="128016" anchor="ctr">
                    <a:solidFill>
                      <a:srgbClr val="22374A"/>
                    </a:solidFill>
                  </a:tcPr>
                </a:tc>
                <a:tc>
                  <a:txBody>
                    <a:bodyPr/>
                    <a:lstStyle/>
                    <a:p>
                      <a:pPr algn="ctr">
                        <a:lnSpc>
                          <a:spcPct val="128000"/>
                        </a:lnSpc>
                        <a:spcBef>
                          <a:spcPts val="0"/>
                        </a:spcBef>
                        <a:spcAft>
                          <a:spcPts val="0"/>
                        </a:spcAft>
                      </a:pPr>
                      <a:r>
                        <a:rPr sz="1250" b="1" i="0">
                          <a:solidFill>
                            <a:srgbClr val="FFFFFF"/>
                          </a:solidFill>
                          <a:latin typeface="Calibri"/>
                        </a:rPr>
                        <a:t>MQA 3-hop</a:t>
                      </a:r>
                    </a:p>
                  </a:txBody>
                  <a:tcPr marL="128016" marR="128016" anchor="ctr">
                    <a:solidFill>
                      <a:srgbClr val="22374A"/>
                    </a:solidFill>
                  </a:tcPr>
                </a:tc>
                <a:extLst>
                  <a:ext uri="{0D108BD9-81ED-4DB2-BD59-A6C34878D82A}">
                    <a16:rowId xmlns:a16="http://schemas.microsoft.com/office/drawing/2014/main" val="10000"/>
                  </a:ext>
                </a:extLst>
              </a:tr>
              <a:tr h="360934">
                <a:tc>
                  <a:txBody>
                    <a:bodyPr/>
                    <a:lstStyle/>
                    <a:p>
                      <a:pPr algn="l">
                        <a:lnSpc>
                          <a:spcPct val="128000"/>
                        </a:lnSpc>
                        <a:spcBef>
                          <a:spcPts val="0"/>
                        </a:spcBef>
                        <a:spcAft>
                          <a:spcPts val="0"/>
                        </a:spcAft>
                      </a:pPr>
                      <a:r>
                        <a:rPr sz="1300" b="0" i="0">
                          <a:solidFill>
                            <a:srgbClr val="333B43"/>
                          </a:solidFill>
                          <a:latin typeface="Calibri"/>
                        </a:rPr>
                        <a:t>ChatGPT, no KG</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61.2</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61.9</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31.0</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43.2</a:t>
                      </a:r>
                    </a:p>
                  </a:txBody>
                  <a:tcPr marL="128016" marR="128016" marT="27432" marB="27432" anchor="ctr">
                    <a:solidFill>
                      <a:srgbClr val="FFFFFF"/>
                    </a:solidFill>
                  </a:tcPr>
                </a:tc>
                <a:extLst>
                  <a:ext uri="{0D108BD9-81ED-4DB2-BD59-A6C34878D82A}">
                    <a16:rowId xmlns:a16="http://schemas.microsoft.com/office/drawing/2014/main" val="10001"/>
                  </a:ext>
                </a:extLst>
              </a:tr>
              <a:tr h="360934">
                <a:tc>
                  <a:txBody>
                    <a:bodyPr/>
                    <a:lstStyle/>
                    <a:p>
                      <a:pPr algn="l">
                        <a:lnSpc>
                          <a:spcPct val="128000"/>
                        </a:lnSpc>
                        <a:spcBef>
                          <a:spcPts val="0"/>
                        </a:spcBef>
                        <a:spcAft>
                          <a:spcPts val="0"/>
                        </a:spcAft>
                      </a:pPr>
                      <a:r>
                        <a:rPr sz="1300" b="0" i="0">
                          <a:solidFill>
                            <a:srgbClr val="333B43"/>
                          </a:solidFill>
                          <a:latin typeface="Calibri"/>
                        </a:rPr>
                        <a:t>+ StructGPT (zero-shot)</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72.6</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94.2</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93.9</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80.2</a:t>
                      </a:r>
                    </a:p>
                  </a:txBody>
                  <a:tcPr marL="128016" marR="128016" marT="27432" marB="27432" anchor="ctr">
                    <a:solidFill>
                      <a:srgbClr val="F3F6F8"/>
                    </a:solidFill>
                  </a:tcPr>
                </a:tc>
                <a:extLst>
                  <a:ext uri="{0D108BD9-81ED-4DB2-BD59-A6C34878D82A}">
                    <a16:rowId xmlns:a16="http://schemas.microsoft.com/office/drawing/2014/main" val="10002"/>
                  </a:ext>
                </a:extLst>
              </a:tr>
              <a:tr h="360934">
                <a:tc>
                  <a:txBody>
                    <a:bodyPr/>
                    <a:lstStyle/>
                    <a:p>
                      <a:pPr algn="l">
                        <a:lnSpc>
                          <a:spcPct val="128000"/>
                        </a:lnSpc>
                        <a:spcBef>
                          <a:spcPts val="0"/>
                        </a:spcBef>
                        <a:spcAft>
                          <a:spcPts val="0"/>
                        </a:spcAft>
                      </a:pPr>
                      <a:r>
                        <a:rPr sz="1300" b="0" i="0">
                          <a:solidFill>
                            <a:srgbClr val="333B43"/>
                          </a:solidFill>
                          <a:latin typeface="Calibri"/>
                        </a:rPr>
                        <a:t>+ StructGPT (few-shot)</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69.6</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97.1</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97.3</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87.0</a:t>
                      </a:r>
                    </a:p>
                  </a:txBody>
                  <a:tcPr marL="128016" marR="128016" marT="27432" marB="27432" anchor="ctr">
                    <a:solidFill>
                      <a:srgbClr val="FFFFFF"/>
                    </a:solidFill>
                  </a:tcPr>
                </a:tc>
                <a:extLst>
                  <a:ext uri="{0D108BD9-81ED-4DB2-BD59-A6C34878D82A}">
                    <a16:rowId xmlns:a16="http://schemas.microsoft.com/office/drawing/2014/main" val="10003"/>
                  </a:ext>
                </a:extLst>
              </a:tr>
              <a:tr h="360934">
                <a:tc>
                  <a:txBody>
                    <a:bodyPr/>
                    <a:lstStyle/>
                    <a:p>
                      <a:pPr algn="l">
                        <a:lnSpc>
                          <a:spcPct val="128000"/>
                        </a:lnSpc>
                        <a:spcBef>
                          <a:spcPts val="0"/>
                        </a:spcBef>
                        <a:spcAft>
                          <a:spcPts val="0"/>
                        </a:spcAft>
                      </a:pPr>
                      <a:r>
                        <a:rPr sz="1300" b="0" i="0">
                          <a:solidFill>
                            <a:srgbClr val="333B43"/>
                          </a:solidFill>
                          <a:latin typeface="Calibri"/>
                        </a:rPr>
                        <a:t>KV-Mem</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46.7</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96.2</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82.7</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48.9</a:t>
                      </a:r>
                    </a:p>
                  </a:txBody>
                  <a:tcPr marL="128016" marR="128016" marT="27432" marB="27432" anchor="ctr">
                    <a:solidFill>
                      <a:srgbClr val="F3F6F8"/>
                    </a:solidFill>
                  </a:tcPr>
                </a:tc>
                <a:extLst>
                  <a:ext uri="{0D108BD9-81ED-4DB2-BD59-A6C34878D82A}">
                    <a16:rowId xmlns:a16="http://schemas.microsoft.com/office/drawing/2014/main" val="10004"/>
                  </a:ext>
                </a:extLst>
              </a:tr>
              <a:tr h="360934">
                <a:tc>
                  <a:txBody>
                    <a:bodyPr/>
                    <a:lstStyle/>
                    <a:p>
                      <a:pPr algn="l">
                        <a:lnSpc>
                          <a:spcPct val="128000"/>
                        </a:lnSpc>
                        <a:spcBef>
                          <a:spcPts val="0"/>
                        </a:spcBef>
                        <a:spcAft>
                          <a:spcPts val="0"/>
                        </a:spcAft>
                      </a:pPr>
                      <a:r>
                        <a:rPr sz="1300" b="0" i="0">
                          <a:solidFill>
                            <a:srgbClr val="333B43"/>
                          </a:solidFill>
                          <a:latin typeface="Calibri"/>
                        </a:rPr>
                        <a:t>GraftNet</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66.4</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97.0</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94.8</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77.7</a:t>
                      </a:r>
                    </a:p>
                  </a:txBody>
                  <a:tcPr marL="128016" marR="128016" marT="27432" marB="27432" anchor="ctr">
                    <a:solidFill>
                      <a:srgbClr val="FFFFFF"/>
                    </a:solidFill>
                  </a:tcPr>
                </a:tc>
                <a:extLst>
                  <a:ext uri="{0D108BD9-81ED-4DB2-BD59-A6C34878D82A}">
                    <a16:rowId xmlns:a16="http://schemas.microsoft.com/office/drawing/2014/main" val="10005"/>
                  </a:ext>
                </a:extLst>
              </a:tr>
              <a:tr h="360934">
                <a:tc>
                  <a:txBody>
                    <a:bodyPr/>
                    <a:lstStyle/>
                    <a:p>
                      <a:pPr algn="l">
                        <a:lnSpc>
                          <a:spcPct val="128000"/>
                        </a:lnSpc>
                        <a:spcBef>
                          <a:spcPts val="0"/>
                        </a:spcBef>
                        <a:spcAft>
                          <a:spcPts val="0"/>
                        </a:spcAft>
                      </a:pPr>
                      <a:r>
                        <a:rPr sz="1300" b="0" i="0">
                          <a:solidFill>
                            <a:srgbClr val="333B43"/>
                          </a:solidFill>
                          <a:latin typeface="Calibri"/>
                        </a:rPr>
                        <a:t>EmbedKGQA</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66.6</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97.5</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98.8</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94.8</a:t>
                      </a:r>
                    </a:p>
                  </a:txBody>
                  <a:tcPr marL="128016" marR="128016" marT="27432" marB="27432" anchor="ctr">
                    <a:solidFill>
                      <a:srgbClr val="F3F6F8"/>
                    </a:solidFill>
                  </a:tcPr>
                </a:tc>
                <a:extLst>
                  <a:ext uri="{0D108BD9-81ED-4DB2-BD59-A6C34878D82A}">
                    <a16:rowId xmlns:a16="http://schemas.microsoft.com/office/drawing/2014/main" val="10006"/>
                  </a:ext>
                </a:extLst>
              </a:tr>
              <a:tr h="360934">
                <a:tc>
                  <a:txBody>
                    <a:bodyPr/>
                    <a:lstStyle/>
                    <a:p>
                      <a:pPr algn="l">
                        <a:lnSpc>
                          <a:spcPct val="128000"/>
                        </a:lnSpc>
                        <a:spcBef>
                          <a:spcPts val="0"/>
                        </a:spcBef>
                        <a:spcAft>
                          <a:spcPts val="0"/>
                        </a:spcAft>
                      </a:pPr>
                      <a:r>
                        <a:rPr sz="1300" b="0" i="0">
                          <a:solidFill>
                            <a:srgbClr val="333B43"/>
                          </a:solidFill>
                          <a:latin typeface="Calibri"/>
                        </a:rPr>
                        <a:t>NSM</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68.7</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97.1</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99.9</a:t>
                      </a:r>
                    </a:p>
                  </a:txBody>
                  <a:tcPr marL="128016" marR="128016" marT="27432" marB="27432" anchor="ctr">
                    <a:solidFill>
                      <a:srgbClr val="FFFFFF"/>
                    </a:solidFill>
                  </a:tcPr>
                </a:tc>
                <a:tc>
                  <a:txBody>
                    <a:bodyPr/>
                    <a:lstStyle/>
                    <a:p>
                      <a:pPr algn="ctr">
                        <a:lnSpc>
                          <a:spcPct val="128000"/>
                        </a:lnSpc>
                        <a:spcBef>
                          <a:spcPts val="0"/>
                        </a:spcBef>
                        <a:spcAft>
                          <a:spcPts val="0"/>
                        </a:spcAft>
                      </a:pPr>
                      <a:r>
                        <a:rPr sz="1300" b="0" i="0">
                          <a:solidFill>
                            <a:srgbClr val="333B43"/>
                          </a:solidFill>
                          <a:latin typeface="Calibri"/>
                        </a:rPr>
                        <a:t>98.9</a:t>
                      </a:r>
                    </a:p>
                  </a:txBody>
                  <a:tcPr marL="128016" marR="128016" marT="27432" marB="27432" anchor="ctr">
                    <a:solidFill>
                      <a:srgbClr val="FFFFFF"/>
                    </a:solidFill>
                  </a:tcPr>
                </a:tc>
                <a:extLst>
                  <a:ext uri="{0D108BD9-81ED-4DB2-BD59-A6C34878D82A}">
                    <a16:rowId xmlns:a16="http://schemas.microsoft.com/office/drawing/2014/main" val="10007"/>
                  </a:ext>
                </a:extLst>
              </a:tr>
              <a:tr h="360934">
                <a:tc>
                  <a:txBody>
                    <a:bodyPr/>
                    <a:lstStyle/>
                    <a:p>
                      <a:pPr algn="l">
                        <a:lnSpc>
                          <a:spcPct val="128000"/>
                        </a:lnSpc>
                        <a:spcBef>
                          <a:spcPts val="0"/>
                        </a:spcBef>
                        <a:spcAft>
                          <a:spcPts val="0"/>
                        </a:spcAft>
                      </a:pPr>
                      <a:r>
                        <a:rPr sz="1300" b="0" i="0">
                          <a:solidFill>
                            <a:srgbClr val="333B43"/>
                          </a:solidFill>
                          <a:latin typeface="Calibri"/>
                        </a:rPr>
                        <a:t>UniKGQA (supervised)</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75.1</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97.5</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99.0</a:t>
                      </a:r>
                    </a:p>
                  </a:txBody>
                  <a:tcPr marL="128016" marR="128016" marT="27432" marB="27432" anchor="ctr">
                    <a:solidFill>
                      <a:srgbClr val="F3F6F8"/>
                    </a:solidFill>
                  </a:tcPr>
                </a:tc>
                <a:tc>
                  <a:txBody>
                    <a:bodyPr/>
                    <a:lstStyle/>
                    <a:p>
                      <a:pPr algn="ctr">
                        <a:lnSpc>
                          <a:spcPct val="128000"/>
                        </a:lnSpc>
                        <a:spcBef>
                          <a:spcPts val="0"/>
                        </a:spcBef>
                        <a:spcAft>
                          <a:spcPts val="0"/>
                        </a:spcAft>
                      </a:pPr>
                      <a:r>
                        <a:rPr sz="1300" b="0" i="0">
                          <a:solidFill>
                            <a:srgbClr val="333B43"/>
                          </a:solidFill>
                          <a:latin typeface="Calibri"/>
                        </a:rPr>
                        <a:t>99.1</a:t>
                      </a:r>
                    </a:p>
                  </a:txBody>
                  <a:tcPr marL="128016" marR="128016" marT="27432" marB="27432" anchor="ctr">
                    <a:solidFill>
                      <a:srgbClr val="F3F6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RETRIEVER  ·  EXAMPLES - METHODOLOGY</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KG-GPT - Relational matching</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24</a:t>
            </a:r>
          </a:p>
        </p:txBody>
      </p:sp>
      <p:sp>
        <p:nvSpPr>
          <p:cNvPr id="7" name="Rounded Rectangle 6"/>
          <p:cNvSpPr/>
          <p:nvPr/>
        </p:nvSpPr>
        <p:spPr>
          <a:xfrm>
            <a:off x="786384" y="1860804"/>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8" name="TextBox 7"/>
          <p:cNvSpPr txBox="1"/>
          <p:nvPr/>
        </p:nvSpPr>
        <p:spPr>
          <a:xfrm>
            <a:off x="1060704" y="1755648"/>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Query Processor</a:t>
            </a:r>
          </a:p>
        </p:txBody>
      </p:sp>
      <p:sp>
        <p:nvSpPr>
          <p:cNvPr id="9" name="Rounded Rectangle 8"/>
          <p:cNvSpPr/>
          <p:nvPr/>
        </p:nvSpPr>
        <p:spPr>
          <a:xfrm>
            <a:off x="1097280" y="2189988"/>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10" name="TextBox 9"/>
          <p:cNvSpPr txBox="1"/>
          <p:nvPr/>
        </p:nvSpPr>
        <p:spPr>
          <a:xfrm>
            <a:off x="1371600" y="2084831"/>
            <a:ext cx="10070287"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Sentence segmentation</a:t>
            </a:r>
          </a:p>
        </p:txBody>
      </p:sp>
      <p:sp>
        <p:nvSpPr>
          <p:cNvPr id="11" name="Rounded Rectangle 10"/>
          <p:cNvSpPr/>
          <p:nvPr/>
        </p:nvSpPr>
        <p:spPr>
          <a:xfrm>
            <a:off x="1408176" y="2519172"/>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12" name="TextBox 11"/>
          <p:cNvSpPr txBox="1"/>
          <p:nvPr/>
        </p:nvSpPr>
        <p:spPr>
          <a:xfrm>
            <a:off x="1682496" y="2414015"/>
            <a:ext cx="9759391"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Break sentence into sub-sentences</a:t>
            </a:r>
          </a:p>
        </p:txBody>
      </p:sp>
      <p:sp>
        <p:nvSpPr>
          <p:cNvPr id="13" name="Rounded Rectangle 12"/>
          <p:cNvSpPr/>
          <p:nvPr/>
        </p:nvSpPr>
        <p:spPr>
          <a:xfrm>
            <a:off x="1408176" y="2848356"/>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14" name="TextBox 13"/>
          <p:cNvSpPr txBox="1"/>
          <p:nvPr/>
        </p:nvSpPr>
        <p:spPr>
          <a:xfrm>
            <a:off x="1682496" y="2743199"/>
            <a:ext cx="9759391"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For each sub-sentence create a set of entities</a:t>
            </a:r>
          </a:p>
        </p:txBody>
      </p:sp>
      <p:sp>
        <p:nvSpPr>
          <p:cNvPr id="15" name="Rounded Rectangle 14"/>
          <p:cNvSpPr/>
          <p:nvPr/>
        </p:nvSpPr>
        <p:spPr>
          <a:xfrm>
            <a:off x="786384" y="3177539"/>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6" name="TextBox 15"/>
          <p:cNvSpPr txBox="1"/>
          <p:nvPr/>
        </p:nvSpPr>
        <p:spPr>
          <a:xfrm>
            <a:off x="1060704" y="3072383"/>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Retriever</a:t>
            </a:r>
          </a:p>
        </p:txBody>
      </p:sp>
      <p:sp>
        <p:nvSpPr>
          <p:cNvPr id="17" name="Rounded Rectangle 16"/>
          <p:cNvSpPr/>
          <p:nvPr/>
        </p:nvSpPr>
        <p:spPr>
          <a:xfrm>
            <a:off x="1097280" y="3506723"/>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18" name="TextBox 17"/>
          <p:cNvSpPr txBox="1"/>
          <p:nvPr/>
        </p:nvSpPr>
        <p:spPr>
          <a:xfrm>
            <a:off x="1371600" y="3401567"/>
            <a:ext cx="10070287"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Relational Matching</a:t>
            </a:r>
          </a:p>
        </p:txBody>
      </p:sp>
      <p:sp>
        <p:nvSpPr>
          <p:cNvPr id="19" name="Rounded Rectangle 18"/>
          <p:cNvSpPr/>
          <p:nvPr/>
        </p:nvSpPr>
        <p:spPr>
          <a:xfrm>
            <a:off x="1408176" y="3835907"/>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20" name="TextBox 19"/>
          <p:cNvSpPr txBox="1"/>
          <p:nvPr/>
        </p:nvSpPr>
        <p:spPr>
          <a:xfrm>
            <a:off x="1682496" y="3730751"/>
            <a:ext cx="9759391"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Graph lookup to find plausible relations based on the set of entities</a:t>
            </a:r>
          </a:p>
        </p:txBody>
      </p:sp>
      <p:sp>
        <p:nvSpPr>
          <p:cNvPr id="21" name="Rounded Rectangle 20"/>
          <p:cNvSpPr/>
          <p:nvPr/>
        </p:nvSpPr>
        <p:spPr>
          <a:xfrm>
            <a:off x="1408176" y="4165091"/>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22" name="TextBox 21"/>
          <p:cNvSpPr txBox="1"/>
          <p:nvPr/>
        </p:nvSpPr>
        <p:spPr>
          <a:xfrm>
            <a:off x="1682496" y="4059935"/>
            <a:ext cx="9759391"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LLM pick top-K relations for that sub-sentence</a:t>
            </a:r>
          </a:p>
        </p:txBody>
      </p:sp>
      <p:sp>
        <p:nvSpPr>
          <p:cNvPr id="23" name="Rounded Rectangle 22"/>
          <p:cNvSpPr/>
          <p:nvPr/>
        </p:nvSpPr>
        <p:spPr>
          <a:xfrm>
            <a:off x="1408176" y="4494276"/>
            <a:ext cx="91440" cy="91440"/>
          </a:xfrm>
          <a:prstGeom prst="roundRect">
            <a:avLst>
              <a:gd name="adj" fmla="val 50000"/>
            </a:avLst>
          </a:prstGeom>
          <a:solidFill>
            <a:srgbClr val="3E5C76"/>
          </a:solidFill>
          <a:ln>
            <a:noFill/>
          </a:ln>
          <a:effectLst/>
        </p:spPr>
        <p:txBody>
          <a:bodyPr rtlCol="0" anchor="ctr"/>
          <a:lstStyle/>
          <a:p>
            <a:pPr algn="ctr"/>
            <a:endParaRPr/>
          </a:p>
        </p:txBody>
      </p:sp>
      <p:sp>
        <p:nvSpPr>
          <p:cNvPr id="24" name="TextBox 23"/>
          <p:cNvSpPr txBox="1"/>
          <p:nvPr/>
        </p:nvSpPr>
        <p:spPr>
          <a:xfrm>
            <a:off x="1682496" y="4389120"/>
            <a:ext cx="9759391"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Graph lookup to get all triples with the generated entities and discovered relations</a:t>
            </a:r>
          </a:p>
        </p:txBody>
      </p:sp>
      <p:sp>
        <p:nvSpPr>
          <p:cNvPr id="25" name="Rounded Rectangle 24"/>
          <p:cNvSpPr/>
          <p:nvPr/>
        </p:nvSpPr>
        <p:spPr>
          <a:xfrm>
            <a:off x="786384" y="4823460"/>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26" name="TextBox 25"/>
          <p:cNvSpPr txBox="1"/>
          <p:nvPr/>
        </p:nvSpPr>
        <p:spPr>
          <a:xfrm>
            <a:off x="1060704" y="4718304"/>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0" i="0">
                <a:solidFill>
                  <a:srgbClr val="333B43"/>
                </a:solidFill>
                <a:latin typeface="Calibri"/>
              </a:rPr>
              <a:t>Inference Input all the triples and the query.</a:t>
            </a:r>
          </a:p>
        </p:txBody>
      </p:sp>
      <p:sp>
        <p:nvSpPr>
          <p:cNvPr id="27" name="TextBox 26"/>
          <p:cNvSpPr txBox="1"/>
          <p:nvPr/>
        </p:nvSpPr>
        <p:spPr>
          <a:xfrm>
            <a:off x="749808" y="5157216"/>
            <a:ext cx="10692079" cy="61569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Shortfall, </a:t>
            </a:r>
            <a:r>
              <a:rPr sz="1500" b="1" i="0">
                <a:solidFill>
                  <a:srgbClr val="333B43"/>
                </a:solidFill>
                <a:latin typeface="Calibri"/>
              </a:rPr>
              <a:t>validation</a:t>
            </a:r>
            <a:r>
              <a:rPr sz="1500" b="0" i="0">
                <a:solidFill>
                  <a:srgbClr val="333B43"/>
                </a:solidFill>
                <a:latin typeface="Calibri"/>
              </a:rPr>
              <a:t> only. It only manages to find as many hops as are found in the sub-sentence. If the answer is two hops away from the entities in the sub-sentence the algorithm will not find them.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06</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Organiser</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ORGANISER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Organiser</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25</a:t>
            </a:r>
          </a:p>
        </p:txBody>
      </p:sp>
      <p:sp>
        <p:nvSpPr>
          <p:cNvPr id="7" name="TextBox 6"/>
          <p:cNvSpPr txBox="1"/>
          <p:nvPr/>
        </p:nvSpPr>
        <p:spPr>
          <a:xfrm>
            <a:off x="749808" y="1755648"/>
            <a:ext cx="10692079" cy="37185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The organiser has four main tasks:</a:t>
            </a:r>
          </a:p>
        </p:txBody>
      </p:sp>
      <p:sp>
        <p:nvSpPr>
          <p:cNvPr id="8" name="Rounded Rectangle 7"/>
          <p:cNvSpPr/>
          <p:nvPr/>
        </p:nvSpPr>
        <p:spPr>
          <a:xfrm>
            <a:off x="786384" y="2415540"/>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9" name="TextBox 8"/>
          <p:cNvSpPr txBox="1"/>
          <p:nvPr/>
        </p:nvSpPr>
        <p:spPr>
          <a:xfrm>
            <a:off x="1060704" y="2310383"/>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Graph pruning</a:t>
            </a:r>
            <a:r>
              <a:rPr sz="1500" b="0" i="0">
                <a:solidFill>
                  <a:srgbClr val="333B43"/>
                </a:solidFill>
                <a:latin typeface="Calibri"/>
              </a:rPr>
              <a:t> - remove noise from the retrieved sub-graphs with</a:t>
            </a:r>
          </a:p>
        </p:txBody>
      </p:sp>
      <p:sp>
        <p:nvSpPr>
          <p:cNvPr id="10" name="Rounded Rectangle 9"/>
          <p:cNvSpPr/>
          <p:nvPr/>
        </p:nvSpPr>
        <p:spPr>
          <a:xfrm>
            <a:off x="786384" y="2744724"/>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1" name="TextBox 10"/>
          <p:cNvSpPr txBox="1"/>
          <p:nvPr/>
        </p:nvSpPr>
        <p:spPr>
          <a:xfrm>
            <a:off x="1060704" y="2639567"/>
            <a:ext cx="10381183" cy="550163"/>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Rerank</a:t>
            </a:r>
            <a:r>
              <a:rPr sz="1500" b="0" i="0">
                <a:solidFill>
                  <a:srgbClr val="333B43"/>
                </a:solidFill>
                <a:latin typeface="Calibri"/>
              </a:rPr>
              <a:t> the sub-graph context so that the most relevant knowledge it towards to the top (to avoid attention bias)</a:t>
            </a:r>
          </a:p>
        </p:txBody>
      </p:sp>
      <p:sp>
        <p:nvSpPr>
          <p:cNvPr id="12" name="Rounded Rectangle 11"/>
          <p:cNvSpPr/>
          <p:nvPr/>
        </p:nvSpPr>
        <p:spPr>
          <a:xfrm>
            <a:off x="786384" y="3294887"/>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3" name="TextBox 12"/>
          <p:cNvSpPr txBox="1"/>
          <p:nvPr/>
        </p:nvSpPr>
        <p:spPr>
          <a:xfrm>
            <a:off x="1060704" y="3189731"/>
            <a:ext cx="10381183" cy="329184"/>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Graph augmentation</a:t>
            </a:r>
          </a:p>
        </p:txBody>
      </p:sp>
      <p:sp>
        <p:nvSpPr>
          <p:cNvPr id="14" name="Rounded Rectangle 13"/>
          <p:cNvSpPr/>
          <p:nvPr/>
        </p:nvSpPr>
        <p:spPr>
          <a:xfrm>
            <a:off x="786384" y="3624071"/>
            <a:ext cx="91440" cy="91440"/>
          </a:xfrm>
          <a:prstGeom prst="roundRect">
            <a:avLst>
              <a:gd name="adj" fmla="val 50000"/>
            </a:avLst>
          </a:prstGeom>
          <a:solidFill>
            <a:srgbClr val="B0703A"/>
          </a:solidFill>
          <a:ln>
            <a:noFill/>
          </a:ln>
          <a:effectLst/>
        </p:spPr>
        <p:txBody>
          <a:bodyPr rtlCol="0" anchor="ctr"/>
          <a:lstStyle/>
          <a:p>
            <a:pPr algn="ctr"/>
            <a:endParaRPr/>
          </a:p>
        </p:txBody>
      </p:sp>
      <p:sp>
        <p:nvSpPr>
          <p:cNvPr id="15" name="TextBox 14"/>
          <p:cNvSpPr txBox="1"/>
          <p:nvPr/>
        </p:nvSpPr>
        <p:spPr>
          <a:xfrm>
            <a:off x="1060704" y="3518915"/>
            <a:ext cx="10381183" cy="550163"/>
          </a:xfrm>
          <a:prstGeom prst="rect">
            <a:avLst/>
          </a:prstGeom>
          <a:noFill/>
        </p:spPr>
        <p:txBody>
          <a:bodyPr wrap="square" lIns="0" tIns="0" rIns="0" bIns="0" anchor="t">
            <a:spAutoFit/>
          </a:bodyPr>
          <a:lstStyle/>
          <a:p>
            <a:pPr algn="l">
              <a:lnSpc>
                <a:spcPct val="130000"/>
              </a:lnSpc>
              <a:spcBef>
                <a:spcPts val="0"/>
              </a:spcBef>
              <a:spcAft>
                <a:spcPts val="0"/>
              </a:spcAft>
            </a:pPr>
            <a:r>
              <a:rPr sz="1500" b="1" i="0">
                <a:solidFill>
                  <a:srgbClr val="333B43"/>
                </a:solidFill>
                <a:latin typeface="Calibri"/>
              </a:rPr>
              <a:t>Verbalising</a:t>
            </a:r>
            <a:r>
              <a:rPr sz="1500" b="0" i="0">
                <a:solidFill>
                  <a:srgbClr val="333B43"/>
                </a:solidFill>
                <a:latin typeface="Calibri"/>
              </a:rPr>
              <a:t> the graph while still being structurally aware, this is the mapping layer between graph and prose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ORGANISER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Graph Pruning</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26</a:t>
            </a:r>
          </a:p>
        </p:txBody>
      </p:sp>
      <p:sp>
        <p:nvSpPr>
          <p:cNvPr id="7" name="Rounded Rectangle 6"/>
          <p:cNvSpPr/>
          <p:nvPr/>
        </p:nvSpPr>
        <p:spPr>
          <a:xfrm>
            <a:off x="749808" y="1755648"/>
            <a:ext cx="2384983"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8" name="Rectangle 7"/>
          <p:cNvSpPr/>
          <p:nvPr/>
        </p:nvSpPr>
        <p:spPr>
          <a:xfrm>
            <a:off x="749808" y="1755648"/>
            <a:ext cx="2384983" cy="68580"/>
          </a:xfrm>
          <a:prstGeom prst="rect">
            <a:avLst/>
          </a:prstGeom>
          <a:solidFill>
            <a:srgbClr val="3E5C76"/>
          </a:solidFill>
          <a:ln>
            <a:noFill/>
          </a:ln>
          <a:effectLst/>
        </p:spPr>
        <p:txBody>
          <a:bodyPr rtlCol="0" anchor="ctr"/>
          <a:lstStyle/>
          <a:p>
            <a:pPr algn="ctr"/>
            <a:endParaRPr/>
          </a:p>
        </p:txBody>
      </p:sp>
      <p:sp>
        <p:nvSpPr>
          <p:cNvPr id="9" name="TextBox 8"/>
          <p:cNvSpPr txBox="1"/>
          <p:nvPr/>
        </p:nvSpPr>
        <p:spPr>
          <a:xfrm>
            <a:off x="1115568" y="2139696"/>
            <a:ext cx="1653463" cy="882396"/>
          </a:xfrm>
          <a:prstGeom prst="rect">
            <a:avLst/>
          </a:prstGeom>
          <a:noFill/>
        </p:spPr>
        <p:txBody>
          <a:bodyPr wrap="square" lIns="0" tIns="0" rIns="0" bIns="0" anchor="t">
            <a:spAutoFit/>
          </a:bodyPr>
          <a:lstStyle/>
          <a:p>
            <a:pPr algn="l">
              <a:lnSpc>
                <a:spcPct val="112000"/>
              </a:lnSpc>
              <a:spcBef>
                <a:spcPts val="0"/>
              </a:spcBef>
              <a:spcAft>
                <a:spcPts val="0"/>
              </a:spcAft>
            </a:pPr>
            <a:r>
              <a:rPr sz="1800" b="1" i="0">
                <a:solidFill>
                  <a:srgbClr val="3E5C76"/>
                </a:solidFill>
                <a:latin typeface="Georgia"/>
              </a:rPr>
              <a:t>Semantic-based pruning</a:t>
            </a:r>
          </a:p>
        </p:txBody>
      </p:sp>
      <p:sp>
        <p:nvSpPr>
          <p:cNvPr id="10" name="TextBox 9"/>
          <p:cNvSpPr txBox="1"/>
          <p:nvPr/>
        </p:nvSpPr>
        <p:spPr>
          <a:xfrm>
            <a:off x="1115568" y="3113532"/>
            <a:ext cx="1653463" cy="2854960"/>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Remove semantically irrelevant nodes and edge relationship. We have already discussed this in part. Different units can be scored, </a:t>
            </a:r>
            <a:r>
              <a:rPr sz="1000" b="0" i="1">
                <a:solidFill>
                  <a:srgbClr val="333B43"/>
                </a:solidFill>
                <a:latin typeface="Calibri"/>
              </a:rPr>
              <a:t>node</a:t>
            </a:r>
            <a:r>
              <a:rPr sz="1000" b="0" i="0">
                <a:solidFill>
                  <a:srgbClr val="333B43"/>
                </a:solidFill>
                <a:latin typeface="Calibri"/>
              </a:rPr>
              <a:t> score each entity against query, </a:t>
            </a:r>
            <a:r>
              <a:rPr sz="1000" b="0" i="1">
                <a:solidFill>
                  <a:srgbClr val="333B43"/>
                </a:solidFill>
                <a:latin typeface="Calibri"/>
              </a:rPr>
              <a:t>relation</a:t>
            </a:r>
            <a:r>
              <a:rPr sz="1000" b="0" i="0">
                <a:solidFill>
                  <a:srgbClr val="333B43"/>
                </a:solidFill>
                <a:latin typeface="Calibri"/>
              </a:rPr>
              <a:t> score relations around each entity, expand chosen ones, </a:t>
            </a:r>
            <a:r>
              <a:rPr sz="1000" b="0" i="1">
                <a:solidFill>
                  <a:srgbClr val="333B43"/>
                </a:solidFill>
                <a:latin typeface="Calibri"/>
              </a:rPr>
              <a:t>whole subgraph</a:t>
            </a:r>
            <a:r>
              <a:rPr sz="1000" b="0" i="0">
                <a:solidFill>
                  <a:srgbClr val="333B43"/>
                </a:solidFill>
                <a:latin typeface="Calibri"/>
              </a:rPr>
              <a:t> partition retrieved subgraph into regions, rank the regions, keep top-k. Some will reconnect disconnected entities.</a:t>
            </a:r>
          </a:p>
        </p:txBody>
      </p:sp>
      <p:sp>
        <p:nvSpPr>
          <p:cNvPr id="11" name="Rounded Rectangle 10"/>
          <p:cNvSpPr/>
          <p:nvPr/>
        </p:nvSpPr>
        <p:spPr>
          <a:xfrm>
            <a:off x="3518839" y="1755648"/>
            <a:ext cx="2384983"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2" name="Rectangle 11"/>
          <p:cNvSpPr/>
          <p:nvPr/>
        </p:nvSpPr>
        <p:spPr>
          <a:xfrm>
            <a:off x="3518839" y="1755648"/>
            <a:ext cx="2384983" cy="68580"/>
          </a:xfrm>
          <a:prstGeom prst="rect">
            <a:avLst/>
          </a:prstGeom>
          <a:solidFill>
            <a:srgbClr val="B0703A"/>
          </a:solidFill>
          <a:ln>
            <a:noFill/>
          </a:ln>
          <a:effectLst/>
        </p:spPr>
        <p:txBody>
          <a:bodyPr rtlCol="0" anchor="ctr"/>
          <a:lstStyle/>
          <a:p>
            <a:pPr algn="ctr"/>
            <a:endParaRPr/>
          </a:p>
        </p:txBody>
      </p:sp>
      <p:sp>
        <p:nvSpPr>
          <p:cNvPr id="13" name="TextBox 12"/>
          <p:cNvSpPr txBox="1"/>
          <p:nvPr/>
        </p:nvSpPr>
        <p:spPr>
          <a:xfrm>
            <a:off x="3884599" y="2139696"/>
            <a:ext cx="1653463" cy="882396"/>
          </a:xfrm>
          <a:prstGeom prst="rect">
            <a:avLst/>
          </a:prstGeom>
          <a:noFill/>
        </p:spPr>
        <p:txBody>
          <a:bodyPr wrap="square" lIns="0" tIns="0" rIns="0" bIns="0" anchor="t">
            <a:spAutoFit/>
          </a:bodyPr>
          <a:lstStyle/>
          <a:p>
            <a:pPr algn="l">
              <a:lnSpc>
                <a:spcPct val="112000"/>
              </a:lnSpc>
              <a:spcBef>
                <a:spcPts val="0"/>
              </a:spcBef>
              <a:spcAft>
                <a:spcPts val="0"/>
              </a:spcAft>
            </a:pPr>
            <a:r>
              <a:rPr sz="1800" b="1" i="0">
                <a:solidFill>
                  <a:srgbClr val="B0703A"/>
                </a:solidFill>
                <a:latin typeface="Georgia"/>
              </a:rPr>
              <a:t>Syntactic-based pruning</a:t>
            </a:r>
          </a:p>
        </p:txBody>
      </p:sp>
      <p:sp>
        <p:nvSpPr>
          <p:cNvPr id="14" name="TextBox 13"/>
          <p:cNvSpPr txBox="1"/>
          <p:nvPr/>
        </p:nvSpPr>
        <p:spPr>
          <a:xfrm>
            <a:off x="3884599" y="3113532"/>
            <a:ext cx="1653463" cy="1879600"/>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a parse tree is created based on query sentence grammar, seed nodes in the graph are scored based on the span distance (distance between words) within the query, then mean neighbourhood aggregation passes the scores out from the seeds.</a:t>
            </a:r>
          </a:p>
        </p:txBody>
      </p:sp>
      <p:sp>
        <p:nvSpPr>
          <p:cNvPr id="15" name="Rounded Rectangle 14"/>
          <p:cNvSpPr/>
          <p:nvPr/>
        </p:nvSpPr>
        <p:spPr>
          <a:xfrm>
            <a:off x="6287871" y="1755648"/>
            <a:ext cx="2384983"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6" name="Rectangle 15"/>
          <p:cNvSpPr/>
          <p:nvPr/>
        </p:nvSpPr>
        <p:spPr>
          <a:xfrm>
            <a:off x="6287871" y="1755648"/>
            <a:ext cx="2384983" cy="68580"/>
          </a:xfrm>
          <a:prstGeom prst="rect">
            <a:avLst/>
          </a:prstGeom>
          <a:solidFill>
            <a:srgbClr val="47795F"/>
          </a:solidFill>
          <a:ln>
            <a:noFill/>
          </a:ln>
          <a:effectLst/>
        </p:spPr>
        <p:txBody>
          <a:bodyPr rtlCol="0" anchor="ctr"/>
          <a:lstStyle/>
          <a:p>
            <a:pPr algn="ctr"/>
            <a:endParaRPr/>
          </a:p>
        </p:txBody>
      </p:sp>
      <p:sp>
        <p:nvSpPr>
          <p:cNvPr id="17" name="TextBox 16"/>
          <p:cNvSpPr txBox="1"/>
          <p:nvPr/>
        </p:nvSpPr>
        <p:spPr>
          <a:xfrm>
            <a:off x="6653631" y="2139696"/>
            <a:ext cx="1653463" cy="882396"/>
          </a:xfrm>
          <a:prstGeom prst="rect">
            <a:avLst/>
          </a:prstGeom>
          <a:noFill/>
        </p:spPr>
        <p:txBody>
          <a:bodyPr wrap="square" lIns="0" tIns="0" rIns="0" bIns="0" anchor="t">
            <a:spAutoFit/>
          </a:bodyPr>
          <a:lstStyle/>
          <a:p>
            <a:pPr algn="l">
              <a:lnSpc>
                <a:spcPct val="112000"/>
              </a:lnSpc>
              <a:spcBef>
                <a:spcPts val="0"/>
              </a:spcBef>
              <a:spcAft>
                <a:spcPts val="0"/>
              </a:spcAft>
            </a:pPr>
            <a:r>
              <a:rPr sz="1800" b="1" i="0">
                <a:solidFill>
                  <a:srgbClr val="47795F"/>
                </a:solidFill>
                <a:latin typeface="Georgia"/>
              </a:rPr>
              <a:t>Structure-based pruning</a:t>
            </a:r>
          </a:p>
        </p:txBody>
      </p:sp>
      <p:sp>
        <p:nvSpPr>
          <p:cNvPr id="18" name="TextBox 17"/>
          <p:cNvSpPr txBox="1"/>
          <p:nvPr/>
        </p:nvSpPr>
        <p:spPr>
          <a:xfrm>
            <a:off x="6653631" y="3113532"/>
            <a:ext cx="1653463" cy="1717040"/>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use the graph structure, for example by calculating the average PageRank score for each path to extract the most relevant entities. Calculation of -- how reachable is this node from the query's entities?</a:t>
            </a:r>
          </a:p>
        </p:txBody>
      </p:sp>
      <p:sp>
        <p:nvSpPr>
          <p:cNvPr id="19" name="Rounded Rectangle 18"/>
          <p:cNvSpPr/>
          <p:nvPr/>
        </p:nvSpPr>
        <p:spPr>
          <a:xfrm>
            <a:off x="9056903" y="1755648"/>
            <a:ext cx="2384983" cy="4443984"/>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20" name="Rectangle 19"/>
          <p:cNvSpPr/>
          <p:nvPr/>
        </p:nvSpPr>
        <p:spPr>
          <a:xfrm>
            <a:off x="9056903" y="1755648"/>
            <a:ext cx="2384983" cy="68580"/>
          </a:xfrm>
          <a:prstGeom prst="rect">
            <a:avLst/>
          </a:prstGeom>
          <a:solidFill>
            <a:srgbClr val="6D5A7B"/>
          </a:solidFill>
          <a:ln>
            <a:noFill/>
          </a:ln>
          <a:effectLst/>
        </p:spPr>
        <p:txBody>
          <a:bodyPr rtlCol="0" anchor="ctr"/>
          <a:lstStyle/>
          <a:p>
            <a:pPr algn="ctr"/>
            <a:endParaRPr/>
          </a:p>
        </p:txBody>
      </p:sp>
      <p:sp>
        <p:nvSpPr>
          <p:cNvPr id="21" name="TextBox 20"/>
          <p:cNvSpPr txBox="1"/>
          <p:nvPr/>
        </p:nvSpPr>
        <p:spPr>
          <a:xfrm>
            <a:off x="9422663" y="2139696"/>
            <a:ext cx="1653463" cy="882396"/>
          </a:xfrm>
          <a:prstGeom prst="rect">
            <a:avLst/>
          </a:prstGeom>
          <a:noFill/>
        </p:spPr>
        <p:txBody>
          <a:bodyPr wrap="square" lIns="0" tIns="0" rIns="0" bIns="0" anchor="t">
            <a:spAutoFit/>
          </a:bodyPr>
          <a:lstStyle/>
          <a:p>
            <a:pPr algn="l">
              <a:lnSpc>
                <a:spcPct val="112000"/>
              </a:lnSpc>
              <a:spcBef>
                <a:spcPts val="0"/>
              </a:spcBef>
              <a:spcAft>
                <a:spcPts val="0"/>
              </a:spcAft>
            </a:pPr>
            <a:r>
              <a:rPr sz="1800" b="1" i="0">
                <a:solidFill>
                  <a:srgbClr val="6D5A7B"/>
                </a:solidFill>
                <a:latin typeface="Georgia"/>
              </a:rPr>
              <a:t>Dynamic pruning</a:t>
            </a:r>
          </a:p>
        </p:txBody>
      </p:sp>
      <p:sp>
        <p:nvSpPr>
          <p:cNvPr id="22" name="TextBox 21"/>
          <p:cNvSpPr txBox="1"/>
          <p:nvPr/>
        </p:nvSpPr>
        <p:spPr>
          <a:xfrm>
            <a:off x="9422663" y="3113532"/>
            <a:ext cx="1653463" cy="2367280"/>
          </a:xfrm>
          <a:prstGeom prst="rect">
            <a:avLst/>
          </a:prstGeom>
          <a:noFill/>
        </p:spPr>
        <p:txBody>
          <a:bodyPr wrap="square" lIns="0" tIns="0" rIns="0" bIns="0" anchor="t">
            <a:spAutoFit/>
          </a:bodyPr>
          <a:lstStyle/>
          <a:p>
            <a:pPr algn="l">
              <a:lnSpc>
                <a:spcPct val="136000"/>
              </a:lnSpc>
              <a:spcBef>
                <a:spcPts val="0"/>
              </a:spcBef>
              <a:spcAft>
                <a:spcPts val="0"/>
              </a:spcAft>
            </a:pPr>
            <a:r>
              <a:rPr sz="1000" b="0" i="0">
                <a:solidFill>
                  <a:srgbClr val="333B43"/>
                </a:solidFill>
                <a:latin typeface="Calibri"/>
              </a:rPr>
              <a:t>prune as you go, only available for GNNs on a retrieved subgraph - models own attention weights, when below a certain quantity on a retrieved node are pruned. As the GNN traces the best path to it's predicted target entities, like with our ink example, this extracts nodes that don't have enough ink.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ORGANISER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Reranker</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27</a:t>
            </a:r>
          </a:p>
        </p:txBody>
      </p:sp>
      <p:sp>
        <p:nvSpPr>
          <p:cNvPr id="7" name="TextBox 6"/>
          <p:cNvSpPr txBox="1"/>
          <p:nvPr/>
        </p:nvSpPr>
        <p:spPr>
          <a:xfrm>
            <a:off x="749808" y="1755648"/>
            <a:ext cx="10692079" cy="85953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LLMs tend to give more weight to earlier documents in context than later ones. Results need to be re-ordered such that the most important documents are higher up. This can be done with a cross-encoder, a pre-trained model, a GNN etc.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ORGANISER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Graph Augmentation</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28</a:t>
            </a:r>
          </a:p>
        </p:txBody>
      </p:sp>
      <p:sp>
        <p:nvSpPr>
          <p:cNvPr id="7" name="TextBox 6"/>
          <p:cNvSpPr txBox="1"/>
          <p:nvPr/>
        </p:nvSpPr>
        <p:spPr>
          <a:xfrm>
            <a:off x="749808" y="1700784"/>
            <a:ext cx="10692079" cy="546608"/>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Once the graph has been retrieved, additional information can be supplied by knowledge within LLMs or external data sources (even by naïve RAG retrievers). This is need due to the pruning that happens. There are two main categories:</a:t>
            </a:r>
          </a:p>
        </p:txBody>
      </p:sp>
      <p:sp>
        <p:nvSpPr>
          <p:cNvPr id="8" name="Rounded Rectangle 7"/>
          <p:cNvSpPr/>
          <p:nvPr/>
        </p:nvSpPr>
        <p:spPr>
          <a:xfrm>
            <a:off x="749808" y="2521712"/>
            <a:ext cx="5154015" cy="367792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9" name="Rectangle 8"/>
          <p:cNvSpPr/>
          <p:nvPr/>
        </p:nvSpPr>
        <p:spPr>
          <a:xfrm>
            <a:off x="749808" y="2521712"/>
            <a:ext cx="5154015" cy="68580"/>
          </a:xfrm>
          <a:prstGeom prst="rect">
            <a:avLst/>
          </a:prstGeom>
          <a:solidFill>
            <a:srgbClr val="3E5C76"/>
          </a:solidFill>
          <a:ln>
            <a:noFill/>
          </a:ln>
          <a:effectLst/>
        </p:spPr>
        <p:txBody>
          <a:bodyPr rtlCol="0" anchor="ctr"/>
          <a:lstStyle/>
          <a:p>
            <a:pPr algn="ctr"/>
            <a:endParaRPr/>
          </a:p>
        </p:txBody>
      </p:sp>
      <p:sp>
        <p:nvSpPr>
          <p:cNvPr id="10" name="TextBox 9"/>
          <p:cNvSpPr txBox="1"/>
          <p:nvPr/>
        </p:nvSpPr>
        <p:spPr>
          <a:xfrm>
            <a:off x="1115568" y="2905760"/>
            <a:ext cx="4422495"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Graph Structure Augmentation</a:t>
            </a:r>
          </a:p>
        </p:txBody>
      </p:sp>
      <p:sp>
        <p:nvSpPr>
          <p:cNvPr id="11" name="TextBox 10"/>
          <p:cNvSpPr txBox="1"/>
          <p:nvPr/>
        </p:nvSpPr>
        <p:spPr>
          <a:xfrm>
            <a:off x="1115568" y="3669791"/>
            <a:ext cx="4422495" cy="1001776"/>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question chunks are augmented to the subgraph as nodes, or the whole question augmented as a single node or a pre-trained diffusion model generates extra edges for the retrieved graph</a:t>
            </a:r>
          </a:p>
        </p:txBody>
      </p:sp>
      <p:sp>
        <p:nvSpPr>
          <p:cNvPr id="12" name="Rounded Rectangle 11"/>
          <p:cNvSpPr/>
          <p:nvPr/>
        </p:nvSpPr>
        <p:spPr>
          <a:xfrm>
            <a:off x="6287871" y="2521712"/>
            <a:ext cx="5154015" cy="367792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3" name="Rectangle 12"/>
          <p:cNvSpPr/>
          <p:nvPr/>
        </p:nvSpPr>
        <p:spPr>
          <a:xfrm>
            <a:off x="6287871" y="2521712"/>
            <a:ext cx="5154015" cy="68580"/>
          </a:xfrm>
          <a:prstGeom prst="rect">
            <a:avLst/>
          </a:prstGeom>
          <a:solidFill>
            <a:srgbClr val="B0703A"/>
          </a:solidFill>
          <a:ln>
            <a:noFill/>
          </a:ln>
          <a:effectLst/>
        </p:spPr>
        <p:txBody>
          <a:bodyPr rtlCol="0" anchor="ctr"/>
          <a:lstStyle/>
          <a:p>
            <a:pPr algn="ctr"/>
            <a:endParaRPr/>
          </a:p>
        </p:txBody>
      </p:sp>
      <p:sp>
        <p:nvSpPr>
          <p:cNvPr id="14" name="TextBox 13"/>
          <p:cNvSpPr txBox="1"/>
          <p:nvPr/>
        </p:nvSpPr>
        <p:spPr>
          <a:xfrm>
            <a:off x="6653631" y="2905760"/>
            <a:ext cx="4422495" cy="672591"/>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Graph Feature Augmentation</a:t>
            </a:r>
          </a:p>
        </p:txBody>
      </p:sp>
      <p:sp>
        <p:nvSpPr>
          <p:cNvPr id="15" name="TextBox 14"/>
          <p:cNvSpPr txBox="1"/>
          <p:nvPr/>
        </p:nvSpPr>
        <p:spPr>
          <a:xfrm>
            <a:off x="6653631" y="3669791"/>
            <a:ext cx="4422495" cy="774191"/>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the content of the nodes may be too large or two sparse, so the content can be summarised or generated (or pulled in from a cache)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ORGANISER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Verbalising</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29</a:t>
            </a:r>
          </a:p>
        </p:txBody>
      </p:sp>
      <p:sp>
        <p:nvSpPr>
          <p:cNvPr id="7" name="TextBox 6"/>
          <p:cNvSpPr txBox="1"/>
          <p:nvPr/>
        </p:nvSpPr>
        <p:spPr>
          <a:xfrm>
            <a:off x="749808" y="1700784"/>
            <a:ext cx="10692079" cy="774191"/>
          </a:xfrm>
          <a:prstGeom prst="rect">
            <a:avLst/>
          </a:prstGeom>
          <a:noFill/>
        </p:spPr>
        <p:txBody>
          <a:bodyPr wrap="square" lIns="0" tIns="0" rIns="0" bIns="0" anchor="t">
            <a:spAutoFit/>
          </a:bodyPr>
          <a:lstStyle/>
          <a:p>
            <a:pPr algn="l">
              <a:lnSpc>
                <a:spcPct val="132000"/>
              </a:lnSpc>
              <a:spcBef>
                <a:spcPts val="0"/>
              </a:spcBef>
              <a:spcAft>
                <a:spcPts val="0"/>
              </a:spcAft>
            </a:pPr>
            <a:r>
              <a:rPr sz="1400" b="0" i="0">
                <a:solidFill>
                  <a:srgbClr val="6E757D"/>
                </a:solidFill>
                <a:latin typeface="Calibri"/>
              </a:rPr>
              <a:t>Verbalising is the act of turning the retrieved and organised result into something that an LLM can understand. We previously use the LLM to translate the Cypher response into text as part of the generator prompt (this was purely a prompt driven action as part of the generation). The paper discusses a number of mechanisms:</a:t>
            </a:r>
          </a:p>
        </p:txBody>
      </p:sp>
      <p:sp>
        <p:nvSpPr>
          <p:cNvPr id="8" name="Rounded Rectangle 7"/>
          <p:cNvSpPr/>
          <p:nvPr/>
        </p:nvSpPr>
        <p:spPr>
          <a:xfrm>
            <a:off x="749808" y="2749295"/>
            <a:ext cx="5154015" cy="3450336"/>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9" name="Rectangle 8"/>
          <p:cNvSpPr/>
          <p:nvPr/>
        </p:nvSpPr>
        <p:spPr>
          <a:xfrm>
            <a:off x="749808" y="2749295"/>
            <a:ext cx="5154015" cy="68580"/>
          </a:xfrm>
          <a:prstGeom prst="rect">
            <a:avLst/>
          </a:prstGeom>
          <a:solidFill>
            <a:srgbClr val="3E5C76"/>
          </a:solidFill>
          <a:ln>
            <a:noFill/>
          </a:ln>
          <a:effectLst/>
        </p:spPr>
        <p:txBody>
          <a:bodyPr rtlCol="0" anchor="ctr"/>
          <a:lstStyle/>
          <a:p>
            <a:pPr algn="ctr"/>
            <a:endParaRPr/>
          </a:p>
        </p:txBody>
      </p:sp>
      <p:sp>
        <p:nvSpPr>
          <p:cNvPr id="10" name="TextBox 9"/>
          <p:cNvSpPr txBox="1"/>
          <p:nvPr/>
        </p:nvSpPr>
        <p:spPr>
          <a:xfrm>
            <a:off x="1115568" y="3133343"/>
            <a:ext cx="4422495" cy="457200"/>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3E5C76"/>
                </a:solidFill>
                <a:latin typeface="Georgia"/>
              </a:rPr>
              <a:t>Linear verbalisation</a:t>
            </a:r>
          </a:p>
        </p:txBody>
      </p:sp>
      <p:sp>
        <p:nvSpPr>
          <p:cNvPr id="11" name="TextBox 10"/>
          <p:cNvSpPr txBox="1"/>
          <p:nvPr/>
        </p:nvSpPr>
        <p:spPr>
          <a:xfrm>
            <a:off x="1115568" y="3681983"/>
            <a:ext cx="4422495" cy="1456944"/>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These include </a:t>
            </a:r>
            <a:r>
              <a:rPr sz="1400" b="1" i="0">
                <a:solidFill>
                  <a:srgbClr val="333B43"/>
                </a:solidFill>
                <a:latin typeface="Calibri"/>
              </a:rPr>
              <a:t>Tuple-based</a:t>
            </a:r>
            <a:r>
              <a:rPr sz="1400" b="0" i="0">
                <a:solidFill>
                  <a:srgbClr val="333B43"/>
                </a:solidFill>
                <a:latin typeface="Calibri"/>
              </a:rPr>
              <a:t>, returning facts as (entity 1, relation 1, entity 2) tuples separated by line-breaks. </a:t>
            </a:r>
            <a:r>
              <a:rPr sz="1400" b="1" i="0">
                <a:solidFill>
                  <a:srgbClr val="333B43"/>
                </a:solidFill>
                <a:latin typeface="Calibri"/>
              </a:rPr>
              <a:t>Template-based</a:t>
            </a:r>
            <a:r>
              <a:rPr sz="1400" b="0" i="0">
                <a:solidFill>
                  <a:srgbClr val="333B43"/>
                </a:solidFill>
                <a:latin typeface="Calibri"/>
              </a:rPr>
              <a:t> verbalisations, use predefined templates to generate more natural sounding text, for example “The {relation} of {entity 1} is/are: {entity 2}”</a:t>
            </a:r>
          </a:p>
        </p:txBody>
      </p:sp>
      <p:sp>
        <p:nvSpPr>
          <p:cNvPr id="12" name="Rounded Rectangle 11"/>
          <p:cNvSpPr/>
          <p:nvPr/>
        </p:nvSpPr>
        <p:spPr>
          <a:xfrm>
            <a:off x="6287871" y="2749295"/>
            <a:ext cx="5154015" cy="3450336"/>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3" name="Rectangle 12"/>
          <p:cNvSpPr/>
          <p:nvPr/>
        </p:nvSpPr>
        <p:spPr>
          <a:xfrm>
            <a:off x="6287871" y="2749295"/>
            <a:ext cx="5154015" cy="68580"/>
          </a:xfrm>
          <a:prstGeom prst="rect">
            <a:avLst/>
          </a:prstGeom>
          <a:solidFill>
            <a:srgbClr val="B0703A"/>
          </a:solidFill>
          <a:ln>
            <a:noFill/>
          </a:ln>
          <a:effectLst/>
        </p:spPr>
        <p:txBody>
          <a:bodyPr rtlCol="0" anchor="ctr"/>
          <a:lstStyle/>
          <a:p>
            <a:pPr algn="ctr"/>
            <a:endParaRPr/>
          </a:p>
        </p:txBody>
      </p:sp>
      <p:sp>
        <p:nvSpPr>
          <p:cNvPr id="14" name="TextBox 13"/>
          <p:cNvSpPr txBox="1"/>
          <p:nvPr/>
        </p:nvSpPr>
        <p:spPr>
          <a:xfrm>
            <a:off x="6653631" y="3133343"/>
            <a:ext cx="4422495" cy="457200"/>
          </a:xfrm>
          <a:prstGeom prst="rect">
            <a:avLst/>
          </a:prstGeom>
          <a:noFill/>
        </p:spPr>
        <p:txBody>
          <a:bodyPr wrap="square" lIns="0" tIns="0" rIns="0" bIns="0" anchor="t">
            <a:spAutoFit/>
          </a:bodyPr>
          <a:lstStyle/>
          <a:p>
            <a:pPr algn="l">
              <a:lnSpc>
                <a:spcPct val="112000"/>
              </a:lnSpc>
              <a:spcBef>
                <a:spcPts val="0"/>
              </a:spcBef>
              <a:spcAft>
                <a:spcPts val="0"/>
              </a:spcAft>
            </a:pPr>
            <a:r>
              <a:rPr sz="2000" b="1" i="0">
                <a:solidFill>
                  <a:srgbClr val="B0703A"/>
                </a:solidFill>
                <a:latin typeface="Georgia"/>
              </a:rPr>
              <a:t>Model-based verbalisation</a:t>
            </a:r>
          </a:p>
        </p:txBody>
      </p:sp>
      <p:sp>
        <p:nvSpPr>
          <p:cNvPr id="15" name="TextBox 14"/>
          <p:cNvSpPr txBox="1"/>
          <p:nvPr/>
        </p:nvSpPr>
        <p:spPr>
          <a:xfrm>
            <a:off x="6653631" y="3681983"/>
            <a:ext cx="4422495" cy="1684528"/>
          </a:xfrm>
          <a:prstGeom prst="rect">
            <a:avLst/>
          </a:prstGeom>
          <a:noFill/>
        </p:spPr>
        <p:txBody>
          <a:bodyPr wrap="square" lIns="0" tIns="0" rIns="0" bIns="0" anchor="t">
            <a:spAutoFit/>
          </a:bodyPr>
          <a:lstStyle/>
          <a:p>
            <a:pPr algn="l">
              <a:lnSpc>
                <a:spcPct val="136000"/>
              </a:lnSpc>
              <a:spcBef>
                <a:spcPts val="0"/>
              </a:spcBef>
              <a:spcAft>
                <a:spcPts val="0"/>
              </a:spcAft>
            </a:pPr>
            <a:r>
              <a:rPr sz="1400" b="0" i="0">
                <a:solidFill>
                  <a:srgbClr val="333B43"/>
                </a:solidFill>
                <a:latin typeface="Calibri"/>
              </a:rPr>
              <a:t>These include </a:t>
            </a:r>
            <a:r>
              <a:rPr sz="1400" b="1" i="0">
                <a:solidFill>
                  <a:srgbClr val="333B43"/>
                </a:solidFill>
                <a:latin typeface="Calibri"/>
              </a:rPr>
              <a:t>Graph-to-text verbalisation</a:t>
            </a:r>
            <a:r>
              <a:rPr sz="1400" b="0" i="0">
                <a:solidFill>
                  <a:srgbClr val="333B43"/>
                </a:solidFill>
                <a:latin typeface="Calibri"/>
              </a:rPr>
              <a:t>, use graph transformers to generate text from KG, or use fine-tuned LLMs to transform graphs into sentences. </a:t>
            </a:r>
            <a:r>
              <a:rPr sz="1400" b="1" i="0">
                <a:solidFill>
                  <a:srgbClr val="333B43"/>
                </a:solidFill>
                <a:latin typeface="Calibri"/>
              </a:rPr>
              <a:t>Graph Summarisation</a:t>
            </a:r>
            <a:r>
              <a:rPr sz="1400" b="0" i="0">
                <a:solidFill>
                  <a:srgbClr val="333B43"/>
                </a:solidFill>
                <a:latin typeface="Calibri"/>
              </a:rPr>
              <a:t> generates concise summaries based on the retrieved graph and query - directly prompting LLM to summarise facts and query, or fine-tuning an LLM for summarisation.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07</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Generator</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GENERATOR</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Generator</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30</a:t>
            </a:r>
          </a:p>
        </p:txBody>
      </p:sp>
      <p:sp>
        <p:nvSpPr>
          <p:cNvPr id="7" name="TextBox 6"/>
          <p:cNvSpPr txBox="1"/>
          <p:nvPr/>
        </p:nvSpPr>
        <p:spPr>
          <a:xfrm>
            <a:off x="749808" y="1755648"/>
            <a:ext cx="10692079" cy="110337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There are many types of generator depending on the actual task, considering we are looking specifically on Question-Answer style RAG, we are likely using a straight GPT or Bedrock model with chat completions to give a response from the context generated from previous layers of the RAG retrieval process. That is the generator for GraphRAG doesn't differ from a RAG generator.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08</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Changes since 2025</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CHANGES SINCE 2025</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Changes since 2025</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31</a:t>
            </a:r>
          </a:p>
        </p:txBody>
      </p:sp>
      <p:graphicFrame>
        <p:nvGraphicFramePr>
          <p:cNvPr id="7" name="Table 6"/>
          <p:cNvGraphicFramePr>
            <a:graphicFrameLocks noGrp="1"/>
          </p:cNvGraphicFramePr>
          <p:nvPr/>
        </p:nvGraphicFramePr>
        <p:xfrm>
          <a:off x="749808" y="1755648"/>
          <a:ext cx="10692078" cy="4351902"/>
        </p:xfrm>
        <a:graphic>
          <a:graphicData uri="http://schemas.openxmlformats.org/drawingml/2006/table">
            <a:tbl>
              <a:tblPr firstRow="1" bandRow="1">
                <a:tableStyleId>{5C22544A-7EE6-4342-B048-85BDC9FD1C3A}</a:tableStyleId>
              </a:tblPr>
              <a:tblGrid>
                <a:gridCol w="1618721">
                  <a:extLst>
                    <a:ext uri="{9D8B030D-6E8A-4147-A177-3AD203B41FA5}">
                      <a16:colId xmlns:a16="http://schemas.microsoft.com/office/drawing/2014/main" val="20000"/>
                    </a:ext>
                  </a:extLst>
                </a:gridCol>
                <a:gridCol w="3226792">
                  <a:extLst>
                    <a:ext uri="{9D8B030D-6E8A-4147-A177-3AD203B41FA5}">
                      <a16:colId xmlns:a16="http://schemas.microsoft.com/office/drawing/2014/main" val="20001"/>
                    </a:ext>
                  </a:extLst>
                </a:gridCol>
                <a:gridCol w="5846565">
                  <a:extLst>
                    <a:ext uri="{9D8B030D-6E8A-4147-A177-3AD203B41FA5}">
                      <a16:colId xmlns:a16="http://schemas.microsoft.com/office/drawing/2014/main" val="20002"/>
                    </a:ext>
                  </a:extLst>
                </a:gridCol>
              </a:tblGrid>
              <a:tr h="420624">
                <a:tc>
                  <a:txBody>
                    <a:bodyPr/>
                    <a:lstStyle/>
                    <a:p>
                      <a:pPr algn="l">
                        <a:lnSpc>
                          <a:spcPct val="128000"/>
                        </a:lnSpc>
                        <a:spcBef>
                          <a:spcPts val="0"/>
                        </a:spcBef>
                        <a:spcAft>
                          <a:spcPts val="0"/>
                        </a:spcAft>
                      </a:pPr>
                      <a:r>
                        <a:rPr sz="1100" b="1" i="0">
                          <a:solidFill>
                            <a:srgbClr val="FFFFFF"/>
                          </a:solidFill>
                          <a:latin typeface="Calibri"/>
                        </a:rPr>
                        <a:t>Area</a:t>
                      </a:r>
                    </a:p>
                  </a:txBody>
                  <a:tcPr marL="128016" marR="128016" anchor="ctr">
                    <a:solidFill>
                      <a:srgbClr val="22374A"/>
                    </a:solidFill>
                  </a:tcPr>
                </a:tc>
                <a:tc>
                  <a:txBody>
                    <a:bodyPr/>
                    <a:lstStyle/>
                    <a:p>
                      <a:pPr algn="ctr">
                        <a:lnSpc>
                          <a:spcPct val="128000"/>
                        </a:lnSpc>
                        <a:spcBef>
                          <a:spcPts val="0"/>
                        </a:spcBef>
                        <a:spcAft>
                          <a:spcPts val="0"/>
                        </a:spcAft>
                      </a:pPr>
                      <a:r>
                        <a:rPr sz="1100" b="1" i="0">
                          <a:solidFill>
                            <a:srgbClr val="FFFFFF"/>
                          </a:solidFill>
                          <a:latin typeface="Calibri"/>
                        </a:rPr>
                        <a:t>Han et al. baseline</a:t>
                      </a:r>
                    </a:p>
                  </a:txBody>
                  <a:tcPr marL="128016" marR="128016" anchor="ctr">
                    <a:solidFill>
                      <a:srgbClr val="22374A"/>
                    </a:solidFill>
                  </a:tcPr>
                </a:tc>
                <a:tc>
                  <a:txBody>
                    <a:bodyPr/>
                    <a:lstStyle/>
                    <a:p>
                      <a:pPr algn="ctr">
                        <a:lnSpc>
                          <a:spcPct val="128000"/>
                        </a:lnSpc>
                        <a:spcBef>
                          <a:spcPts val="0"/>
                        </a:spcBef>
                        <a:spcAft>
                          <a:spcPts val="0"/>
                        </a:spcAft>
                      </a:pPr>
                      <a:r>
                        <a:rPr sz="1100" b="1" i="0">
                          <a:solidFill>
                            <a:srgbClr val="FFFFFF"/>
                          </a:solidFill>
                          <a:latin typeface="Calibri"/>
                        </a:rPr>
                        <a:t>Where the field is moving</a:t>
                      </a:r>
                    </a:p>
                  </a:txBody>
                  <a:tcPr marL="128016" marR="128016" anchor="ctr">
                    <a:solidFill>
                      <a:srgbClr val="22374A"/>
                    </a:solidFill>
                  </a:tcPr>
                </a:tc>
                <a:extLst>
                  <a:ext uri="{0D108BD9-81ED-4DB2-BD59-A6C34878D82A}">
                    <a16:rowId xmlns:a16="http://schemas.microsoft.com/office/drawing/2014/main" val="10000"/>
                  </a:ext>
                </a:extLst>
              </a:tr>
              <a:tr h="526034">
                <a:tc>
                  <a:txBody>
                    <a:bodyPr/>
                    <a:lstStyle/>
                    <a:p>
                      <a:pPr algn="l">
                        <a:lnSpc>
                          <a:spcPct val="128000"/>
                        </a:lnSpc>
                        <a:spcBef>
                          <a:spcPts val="0"/>
                        </a:spcBef>
                        <a:spcAft>
                          <a:spcPts val="0"/>
                        </a:spcAft>
                      </a:pPr>
                      <a:r>
                        <a:rPr sz="1150" b="1" i="0">
                          <a:solidFill>
                            <a:srgbClr val="333B43"/>
                          </a:solidFill>
                          <a:latin typeface="Calibri"/>
                        </a:rPr>
                        <a:t>Graph construction</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0" i="0">
                          <a:solidFill>
                            <a:srgbClr val="333B43"/>
                          </a:solidFill>
                          <a:latin typeface="Calibri"/>
                        </a:rPr>
                        <a:t>KG/document/semantic graphs</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0" i="0">
                          <a:solidFill>
                            <a:srgbClr val="333B43"/>
                          </a:solidFill>
                          <a:latin typeface="Calibri"/>
                        </a:rPr>
                        <a:t>Richer heterogeneous and text-attributed graphs</a:t>
                      </a:r>
                    </a:p>
                  </a:txBody>
                  <a:tcPr marL="128016" marR="128016" marT="27432" marB="27432" anchor="ctr">
                    <a:solidFill>
                      <a:srgbClr val="FFFFFF"/>
                    </a:solidFill>
                  </a:tcPr>
                </a:tc>
                <a:extLst>
                  <a:ext uri="{0D108BD9-81ED-4DB2-BD59-A6C34878D82A}">
                    <a16:rowId xmlns:a16="http://schemas.microsoft.com/office/drawing/2014/main" val="10001"/>
                  </a:ext>
                </a:extLst>
              </a:tr>
              <a:tr h="526034">
                <a:tc>
                  <a:txBody>
                    <a:bodyPr/>
                    <a:lstStyle/>
                    <a:p>
                      <a:pPr algn="l">
                        <a:lnSpc>
                          <a:spcPct val="128000"/>
                        </a:lnSpc>
                        <a:spcBef>
                          <a:spcPts val="0"/>
                        </a:spcBef>
                        <a:spcAft>
                          <a:spcPts val="0"/>
                        </a:spcAft>
                      </a:pPr>
                      <a:r>
                        <a:rPr sz="1150" b="1" i="0">
                          <a:solidFill>
                            <a:srgbClr val="333B43"/>
                          </a:solidFill>
                          <a:latin typeface="Calibri"/>
                        </a:rPr>
                        <a:t>Retrieval</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Traversal, semantic retrieval, KG querying</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1" i="0">
                          <a:solidFill>
                            <a:srgbClr val="333B43"/>
                          </a:solidFill>
                          <a:latin typeface="Calibri"/>
                        </a:rPr>
                        <a:t>Learned graph retrieval, GNN retrieval, hybrid retrieval</a:t>
                      </a:r>
                    </a:p>
                  </a:txBody>
                  <a:tcPr marL="128016" marR="128016" marT="27432" marB="27432" anchor="ctr">
                    <a:solidFill>
                      <a:srgbClr val="F3F6F8"/>
                    </a:solidFill>
                  </a:tcPr>
                </a:tc>
                <a:extLst>
                  <a:ext uri="{0D108BD9-81ED-4DB2-BD59-A6C34878D82A}">
                    <a16:rowId xmlns:a16="http://schemas.microsoft.com/office/drawing/2014/main" val="10002"/>
                  </a:ext>
                </a:extLst>
              </a:tr>
              <a:tr h="336168">
                <a:tc>
                  <a:txBody>
                    <a:bodyPr/>
                    <a:lstStyle/>
                    <a:p>
                      <a:pPr algn="l">
                        <a:lnSpc>
                          <a:spcPct val="128000"/>
                        </a:lnSpc>
                        <a:spcBef>
                          <a:spcPts val="0"/>
                        </a:spcBef>
                        <a:spcAft>
                          <a:spcPts val="0"/>
                        </a:spcAft>
                      </a:pPr>
                      <a:r>
                        <a:rPr sz="1150" b="1" i="0">
                          <a:solidFill>
                            <a:srgbClr val="333B43"/>
                          </a:solidFill>
                          <a:latin typeface="Calibri"/>
                        </a:rPr>
                        <a:t>Retrieval unit</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0" i="0">
                          <a:solidFill>
                            <a:srgbClr val="333B43"/>
                          </a:solidFill>
                          <a:latin typeface="Calibri"/>
                        </a:rPr>
                        <a:t>Nodes/triples/paths</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1" i="0">
                          <a:solidFill>
                            <a:srgbClr val="333B43"/>
                          </a:solidFill>
                          <a:latin typeface="Calibri"/>
                        </a:rPr>
                        <a:t>Query-conditioned subgraphs</a:t>
                      </a:r>
                      <a:r>
                        <a:rPr sz="1150" b="0" i="0">
                          <a:solidFill>
                            <a:srgbClr val="333B43"/>
                          </a:solidFill>
                          <a:latin typeface="Calibri"/>
                        </a:rPr>
                        <a:t> increasingly important</a:t>
                      </a:r>
                    </a:p>
                  </a:txBody>
                  <a:tcPr marL="128016" marR="128016" marT="27432" marB="27432" anchor="ctr">
                    <a:solidFill>
                      <a:srgbClr val="FFFFFF"/>
                    </a:solidFill>
                  </a:tcPr>
                </a:tc>
                <a:extLst>
                  <a:ext uri="{0D108BD9-81ED-4DB2-BD59-A6C34878D82A}">
                    <a16:rowId xmlns:a16="http://schemas.microsoft.com/office/drawing/2014/main" val="10003"/>
                  </a:ext>
                </a:extLst>
              </a:tr>
              <a:tr h="526034">
                <a:tc>
                  <a:txBody>
                    <a:bodyPr/>
                    <a:lstStyle/>
                    <a:p>
                      <a:pPr algn="l">
                        <a:lnSpc>
                          <a:spcPct val="128000"/>
                        </a:lnSpc>
                        <a:spcBef>
                          <a:spcPts val="0"/>
                        </a:spcBef>
                        <a:spcAft>
                          <a:spcPts val="0"/>
                        </a:spcAft>
                      </a:pPr>
                      <a:r>
                        <a:rPr sz="1150" b="1" i="0">
                          <a:solidFill>
                            <a:srgbClr val="333B43"/>
                          </a:solidFill>
                          <a:latin typeface="Calibri"/>
                        </a:rPr>
                        <a:t>RAG vs GraphRAG</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GraphRAG generally motivated as an improvement</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1" i="0">
                          <a:solidFill>
                            <a:srgbClr val="333B43"/>
                          </a:solidFill>
                          <a:latin typeface="Calibri"/>
                        </a:rPr>
                        <a:t>GraphRAG is not universally better than vector RAG</a:t>
                      </a:r>
                    </a:p>
                  </a:txBody>
                  <a:tcPr marL="128016" marR="128016" marT="27432" marB="27432" anchor="ctr">
                    <a:solidFill>
                      <a:srgbClr val="F3F6F8"/>
                    </a:solidFill>
                  </a:tcPr>
                </a:tc>
                <a:extLst>
                  <a:ext uri="{0D108BD9-81ED-4DB2-BD59-A6C34878D82A}">
                    <a16:rowId xmlns:a16="http://schemas.microsoft.com/office/drawing/2014/main" val="10004"/>
                  </a:ext>
                </a:extLst>
              </a:tr>
              <a:tr h="336168">
                <a:tc>
                  <a:txBody>
                    <a:bodyPr/>
                    <a:lstStyle/>
                    <a:p>
                      <a:pPr algn="l">
                        <a:lnSpc>
                          <a:spcPct val="128000"/>
                        </a:lnSpc>
                        <a:spcBef>
                          <a:spcPts val="0"/>
                        </a:spcBef>
                        <a:spcAft>
                          <a:spcPts val="0"/>
                        </a:spcAft>
                      </a:pPr>
                      <a:r>
                        <a:rPr sz="1150" b="1" i="0">
                          <a:solidFill>
                            <a:srgbClr val="333B43"/>
                          </a:solidFill>
                          <a:latin typeface="Calibri"/>
                        </a:rPr>
                        <a:t>Architecture</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0" i="0">
                          <a:solidFill>
                            <a:srgbClr val="333B43"/>
                          </a:solidFill>
                          <a:latin typeface="Calibri"/>
                        </a:rPr>
                        <a:t>Fairly fixed GraphRAG pipeline</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1" i="0">
                          <a:solidFill>
                            <a:srgbClr val="333B43"/>
                          </a:solidFill>
                          <a:latin typeface="Calibri"/>
                        </a:rPr>
                        <a:t>Adaptive routing: vector RAG ↔ GraphRAG</a:t>
                      </a:r>
                    </a:p>
                  </a:txBody>
                  <a:tcPr marL="128016" marR="128016" marT="27432" marB="27432" anchor="ctr">
                    <a:solidFill>
                      <a:srgbClr val="FFFFFF"/>
                    </a:solidFill>
                  </a:tcPr>
                </a:tc>
                <a:extLst>
                  <a:ext uri="{0D108BD9-81ED-4DB2-BD59-A6C34878D82A}">
                    <a16:rowId xmlns:a16="http://schemas.microsoft.com/office/drawing/2014/main" val="10005"/>
                  </a:ext>
                </a:extLst>
              </a:tr>
              <a:tr h="336168">
                <a:tc>
                  <a:txBody>
                    <a:bodyPr/>
                    <a:lstStyle/>
                    <a:p>
                      <a:pPr algn="l">
                        <a:lnSpc>
                          <a:spcPct val="128000"/>
                        </a:lnSpc>
                        <a:spcBef>
                          <a:spcPts val="0"/>
                        </a:spcBef>
                        <a:spcAft>
                          <a:spcPts val="0"/>
                        </a:spcAft>
                      </a:pPr>
                      <a:r>
                        <a:rPr sz="1150" b="1" i="0">
                          <a:solidFill>
                            <a:srgbClr val="333B43"/>
                          </a:solidFill>
                          <a:latin typeface="Calibri"/>
                        </a:rPr>
                        <a:t>Reasoning</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LLM reasons over retrieved graph</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Graph retriever itself increasingly participates in reasoning</a:t>
                      </a:r>
                    </a:p>
                  </a:txBody>
                  <a:tcPr marL="128016" marR="128016" marT="27432" marB="27432" anchor="ctr">
                    <a:solidFill>
                      <a:srgbClr val="F3F6F8"/>
                    </a:solidFill>
                  </a:tcPr>
                </a:tc>
                <a:extLst>
                  <a:ext uri="{0D108BD9-81ED-4DB2-BD59-A6C34878D82A}">
                    <a16:rowId xmlns:a16="http://schemas.microsoft.com/office/drawing/2014/main" val="10006"/>
                  </a:ext>
                </a:extLst>
              </a:tr>
              <a:tr h="336168">
                <a:tc>
                  <a:txBody>
                    <a:bodyPr/>
                    <a:lstStyle/>
                    <a:p>
                      <a:pPr algn="l">
                        <a:lnSpc>
                          <a:spcPct val="128000"/>
                        </a:lnSpc>
                        <a:spcBef>
                          <a:spcPts val="0"/>
                        </a:spcBef>
                        <a:spcAft>
                          <a:spcPts val="0"/>
                        </a:spcAft>
                      </a:pPr>
                      <a:r>
                        <a:rPr sz="1150" b="1" i="0">
                          <a:solidFill>
                            <a:srgbClr val="333B43"/>
                          </a:solidFill>
                          <a:latin typeface="Calibri"/>
                        </a:rPr>
                        <a:t>Agents</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0" i="0">
                          <a:solidFill>
                            <a:srgbClr val="333B43"/>
                          </a:solidFill>
                          <a:latin typeface="Calibri"/>
                        </a:rPr>
                        <a:t>Relatively peripheral</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1" i="0">
                          <a:solidFill>
                            <a:srgbClr val="333B43"/>
                          </a:solidFill>
                          <a:latin typeface="Calibri"/>
                        </a:rPr>
                        <a:t>Agentic GraphRAG</a:t>
                      </a:r>
                      <a:r>
                        <a:rPr sz="1150" b="0" i="0">
                          <a:solidFill>
                            <a:srgbClr val="333B43"/>
                          </a:solidFill>
                          <a:latin typeface="Calibri"/>
                        </a:rPr>
                        <a:t> becoming a distinct architecture</a:t>
                      </a:r>
                    </a:p>
                  </a:txBody>
                  <a:tcPr marL="128016" marR="128016" marT="27432" marB="27432" anchor="ctr">
                    <a:solidFill>
                      <a:srgbClr val="FFFFFF"/>
                    </a:solidFill>
                  </a:tcPr>
                </a:tc>
                <a:extLst>
                  <a:ext uri="{0D108BD9-81ED-4DB2-BD59-A6C34878D82A}">
                    <a16:rowId xmlns:a16="http://schemas.microsoft.com/office/drawing/2014/main" val="10007"/>
                  </a:ext>
                </a:extLst>
              </a:tr>
              <a:tr h="336168">
                <a:tc>
                  <a:txBody>
                    <a:bodyPr/>
                    <a:lstStyle/>
                    <a:p>
                      <a:pPr algn="l">
                        <a:lnSpc>
                          <a:spcPct val="128000"/>
                        </a:lnSpc>
                        <a:spcBef>
                          <a:spcPts val="0"/>
                        </a:spcBef>
                        <a:spcAft>
                          <a:spcPts val="0"/>
                        </a:spcAft>
                      </a:pPr>
                      <a:r>
                        <a:rPr sz="1150" b="1" i="0">
                          <a:solidFill>
                            <a:srgbClr val="333B43"/>
                          </a:solidFill>
                          <a:latin typeface="Calibri"/>
                        </a:rPr>
                        <a:t>Evaluation</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QA benchmark performance</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Latency, cost, retrieval quality, generation quality, production usefulness</a:t>
                      </a:r>
                    </a:p>
                  </a:txBody>
                  <a:tcPr marL="128016" marR="128016" marT="27432" marB="27432" anchor="ctr">
                    <a:solidFill>
                      <a:srgbClr val="F3F6F8"/>
                    </a:solidFill>
                  </a:tcPr>
                </a:tc>
                <a:extLst>
                  <a:ext uri="{0D108BD9-81ED-4DB2-BD59-A6C34878D82A}">
                    <a16:rowId xmlns:a16="http://schemas.microsoft.com/office/drawing/2014/main" val="10008"/>
                  </a:ext>
                </a:extLst>
              </a:tr>
              <a:tr h="336168">
                <a:tc>
                  <a:txBody>
                    <a:bodyPr/>
                    <a:lstStyle/>
                    <a:p>
                      <a:pPr algn="l">
                        <a:lnSpc>
                          <a:spcPct val="128000"/>
                        </a:lnSpc>
                        <a:spcBef>
                          <a:spcPts val="0"/>
                        </a:spcBef>
                        <a:spcAft>
                          <a:spcPts val="0"/>
                        </a:spcAft>
                      </a:pPr>
                      <a:r>
                        <a:rPr sz="1150" b="1" i="0">
                          <a:solidFill>
                            <a:srgbClr val="333B43"/>
                          </a:solidFill>
                          <a:latin typeface="Calibri"/>
                        </a:rPr>
                        <a:t>Context</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0" i="0">
                          <a:solidFill>
                            <a:srgbClr val="333B43"/>
                          </a:solidFill>
                          <a:latin typeface="Calibri"/>
                        </a:rPr>
                        <a:t>Retrieve useful graph information</a:t>
                      </a:r>
                    </a:p>
                  </a:txBody>
                  <a:tcPr marL="128016" marR="128016" marT="27432" marB="27432" anchor="ctr">
                    <a:solidFill>
                      <a:srgbClr val="FFFFFF"/>
                    </a:solidFill>
                  </a:tcPr>
                </a:tc>
                <a:tc>
                  <a:txBody>
                    <a:bodyPr/>
                    <a:lstStyle/>
                    <a:p>
                      <a:pPr algn="ctr">
                        <a:lnSpc>
                          <a:spcPct val="128000"/>
                        </a:lnSpc>
                        <a:spcBef>
                          <a:spcPts val="0"/>
                        </a:spcBef>
                        <a:spcAft>
                          <a:spcPts val="0"/>
                        </a:spcAft>
                      </a:pPr>
                      <a:r>
                        <a:rPr sz="1150" b="1" i="0">
                          <a:solidFill>
                            <a:srgbClr val="333B43"/>
                          </a:solidFill>
                          <a:latin typeface="Calibri"/>
                        </a:rPr>
                        <a:t>Context engineering / pruning becomes central</a:t>
                      </a:r>
                    </a:p>
                  </a:txBody>
                  <a:tcPr marL="128016" marR="128016" marT="27432" marB="27432" anchor="ctr">
                    <a:solidFill>
                      <a:srgbClr val="FFFFFF"/>
                    </a:solidFill>
                  </a:tcPr>
                </a:tc>
                <a:extLst>
                  <a:ext uri="{0D108BD9-81ED-4DB2-BD59-A6C34878D82A}">
                    <a16:rowId xmlns:a16="http://schemas.microsoft.com/office/drawing/2014/main" val="10009"/>
                  </a:ext>
                </a:extLst>
              </a:tr>
              <a:tr h="336168">
                <a:tc>
                  <a:txBody>
                    <a:bodyPr/>
                    <a:lstStyle/>
                    <a:p>
                      <a:pPr algn="l">
                        <a:lnSpc>
                          <a:spcPct val="128000"/>
                        </a:lnSpc>
                        <a:spcBef>
                          <a:spcPts val="0"/>
                        </a:spcBef>
                        <a:spcAft>
                          <a:spcPts val="0"/>
                        </a:spcAft>
                      </a:pPr>
                      <a:r>
                        <a:rPr sz="1150" b="1" i="0">
                          <a:solidFill>
                            <a:srgbClr val="333B43"/>
                          </a:solidFill>
                          <a:latin typeface="Calibri"/>
                        </a:rPr>
                        <a:t>Applications</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Mostly research/early systems</a:t>
                      </a:r>
                    </a:p>
                  </a:txBody>
                  <a:tcPr marL="128016" marR="128016" marT="27432" marB="27432" anchor="ctr">
                    <a:solidFill>
                      <a:srgbClr val="F3F6F8"/>
                    </a:solidFill>
                  </a:tcPr>
                </a:tc>
                <a:tc>
                  <a:txBody>
                    <a:bodyPr/>
                    <a:lstStyle/>
                    <a:p>
                      <a:pPr algn="ctr">
                        <a:lnSpc>
                          <a:spcPct val="128000"/>
                        </a:lnSpc>
                        <a:spcBef>
                          <a:spcPts val="0"/>
                        </a:spcBef>
                        <a:spcAft>
                          <a:spcPts val="0"/>
                        </a:spcAft>
                      </a:pPr>
                      <a:r>
                        <a:rPr sz="1150" b="0" i="0">
                          <a:solidFill>
                            <a:srgbClr val="333B43"/>
                          </a:solidFill>
                          <a:latin typeface="Calibri"/>
                        </a:rPr>
                        <a:t>Increasingly domain-specific production architectures</a:t>
                      </a:r>
                    </a:p>
                  </a:txBody>
                  <a:tcPr marL="128016" marR="128016" marT="27432" marB="27432" anchor="ctr">
                    <a:solidFill>
                      <a:srgbClr val="F3F6F8"/>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09</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Where does GraphRAG outperform naïve RAG?</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WHERE DOES GRAPHRAG OUTPERFORM NAÏVE RAG?</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Where does GraphRAG outperform naïve RAG?</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32</a:t>
            </a:r>
          </a:p>
        </p:txBody>
      </p:sp>
      <p:sp>
        <p:nvSpPr>
          <p:cNvPr id="7" name="Rounded Rectangle 6"/>
          <p:cNvSpPr/>
          <p:nvPr/>
        </p:nvSpPr>
        <p:spPr>
          <a:xfrm>
            <a:off x="749808" y="1755648"/>
            <a:ext cx="3368954" cy="306324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8" name="Rectangle 7"/>
          <p:cNvSpPr/>
          <p:nvPr/>
        </p:nvSpPr>
        <p:spPr>
          <a:xfrm>
            <a:off x="749808" y="1755648"/>
            <a:ext cx="68580" cy="3063240"/>
          </a:xfrm>
          <a:prstGeom prst="rect">
            <a:avLst/>
          </a:prstGeom>
          <a:solidFill>
            <a:srgbClr val="3E5C76"/>
          </a:solidFill>
          <a:ln>
            <a:noFill/>
          </a:ln>
          <a:effectLst/>
        </p:spPr>
        <p:txBody>
          <a:bodyPr rtlCol="0" anchor="ctr"/>
          <a:lstStyle/>
          <a:p>
            <a:pPr algn="ctr"/>
            <a:endParaRPr/>
          </a:p>
        </p:txBody>
      </p:sp>
      <p:sp>
        <p:nvSpPr>
          <p:cNvPr id="9" name="TextBox 8"/>
          <p:cNvSpPr txBox="1"/>
          <p:nvPr/>
        </p:nvSpPr>
        <p:spPr>
          <a:xfrm>
            <a:off x="1060704" y="2011680"/>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Corpus level summarisation</a:t>
            </a:r>
          </a:p>
        </p:txBody>
      </p:sp>
      <p:sp>
        <p:nvSpPr>
          <p:cNvPr id="10" name="TextBox 9"/>
          <p:cNvSpPr txBox="1"/>
          <p:nvPr/>
        </p:nvSpPr>
        <p:spPr>
          <a:xfrm>
            <a:off x="1060704" y="2670048"/>
            <a:ext cx="2802026" cy="1929383"/>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If a dataset is large, the answer often doesn't exist in a single chunk, so naïve RAG is unable to find the answer.</a:t>
            </a:r>
          </a:p>
        </p:txBody>
      </p:sp>
      <p:sp>
        <p:nvSpPr>
          <p:cNvPr id="11" name="Rounded Rectangle 10"/>
          <p:cNvSpPr/>
          <p:nvPr/>
        </p:nvSpPr>
        <p:spPr>
          <a:xfrm>
            <a:off x="4411370" y="1755648"/>
            <a:ext cx="3368954" cy="306324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2" name="Rectangle 11"/>
          <p:cNvSpPr/>
          <p:nvPr/>
        </p:nvSpPr>
        <p:spPr>
          <a:xfrm>
            <a:off x="4411370" y="1755648"/>
            <a:ext cx="68580" cy="3063240"/>
          </a:xfrm>
          <a:prstGeom prst="rect">
            <a:avLst/>
          </a:prstGeom>
          <a:solidFill>
            <a:srgbClr val="B0703A"/>
          </a:solidFill>
          <a:ln>
            <a:noFill/>
          </a:ln>
          <a:effectLst/>
        </p:spPr>
        <p:txBody>
          <a:bodyPr rtlCol="0" anchor="ctr"/>
          <a:lstStyle/>
          <a:p>
            <a:pPr algn="ctr"/>
            <a:endParaRPr/>
          </a:p>
        </p:txBody>
      </p:sp>
      <p:sp>
        <p:nvSpPr>
          <p:cNvPr id="13" name="TextBox 12"/>
          <p:cNvSpPr txBox="1"/>
          <p:nvPr/>
        </p:nvSpPr>
        <p:spPr>
          <a:xfrm>
            <a:off x="4722266" y="2011680"/>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Multi-hop and Relational reasoning</a:t>
            </a:r>
          </a:p>
        </p:txBody>
      </p:sp>
      <p:sp>
        <p:nvSpPr>
          <p:cNvPr id="14" name="TextBox 13"/>
          <p:cNvSpPr txBox="1"/>
          <p:nvPr/>
        </p:nvSpPr>
        <p:spPr>
          <a:xfrm>
            <a:off x="4722266" y="2670048"/>
            <a:ext cx="2802026" cy="1929383"/>
          </a:xfrm>
          <a:prstGeom prst="rect">
            <a:avLst/>
          </a:prstGeom>
          <a:noFill/>
        </p:spPr>
        <p:txBody>
          <a:bodyPr wrap="square" lIns="0" tIns="0" rIns="0" bIns="0" anchor="t">
            <a:spAutoFit/>
          </a:bodyPr>
          <a:lstStyle/>
          <a:p>
            <a:pPr algn="l">
              <a:lnSpc>
                <a:spcPct val="130000"/>
              </a:lnSpc>
              <a:spcBef>
                <a:spcPts val="0"/>
              </a:spcBef>
              <a:spcAft>
                <a:spcPts val="0"/>
              </a:spcAft>
            </a:pPr>
            <a:r>
              <a:rPr sz="1150" b="0" i="0">
                <a:solidFill>
                  <a:srgbClr val="6E757D"/>
                </a:solidFill>
                <a:latin typeface="Calibri"/>
              </a:rPr>
              <a:t>Naïve RAG can struggle to understand relational concepts, such as if David is the Father of Cherry and Elane is the Mother of David, then Elane is the Grand-mother of Cherry. Where the LLM needs to be able to accurately give such responses GraphRAG by far outperforms naïve RAG, due to its built-in multi-hop relational mapping.</a:t>
            </a:r>
          </a:p>
        </p:txBody>
      </p:sp>
      <p:sp>
        <p:nvSpPr>
          <p:cNvPr id="15" name="Rounded Rectangle 14"/>
          <p:cNvSpPr/>
          <p:nvPr/>
        </p:nvSpPr>
        <p:spPr>
          <a:xfrm>
            <a:off x="8072932" y="1755648"/>
            <a:ext cx="3368954" cy="3063240"/>
          </a:xfrm>
          <a:prstGeom prst="roundRect">
            <a:avLst>
              <a:gd name="adj" fmla="val 6000"/>
            </a:avLst>
          </a:prstGeom>
          <a:solidFill>
            <a:srgbClr val="EDF1F5"/>
          </a:solidFill>
          <a:ln w="12700">
            <a:solidFill>
              <a:srgbClr val="DFE4E9"/>
            </a:solidFill>
          </a:ln>
          <a:effectLst/>
        </p:spPr>
        <p:txBody>
          <a:bodyPr rtlCol="0" anchor="ctr"/>
          <a:lstStyle/>
          <a:p>
            <a:pPr algn="ctr"/>
            <a:endParaRPr/>
          </a:p>
        </p:txBody>
      </p:sp>
      <p:sp>
        <p:nvSpPr>
          <p:cNvPr id="16" name="Rectangle 15"/>
          <p:cNvSpPr/>
          <p:nvPr/>
        </p:nvSpPr>
        <p:spPr>
          <a:xfrm>
            <a:off x="8072932" y="1755648"/>
            <a:ext cx="68580" cy="3063240"/>
          </a:xfrm>
          <a:prstGeom prst="rect">
            <a:avLst/>
          </a:prstGeom>
          <a:solidFill>
            <a:srgbClr val="47795F"/>
          </a:solidFill>
          <a:ln>
            <a:noFill/>
          </a:ln>
          <a:effectLst/>
        </p:spPr>
        <p:txBody>
          <a:bodyPr rtlCol="0" anchor="ctr"/>
          <a:lstStyle/>
          <a:p>
            <a:pPr algn="ctr"/>
            <a:endParaRPr/>
          </a:p>
        </p:txBody>
      </p:sp>
      <p:sp>
        <p:nvSpPr>
          <p:cNvPr id="17" name="TextBox 16"/>
          <p:cNvSpPr txBox="1"/>
          <p:nvPr/>
        </p:nvSpPr>
        <p:spPr>
          <a:xfrm>
            <a:off x="8383828" y="2011680"/>
            <a:ext cx="2802026" cy="566928"/>
          </a:xfrm>
          <a:prstGeom prst="rect">
            <a:avLst/>
          </a:prstGeom>
          <a:noFill/>
        </p:spPr>
        <p:txBody>
          <a:bodyPr wrap="square" lIns="0" tIns="0" rIns="0" bIns="0" anchor="t">
            <a:spAutoFit/>
          </a:bodyPr>
          <a:lstStyle/>
          <a:p>
            <a:pPr algn="l">
              <a:lnSpc>
                <a:spcPct val="112000"/>
              </a:lnSpc>
              <a:spcBef>
                <a:spcPts val="0"/>
              </a:spcBef>
              <a:spcAft>
                <a:spcPts val="0"/>
              </a:spcAft>
            </a:pPr>
            <a:r>
              <a:rPr sz="1500" b="1" i="0">
                <a:solidFill>
                  <a:srgbClr val="22374A"/>
                </a:solidFill>
                <a:latin typeface="Georgia"/>
              </a:rPr>
              <a:t>Domains with relational data</a:t>
            </a:r>
          </a:p>
        </p:txBody>
      </p:sp>
      <p:sp>
        <p:nvSpPr>
          <p:cNvPr id="18" name="TextBox 17"/>
          <p:cNvSpPr txBox="1"/>
          <p:nvPr/>
        </p:nvSpPr>
        <p:spPr>
          <a:xfrm>
            <a:off x="8383828" y="2670048"/>
            <a:ext cx="2802026" cy="1929383"/>
          </a:xfrm>
          <a:prstGeom prst="rect">
            <a:avLst/>
          </a:prstGeom>
          <a:noFill/>
        </p:spPr>
        <p:txBody>
          <a:bodyPr wrap="square" lIns="0" tIns="0" rIns="0" bIns="0" anchor="t">
            <a:spAutoFit/>
          </a:bodyPr>
          <a:lstStyle/>
          <a:p>
            <a:pPr algn="l">
              <a:lnSpc>
                <a:spcPct val="130000"/>
              </a:lnSpc>
              <a:spcBef>
                <a:spcPts val="0"/>
              </a:spcBef>
              <a:spcAft>
                <a:spcPts val="0"/>
              </a:spcAft>
            </a:pPr>
            <a:r>
              <a:rPr sz="1200" b="0" i="0">
                <a:solidFill>
                  <a:srgbClr val="6E757D"/>
                </a:solidFill>
                <a:latin typeface="Calibri"/>
              </a:rPr>
              <a:t>Where data is already relational, flattening to text chunks removes the relational aspect of the data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10</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Comparison</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COMPARISON</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Comparison</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33</a:t>
            </a:r>
          </a:p>
        </p:txBody>
      </p:sp>
      <p:graphicFrame>
        <p:nvGraphicFramePr>
          <p:cNvPr id="7" name="Table 6"/>
          <p:cNvGraphicFramePr>
            <a:graphicFrameLocks noGrp="1"/>
          </p:cNvGraphicFramePr>
          <p:nvPr/>
        </p:nvGraphicFramePr>
        <p:xfrm>
          <a:off x="749808" y="1755648"/>
          <a:ext cx="10692078" cy="4390898"/>
        </p:xfrm>
        <a:graphic>
          <a:graphicData uri="http://schemas.openxmlformats.org/drawingml/2006/table">
            <a:tbl>
              <a:tblPr firstRow="1" bandRow="1">
                <a:tableStyleId>{5C22544A-7EE6-4342-B048-85BDC9FD1C3A}</a:tableStyleId>
              </a:tblPr>
              <a:tblGrid>
                <a:gridCol w="7023046">
                  <a:extLst>
                    <a:ext uri="{9D8B030D-6E8A-4147-A177-3AD203B41FA5}">
                      <a16:colId xmlns:a16="http://schemas.microsoft.com/office/drawing/2014/main" val="20000"/>
                    </a:ext>
                  </a:extLst>
                </a:gridCol>
                <a:gridCol w="1834516">
                  <a:extLst>
                    <a:ext uri="{9D8B030D-6E8A-4147-A177-3AD203B41FA5}">
                      <a16:colId xmlns:a16="http://schemas.microsoft.com/office/drawing/2014/main" val="20001"/>
                    </a:ext>
                  </a:extLst>
                </a:gridCol>
                <a:gridCol w="1834516">
                  <a:extLst>
                    <a:ext uri="{9D8B030D-6E8A-4147-A177-3AD203B41FA5}">
                      <a16:colId xmlns:a16="http://schemas.microsoft.com/office/drawing/2014/main" val="20002"/>
                    </a:ext>
                  </a:extLst>
                </a:gridCol>
              </a:tblGrid>
              <a:tr h="420624">
                <a:tc>
                  <a:txBody>
                    <a:bodyPr/>
                    <a:lstStyle/>
                    <a:p>
                      <a:pPr algn="l">
                        <a:lnSpc>
                          <a:spcPct val="128000"/>
                        </a:lnSpc>
                        <a:spcBef>
                          <a:spcPts val="0"/>
                        </a:spcBef>
                        <a:spcAft>
                          <a:spcPts val="0"/>
                        </a:spcAft>
                      </a:pPr>
                      <a:r>
                        <a:rPr sz="1250" b="1" i="0">
                          <a:solidFill>
                            <a:srgbClr val="FFFFFF"/>
                          </a:solidFill>
                          <a:latin typeface="Calibri"/>
                        </a:rPr>
                        <a:t>Use case</a:t>
                      </a:r>
                    </a:p>
                  </a:txBody>
                  <a:tcPr marL="128016" marR="128016" anchor="ctr">
                    <a:solidFill>
                      <a:srgbClr val="22374A"/>
                    </a:solidFill>
                  </a:tcPr>
                </a:tc>
                <a:tc>
                  <a:txBody>
                    <a:bodyPr/>
                    <a:lstStyle/>
                    <a:p>
                      <a:pPr algn="ctr">
                        <a:lnSpc>
                          <a:spcPct val="128000"/>
                        </a:lnSpc>
                        <a:spcBef>
                          <a:spcPts val="0"/>
                        </a:spcBef>
                        <a:spcAft>
                          <a:spcPts val="0"/>
                        </a:spcAft>
                      </a:pPr>
                      <a:r>
                        <a:rPr sz="1250" b="1" i="0">
                          <a:solidFill>
                            <a:srgbClr val="FFFFFF"/>
                          </a:solidFill>
                          <a:latin typeface="Calibri"/>
                        </a:rPr>
                        <a:t>Naïve RAG</a:t>
                      </a:r>
                    </a:p>
                  </a:txBody>
                  <a:tcPr marL="128016" marR="128016" anchor="ctr">
                    <a:solidFill>
                      <a:srgbClr val="22374A"/>
                    </a:solidFill>
                  </a:tcPr>
                </a:tc>
                <a:tc>
                  <a:txBody>
                    <a:bodyPr/>
                    <a:lstStyle/>
                    <a:p>
                      <a:pPr algn="ctr">
                        <a:lnSpc>
                          <a:spcPct val="128000"/>
                        </a:lnSpc>
                        <a:spcBef>
                          <a:spcPts val="0"/>
                        </a:spcBef>
                        <a:spcAft>
                          <a:spcPts val="0"/>
                        </a:spcAft>
                      </a:pPr>
                      <a:r>
                        <a:rPr sz="1250" b="1" i="0">
                          <a:solidFill>
                            <a:srgbClr val="FFFFFF"/>
                          </a:solidFill>
                          <a:latin typeface="Calibri"/>
                        </a:rPr>
                        <a:t>Graph RAG</a:t>
                      </a:r>
                    </a:p>
                  </a:txBody>
                  <a:tcPr marL="128016" marR="128016" anchor="ctr">
                    <a:solidFill>
                      <a:srgbClr val="22374A"/>
                    </a:solidFill>
                  </a:tcPr>
                </a:tc>
                <a:extLst>
                  <a:ext uri="{0D108BD9-81ED-4DB2-BD59-A6C34878D82A}">
                    <a16:rowId xmlns:a16="http://schemas.microsoft.com/office/drawing/2014/main" val="10000"/>
                  </a:ext>
                </a:extLst>
              </a:tr>
              <a:tr h="360934">
                <a:tc>
                  <a:txBody>
                    <a:bodyPr/>
                    <a:lstStyle/>
                    <a:p>
                      <a:pPr algn="l">
                        <a:lnSpc>
                          <a:spcPct val="128000"/>
                        </a:lnSpc>
                        <a:spcBef>
                          <a:spcPts val="0"/>
                        </a:spcBef>
                        <a:spcAft>
                          <a:spcPts val="0"/>
                        </a:spcAft>
                      </a:pPr>
                      <a:r>
                        <a:rPr sz="1300" b="0" i="0">
                          <a:solidFill>
                            <a:srgbClr val="333B43"/>
                          </a:solidFill>
                          <a:latin typeface="Calibri"/>
                        </a:rPr>
                        <a:t>Quick to set up with AGNO</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FFFFF"/>
                    </a:solidFill>
                  </a:tcPr>
                </a:tc>
                <a:extLst>
                  <a:ext uri="{0D108BD9-81ED-4DB2-BD59-A6C34878D82A}">
                    <a16:rowId xmlns:a16="http://schemas.microsoft.com/office/drawing/2014/main" val="10001"/>
                  </a:ext>
                </a:extLst>
              </a:tr>
              <a:tr h="360934">
                <a:tc>
                  <a:txBody>
                    <a:bodyPr/>
                    <a:lstStyle/>
                    <a:p>
                      <a:pPr algn="l">
                        <a:lnSpc>
                          <a:spcPct val="128000"/>
                        </a:lnSpc>
                        <a:spcBef>
                          <a:spcPts val="0"/>
                        </a:spcBef>
                        <a:spcAft>
                          <a:spcPts val="0"/>
                        </a:spcAft>
                      </a:pPr>
                      <a:r>
                        <a:rPr sz="1300" b="0" i="0">
                          <a:solidFill>
                            <a:srgbClr val="333B43"/>
                          </a:solidFill>
                          <a:latin typeface="Calibri"/>
                        </a:rPr>
                        <a:t>Flat data structure</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3F6F8"/>
                    </a:solidFill>
                  </a:tcPr>
                </a:tc>
                <a:extLst>
                  <a:ext uri="{0D108BD9-81ED-4DB2-BD59-A6C34878D82A}">
                    <a16:rowId xmlns:a16="http://schemas.microsoft.com/office/drawing/2014/main" val="10002"/>
                  </a:ext>
                </a:extLst>
              </a:tr>
              <a:tr h="360934">
                <a:tc>
                  <a:txBody>
                    <a:bodyPr/>
                    <a:lstStyle/>
                    <a:p>
                      <a:pPr algn="l">
                        <a:lnSpc>
                          <a:spcPct val="128000"/>
                        </a:lnSpc>
                        <a:spcBef>
                          <a:spcPts val="0"/>
                        </a:spcBef>
                        <a:spcAft>
                          <a:spcPts val="0"/>
                        </a:spcAft>
                      </a:pPr>
                      <a:r>
                        <a:rPr sz="1300" b="0" i="0">
                          <a:solidFill>
                            <a:srgbClr val="333B43"/>
                          </a:solidFill>
                          <a:latin typeface="Calibri"/>
                        </a:rPr>
                        <a:t>Low indexing cost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FFFFF"/>
                    </a:solidFill>
                  </a:tcPr>
                </a:tc>
                <a:extLst>
                  <a:ext uri="{0D108BD9-81ED-4DB2-BD59-A6C34878D82A}">
                    <a16:rowId xmlns:a16="http://schemas.microsoft.com/office/drawing/2014/main" val="10003"/>
                  </a:ext>
                </a:extLst>
              </a:tr>
              <a:tr h="360934">
                <a:tc>
                  <a:txBody>
                    <a:bodyPr/>
                    <a:lstStyle/>
                    <a:p>
                      <a:pPr algn="l">
                        <a:lnSpc>
                          <a:spcPct val="128000"/>
                        </a:lnSpc>
                        <a:spcBef>
                          <a:spcPts val="0"/>
                        </a:spcBef>
                        <a:spcAft>
                          <a:spcPts val="0"/>
                        </a:spcAft>
                      </a:pPr>
                      <a:r>
                        <a:rPr sz="1300" b="0" i="0">
                          <a:solidFill>
                            <a:srgbClr val="333B43"/>
                          </a:solidFill>
                          <a:latin typeface="Calibri"/>
                        </a:rPr>
                        <a:t>Single fact lookup where answer exists in a single chunk</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3F6F8"/>
                    </a:solidFill>
                  </a:tcPr>
                </a:tc>
                <a:extLst>
                  <a:ext uri="{0D108BD9-81ED-4DB2-BD59-A6C34878D82A}">
                    <a16:rowId xmlns:a16="http://schemas.microsoft.com/office/drawing/2014/main" val="10004"/>
                  </a:ext>
                </a:extLst>
              </a:tr>
              <a:tr h="360934">
                <a:tc>
                  <a:txBody>
                    <a:bodyPr/>
                    <a:lstStyle/>
                    <a:p>
                      <a:pPr algn="l">
                        <a:lnSpc>
                          <a:spcPct val="128000"/>
                        </a:lnSpc>
                        <a:spcBef>
                          <a:spcPts val="0"/>
                        </a:spcBef>
                        <a:spcAft>
                          <a:spcPts val="0"/>
                        </a:spcAft>
                      </a:pPr>
                      <a:r>
                        <a:rPr sz="1300" b="0" i="0">
                          <a:solidFill>
                            <a:srgbClr val="333B43"/>
                          </a:solidFill>
                          <a:latin typeface="Calibri"/>
                        </a:rPr>
                        <a:t>Low tolerance for error</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FFFFF"/>
                    </a:solidFill>
                  </a:tcPr>
                </a:tc>
                <a:extLst>
                  <a:ext uri="{0D108BD9-81ED-4DB2-BD59-A6C34878D82A}">
                    <a16:rowId xmlns:a16="http://schemas.microsoft.com/office/drawing/2014/main" val="10005"/>
                  </a:ext>
                </a:extLst>
              </a:tr>
              <a:tr h="360934">
                <a:tc>
                  <a:txBody>
                    <a:bodyPr/>
                    <a:lstStyle/>
                    <a:p>
                      <a:pPr algn="l">
                        <a:lnSpc>
                          <a:spcPct val="128000"/>
                        </a:lnSpc>
                        <a:spcBef>
                          <a:spcPts val="0"/>
                        </a:spcBef>
                        <a:spcAft>
                          <a:spcPts val="0"/>
                        </a:spcAft>
                      </a:pPr>
                      <a:r>
                        <a:rPr sz="1300" b="0" i="0">
                          <a:solidFill>
                            <a:srgbClr val="333B43"/>
                          </a:solidFill>
                          <a:latin typeface="Calibri"/>
                        </a:rPr>
                        <a:t>Hierarchical data structure</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3F6F8"/>
                    </a:solidFill>
                  </a:tcPr>
                </a:tc>
                <a:extLst>
                  <a:ext uri="{0D108BD9-81ED-4DB2-BD59-A6C34878D82A}">
                    <a16:rowId xmlns:a16="http://schemas.microsoft.com/office/drawing/2014/main" val="10006"/>
                  </a:ext>
                </a:extLst>
              </a:tr>
              <a:tr h="360934">
                <a:tc>
                  <a:txBody>
                    <a:bodyPr/>
                    <a:lstStyle/>
                    <a:p>
                      <a:pPr algn="l">
                        <a:lnSpc>
                          <a:spcPct val="128000"/>
                        </a:lnSpc>
                        <a:spcBef>
                          <a:spcPts val="0"/>
                        </a:spcBef>
                        <a:spcAft>
                          <a:spcPts val="0"/>
                        </a:spcAft>
                      </a:pPr>
                      <a:r>
                        <a:rPr sz="1300" b="0" i="0">
                          <a:solidFill>
                            <a:srgbClr val="333B43"/>
                          </a:solidFill>
                          <a:latin typeface="Calibri"/>
                        </a:rPr>
                        <a:t>Needs deep understanding of subject matter</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FFFFF"/>
                    </a:solidFill>
                  </a:tcPr>
                </a:tc>
                <a:extLst>
                  <a:ext uri="{0D108BD9-81ED-4DB2-BD59-A6C34878D82A}">
                    <a16:rowId xmlns:a16="http://schemas.microsoft.com/office/drawing/2014/main" val="10007"/>
                  </a:ext>
                </a:extLst>
              </a:tr>
              <a:tr h="360934">
                <a:tc>
                  <a:txBody>
                    <a:bodyPr/>
                    <a:lstStyle/>
                    <a:p>
                      <a:pPr algn="l">
                        <a:lnSpc>
                          <a:spcPct val="128000"/>
                        </a:lnSpc>
                        <a:spcBef>
                          <a:spcPts val="0"/>
                        </a:spcBef>
                        <a:spcAft>
                          <a:spcPts val="0"/>
                        </a:spcAft>
                      </a:pPr>
                      <a:r>
                        <a:rPr sz="1300" b="0" i="0">
                          <a:solidFill>
                            <a:srgbClr val="333B43"/>
                          </a:solidFill>
                          <a:latin typeface="Calibri"/>
                        </a:rPr>
                        <a:t>Multi-hop and Relational reasoning</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3F6F8"/>
                    </a:solidFill>
                  </a:tcPr>
                </a:tc>
                <a:extLst>
                  <a:ext uri="{0D108BD9-81ED-4DB2-BD59-A6C34878D82A}">
                    <a16:rowId xmlns:a16="http://schemas.microsoft.com/office/drawing/2014/main" val="10008"/>
                  </a:ext>
                </a:extLst>
              </a:tr>
              <a:tr h="360934">
                <a:tc>
                  <a:txBody>
                    <a:bodyPr/>
                    <a:lstStyle/>
                    <a:p>
                      <a:pPr algn="l">
                        <a:lnSpc>
                          <a:spcPct val="128000"/>
                        </a:lnSpc>
                        <a:spcBef>
                          <a:spcPts val="0"/>
                        </a:spcBef>
                        <a:spcAft>
                          <a:spcPts val="0"/>
                        </a:spcAft>
                      </a:pPr>
                      <a:r>
                        <a:rPr sz="1300" b="0" i="0">
                          <a:solidFill>
                            <a:srgbClr val="333B43"/>
                          </a:solidFill>
                          <a:latin typeface="Calibri"/>
                        </a:rPr>
                        <a:t>Questions where aggregation/enumeration/counting is required</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FFFFF"/>
                    </a:solidFill>
                  </a:tcPr>
                </a:tc>
                <a:extLst>
                  <a:ext uri="{0D108BD9-81ED-4DB2-BD59-A6C34878D82A}">
                    <a16:rowId xmlns:a16="http://schemas.microsoft.com/office/drawing/2014/main" val="10009"/>
                  </a:ext>
                </a:extLst>
              </a:tr>
              <a:tr h="360934">
                <a:tc>
                  <a:txBody>
                    <a:bodyPr/>
                    <a:lstStyle/>
                    <a:p>
                      <a:pPr algn="l">
                        <a:lnSpc>
                          <a:spcPct val="128000"/>
                        </a:lnSpc>
                        <a:spcBef>
                          <a:spcPts val="0"/>
                        </a:spcBef>
                        <a:spcAft>
                          <a:spcPts val="0"/>
                        </a:spcAft>
                      </a:pPr>
                      <a:r>
                        <a:rPr sz="1300" b="0" i="0">
                          <a:solidFill>
                            <a:srgbClr val="333B43"/>
                          </a:solidFill>
                          <a:latin typeface="Calibri"/>
                        </a:rPr>
                        <a:t>Questions where deterministic answers are required</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3F6F8"/>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3F6F8"/>
                    </a:solidFill>
                  </a:tcPr>
                </a:tc>
                <a:extLst>
                  <a:ext uri="{0D108BD9-81ED-4DB2-BD59-A6C34878D82A}">
                    <a16:rowId xmlns:a16="http://schemas.microsoft.com/office/drawing/2014/main" val="10010"/>
                  </a:ext>
                </a:extLst>
              </a:tr>
              <a:tr h="360934">
                <a:tc>
                  <a:txBody>
                    <a:bodyPr/>
                    <a:lstStyle/>
                    <a:p>
                      <a:pPr algn="l">
                        <a:lnSpc>
                          <a:spcPct val="128000"/>
                        </a:lnSpc>
                        <a:spcBef>
                          <a:spcPts val="0"/>
                        </a:spcBef>
                        <a:spcAft>
                          <a:spcPts val="0"/>
                        </a:spcAft>
                      </a:pPr>
                      <a:r>
                        <a:rPr sz="1300" b="0" i="0">
                          <a:solidFill>
                            <a:srgbClr val="333B43"/>
                          </a:solidFill>
                          <a:latin typeface="Calibri"/>
                        </a:rPr>
                        <a:t>Explainable retrieval path</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B24A3F"/>
                          </a:solidFill>
                          <a:latin typeface="Calibri"/>
                        </a:rPr>
                        <a:t>✗</a:t>
                      </a:r>
                    </a:p>
                  </a:txBody>
                  <a:tcPr marL="128016" marR="128016" marT="27432" marB="27432" anchor="ctr">
                    <a:solidFill>
                      <a:srgbClr val="FFFFFF"/>
                    </a:solidFill>
                  </a:tcPr>
                </a:tc>
                <a:tc>
                  <a:txBody>
                    <a:bodyPr/>
                    <a:lstStyle/>
                    <a:p>
                      <a:pPr algn="ctr">
                        <a:lnSpc>
                          <a:spcPct val="128000"/>
                        </a:lnSpc>
                        <a:spcBef>
                          <a:spcPts val="0"/>
                        </a:spcBef>
                        <a:spcAft>
                          <a:spcPts val="0"/>
                        </a:spcAft>
                      </a:pPr>
                      <a:r>
                        <a:rPr sz="1600" b="1" i="0">
                          <a:solidFill>
                            <a:srgbClr val="3F7D58"/>
                          </a:solidFill>
                          <a:latin typeface="Calibri"/>
                        </a:rPr>
                        <a:t>✓</a:t>
                      </a:r>
                    </a:p>
                  </a:txBody>
                  <a:tcPr marL="128016" marR="128016" marT="27432" marB="27432" anchor="ct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2331720"/>
            <a:ext cx="10692079" cy="914400"/>
          </a:xfrm>
          <a:prstGeom prst="rect">
            <a:avLst/>
          </a:prstGeom>
          <a:noFill/>
        </p:spPr>
        <p:txBody>
          <a:bodyPr wrap="square" lIns="0" tIns="0" rIns="0" bIns="0" anchor="t">
            <a:spAutoFit/>
          </a:bodyPr>
          <a:lstStyle/>
          <a:p>
            <a:pPr algn="l">
              <a:lnSpc>
                <a:spcPct val="100000"/>
              </a:lnSpc>
              <a:spcBef>
                <a:spcPts val="0"/>
              </a:spcBef>
              <a:spcAft>
                <a:spcPts val="0"/>
              </a:spcAft>
            </a:pPr>
            <a:r>
              <a:rPr sz="5800" b="1" i="0">
                <a:solidFill>
                  <a:srgbClr val="3E5C76"/>
                </a:solidFill>
                <a:latin typeface="Georgia"/>
              </a:rPr>
              <a:t>11</a:t>
            </a:r>
          </a:p>
        </p:txBody>
      </p:sp>
      <p:sp>
        <p:nvSpPr>
          <p:cNvPr id="3" name="TextBox 2"/>
          <p:cNvSpPr txBox="1"/>
          <p:nvPr/>
        </p:nvSpPr>
        <p:spPr>
          <a:xfrm>
            <a:off x="749808" y="3127248"/>
            <a:ext cx="8553663" cy="1097280"/>
          </a:xfrm>
          <a:prstGeom prst="rect">
            <a:avLst/>
          </a:prstGeom>
          <a:noFill/>
        </p:spPr>
        <p:txBody>
          <a:bodyPr wrap="square" lIns="0" tIns="0" rIns="0" bIns="0" anchor="t">
            <a:spAutoFit/>
          </a:bodyPr>
          <a:lstStyle/>
          <a:p>
            <a:pPr algn="l">
              <a:lnSpc>
                <a:spcPct val="108000"/>
              </a:lnSpc>
              <a:spcBef>
                <a:spcPts val="0"/>
              </a:spcBef>
              <a:spcAft>
                <a:spcPts val="0"/>
              </a:spcAft>
            </a:pPr>
            <a:r>
              <a:rPr sz="4000" b="1" i="0">
                <a:solidFill>
                  <a:srgbClr val="FFFFFF"/>
                </a:solidFill>
                <a:latin typeface="Georgia"/>
              </a:rPr>
              <a:t>Within teams</a:t>
            </a:r>
          </a:p>
        </p:txBody>
      </p:sp>
      <p:cxnSp>
        <p:nvCxnSpPr>
          <p:cNvPr id="4" name="Connector 3"/>
          <p:cNvCxnSpPr/>
          <p:nvPr/>
        </p:nvCxnSpPr>
        <p:spPr>
          <a:xfrm flipV="1">
            <a:off x="9352117" y="477755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21976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477755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29108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10564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466344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559064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17696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WITHIN TEAMS</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Within teams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34</a:t>
            </a:r>
          </a:p>
        </p:txBody>
      </p:sp>
      <p:sp>
        <p:nvSpPr>
          <p:cNvPr id="7" name="TextBox 6"/>
          <p:cNvSpPr txBox="1"/>
          <p:nvPr/>
        </p:nvSpPr>
        <p:spPr>
          <a:xfrm>
            <a:off x="749808" y="1755648"/>
            <a:ext cx="10692079" cy="1347215"/>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We trialed building a Graph with OAS specs, then performing validation based on that, it turned out that a lot of the questions looked at the data as a flat object so graphs were unsuited. But, on conversation with architect on api assistant we found the results to be very accurate and deterministic. We trialed questions where the aggregation and counting was required, and the results were excellent. The API assistant dataset is very relational in nature and a lot of questions are unanswerable with the current system.</a:t>
            </a:r>
          </a:p>
        </p:txBody>
      </p:sp>
      <p:sp>
        <p:nvSpPr>
          <p:cNvPr id="8" name="TextBox 7"/>
          <p:cNvSpPr txBox="1"/>
          <p:nvPr/>
        </p:nvSpPr>
        <p:spPr>
          <a:xfrm>
            <a:off x="749808" y="3285743"/>
            <a:ext cx="10692079" cy="1103376"/>
          </a:xfrm>
          <a:prstGeom prst="rect">
            <a:avLst/>
          </a:prstGeom>
          <a:noFill/>
        </p:spPr>
        <p:txBody>
          <a:bodyPr wrap="square" lIns="0" tIns="0" rIns="0" bIns="0" anchor="t">
            <a:spAutoFit/>
          </a:bodyPr>
          <a:lstStyle/>
          <a:p>
            <a:pPr algn="l">
              <a:lnSpc>
                <a:spcPct val="134000"/>
              </a:lnSpc>
              <a:spcBef>
                <a:spcPts val="0"/>
              </a:spcBef>
              <a:spcAft>
                <a:spcPts val="0"/>
              </a:spcAft>
            </a:pPr>
            <a:r>
              <a:rPr sz="1500" b="0" i="0">
                <a:solidFill>
                  <a:srgbClr val="333B43"/>
                </a:solidFill>
                <a:latin typeface="Calibri"/>
              </a:rPr>
              <a:t>Initial trial with a pure translation to Cypher layer resulted in excellent results for simple single hop retrieval. As the number of hops grew, so the model's ability to propose a retrieval route failed. This research has shown that retrieval mechanisms that are more algorithmic in nature are able to overcome this issue by retrieving a larger subgraph and then pruning and expanding iteratively.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B2C3B"/>
        </a:solidFill>
        <a:effectLst/>
      </p:bgPr>
    </p:bg>
    <p:spTree>
      <p:nvGrpSpPr>
        <p:cNvPr id="1" name=""/>
        <p:cNvGrpSpPr/>
        <p:nvPr/>
      </p:nvGrpSpPr>
      <p:grpSpPr>
        <a:xfrm>
          <a:off x="0" y="0"/>
          <a:ext cx="0" cy="0"/>
          <a:chOff x="0" y="0"/>
          <a:chExt cx="0" cy="0"/>
        </a:xfrm>
      </p:grpSpPr>
      <p:sp>
        <p:nvSpPr>
          <p:cNvPr id="2" name="TextBox 1"/>
          <p:cNvSpPr txBox="1"/>
          <p:nvPr/>
        </p:nvSpPr>
        <p:spPr>
          <a:xfrm>
            <a:off x="749808" y="1536192"/>
            <a:ext cx="7484455" cy="274320"/>
          </a:xfrm>
          <a:prstGeom prst="rect">
            <a:avLst/>
          </a:prstGeom>
          <a:noFill/>
        </p:spPr>
        <p:txBody>
          <a:bodyPr wrap="square" lIns="0" tIns="0" rIns="0" bIns="0" anchor="t">
            <a:spAutoFit/>
          </a:bodyPr>
          <a:lstStyle/>
          <a:p>
            <a:pPr algn="l">
              <a:lnSpc>
                <a:spcPct val="128000"/>
              </a:lnSpc>
              <a:spcBef>
                <a:spcPts val="0"/>
              </a:spcBef>
              <a:spcAft>
                <a:spcPts val="0"/>
              </a:spcAft>
            </a:pPr>
            <a:r>
              <a:rPr sz="1100" b="1" i="0" spc="180">
                <a:solidFill>
                  <a:srgbClr val="B0703A"/>
                </a:solidFill>
                <a:latin typeface="Calibri"/>
              </a:rPr>
              <a:t>WHERE THIS LEAVES US</a:t>
            </a:r>
          </a:p>
        </p:txBody>
      </p:sp>
      <p:sp>
        <p:nvSpPr>
          <p:cNvPr id="3" name="TextBox 2"/>
          <p:cNvSpPr txBox="1"/>
          <p:nvPr/>
        </p:nvSpPr>
        <p:spPr>
          <a:xfrm>
            <a:off x="749808" y="2103120"/>
            <a:ext cx="7912138" cy="3291840"/>
          </a:xfrm>
          <a:prstGeom prst="rect">
            <a:avLst/>
          </a:prstGeom>
          <a:noFill/>
        </p:spPr>
        <p:txBody>
          <a:bodyPr wrap="square" lIns="0" tIns="0" rIns="0" bIns="0" anchor="t">
            <a:spAutoFit/>
          </a:bodyPr>
          <a:lstStyle/>
          <a:p>
            <a:pPr algn="l">
              <a:lnSpc>
                <a:spcPct val="142000"/>
              </a:lnSpc>
              <a:spcBef>
                <a:spcPts val="0"/>
              </a:spcBef>
              <a:spcAft>
                <a:spcPts val="0"/>
              </a:spcAft>
            </a:pPr>
            <a:r>
              <a:rPr sz="2200" b="1" i="0">
                <a:solidFill>
                  <a:srgbClr val="FFFFFF"/>
                </a:solidFill>
                <a:latin typeface="Georgia"/>
              </a:rPr>
              <a:t>Proposal:</a:t>
            </a:r>
            <a:r>
              <a:rPr sz="2200" b="0" i="0">
                <a:solidFill>
                  <a:srgbClr val="FFFFFF"/>
                </a:solidFill>
                <a:latin typeface="Georgia"/>
              </a:rPr>
              <a:t> we spike a more advanced GraphRAG retrieval system that incorporates heuristic traversal up to three hops with a set goal of getting accurate answers to more complex questions. We can also test this against the current system and even experiment with a Graph Neural Network.</a:t>
            </a:r>
          </a:p>
        </p:txBody>
      </p:sp>
      <p:cxnSp>
        <p:nvCxnSpPr>
          <p:cNvPr id="4" name="Connector 3"/>
          <p:cNvCxnSpPr/>
          <p:nvPr/>
        </p:nvCxnSpPr>
        <p:spPr>
          <a:xfrm flipV="1">
            <a:off x="9352117" y="5189037"/>
            <a:ext cx="770291" cy="442203"/>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352117" y="5631240"/>
            <a:ext cx="770291" cy="484998"/>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421965" y="5189037"/>
            <a:ext cx="770291" cy="513527"/>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21965" y="5702564"/>
            <a:ext cx="770291" cy="413674"/>
          </a:xfrm>
          <a:prstGeom prst="line">
            <a:avLst/>
          </a:prstGeom>
          <a:ln w="13970">
            <a:solidFill>
              <a:srgbClr val="3E5C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052560" y="5517123"/>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9" name="Rounded Rectangle 8"/>
          <p:cNvSpPr/>
          <p:nvPr/>
        </p:nvSpPr>
        <p:spPr>
          <a:xfrm>
            <a:off x="10122408" y="5074920"/>
            <a:ext cx="299557" cy="228234"/>
          </a:xfrm>
          <a:prstGeom prst="roundRect">
            <a:avLst>
              <a:gd name="adj" fmla="val 18000"/>
            </a:avLst>
          </a:prstGeom>
          <a:noFill/>
          <a:ln w="19050">
            <a:solidFill>
              <a:srgbClr val="B0703A"/>
            </a:solidFill>
          </a:ln>
          <a:effectLst/>
        </p:spPr>
        <p:txBody>
          <a:bodyPr rtlCol="0" anchor="ctr"/>
          <a:lstStyle/>
          <a:p>
            <a:pPr algn="ctr"/>
            <a:endParaRPr/>
          </a:p>
        </p:txBody>
      </p:sp>
      <p:sp>
        <p:nvSpPr>
          <p:cNvPr id="10" name="Rounded Rectangle 9"/>
          <p:cNvSpPr/>
          <p:nvPr/>
        </p:nvSpPr>
        <p:spPr>
          <a:xfrm>
            <a:off x="10122408" y="6002121"/>
            <a:ext cx="299557" cy="228234"/>
          </a:xfrm>
          <a:prstGeom prst="roundRect">
            <a:avLst>
              <a:gd name="adj" fmla="val 18000"/>
            </a:avLst>
          </a:prstGeom>
          <a:noFill/>
          <a:ln w="19050">
            <a:solidFill>
              <a:srgbClr val="3E5C76"/>
            </a:solidFill>
          </a:ln>
          <a:effectLst/>
        </p:spPr>
        <p:txBody>
          <a:bodyPr rtlCol="0" anchor="ctr"/>
          <a:lstStyle/>
          <a:p>
            <a:pPr algn="ctr"/>
            <a:endParaRPr/>
          </a:p>
        </p:txBody>
      </p:sp>
      <p:sp>
        <p:nvSpPr>
          <p:cNvPr id="11" name="Rounded Rectangle 10"/>
          <p:cNvSpPr/>
          <p:nvPr/>
        </p:nvSpPr>
        <p:spPr>
          <a:xfrm>
            <a:off x="11192256" y="5588447"/>
            <a:ext cx="299557" cy="228234"/>
          </a:xfrm>
          <a:prstGeom prst="roundRect">
            <a:avLst>
              <a:gd name="adj" fmla="val 18000"/>
            </a:avLst>
          </a:prstGeom>
          <a:noFill/>
          <a:ln w="19050">
            <a:solidFill>
              <a:srgbClr val="3E5C76"/>
            </a:solidFill>
          </a:ln>
          <a:effectLst/>
        </p:spPr>
        <p:txBody>
          <a:bodyPr rtlCol="0" anchor="ctr"/>
          <a:lstStyle/>
          <a:p>
            <a:pPr algn="ct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GRAPH RAG</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References</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35</a:t>
            </a:r>
          </a:p>
        </p:txBody>
      </p:sp>
      <p:sp>
        <p:nvSpPr>
          <p:cNvPr id="7" name="TextBox 6"/>
          <p:cNvSpPr txBox="1"/>
          <p:nvPr/>
        </p:nvSpPr>
        <p:spPr>
          <a:xfrm>
            <a:off x="749808" y="1755648"/>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3E5C76"/>
                </a:solidFill>
                <a:latin typeface="Georgia"/>
              </a:rPr>
              <a:t>01</a:t>
            </a:r>
          </a:p>
        </p:txBody>
      </p:sp>
      <p:sp>
        <p:nvSpPr>
          <p:cNvPr id="8" name="TextBox 7"/>
          <p:cNvSpPr txBox="1"/>
          <p:nvPr/>
        </p:nvSpPr>
        <p:spPr>
          <a:xfrm>
            <a:off x="1170432" y="1737360"/>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Scalable Multi-Hop Relational Reasoning for Knowledge-Aware Question Answering</a:t>
            </a:r>
          </a:p>
          <a:p>
            <a:pPr algn="l">
              <a:lnSpc>
                <a:spcPct val="128000"/>
              </a:lnSpc>
              <a:spcBef>
                <a:spcPts val="500"/>
              </a:spcBef>
              <a:spcAft>
                <a:spcPts val="0"/>
              </a:spcAft>
            </a:pPr>
            <a:r>
              <a:rPr sz="1000" b="0" i="0">
                <a:solidFill>
                  <a:srgbClr val="6E757D"/>
                </a:solidFill>
                <a:latin typeface="Calibri"/>
              </a:rPr>
              <a:t>Feng et al.  ·  2020  ·  arXiv:2005.00646</a:t>
            </a:r>
          </a:p>
        </p:txBody>
      </p:sp>
      <p:sp>
        <p:nvSpPr>
          <p:cNvPr id="9" name="TextBox 8"/>
          <p:cNvSpPr txBox="1"/>
          <p:nvPr/>
        </p:nvSpPr>
        <p:spPr>
          <a:xfrm>
            <a:off x="749808" y="2644444"/>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B0703A"/>
                </a:solidFill>
                <a:latin typeface="Georgia"/>
              </a:rPr>
              <a:t>02</a:t>
            </a:r>
          </a:p>
        </p:txBody>
      </p:sp>
      <p:sp>
        <p:nvSpPr>
          <p:cNvPr id="10" name="TextBox 9"/>
          <p:cNvSpPr txBox="1"/>
          <p:nvPr/>
        </p:nvSpPr>
        <p:spPr>
          <a:xfrm>
            <a:off x="1170432" y="2626156"/>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Graph-augmented Learning to Rank for Querying Large-scale Knowledge Graph</a:t>
            </a:r>
          </a:p>
          <a:p>
            <a:pPr algn="l">
              <a:lnSpc>
                <a:spcPct val="128000"/>
              </a:lnSpc>
              <a:spcBef>
                <a:spcPts val="500"/>
              </a:spcBef>
              <a:spcAft>
                <a:spcPts val="0"/>
              </a:spcAft>
            </a:pPr>
            <a:r>
              <a:rPr sz="1000" b="0" i="0">
                <a:solidFill>
                  <a:srgbClr val="6E757D"/>
                </a:solidFill>
                <a:latin typeface="Calibri"/>
              </a:rPr>
              <a:t>Gao et al.  ·  2022  ·  arXiv:2111.10541</a:t>
            </a:r>
          </a:p>
        </p:txBody>
      </p:sp>
      <p:sp>
        <p:nvSpPr>
          <p:cNvPr id="11" name="TextBox 10"/>
          <p:cNvSpPr txBox="1"/>
          <p:nvPr/>
        </p:nvSpPr>
        <p:spPr>
          <a:xfrm>
            <a:off x="749808" y="3533241"/>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47795F"/>
                </a:solidFill>
                <a:latin typeface="Georgia"/>
              </a:rPr>
              <a:t>03</a:t>
            </a:r>
          </a:p>
        </p:txBody>
      </p:sp>
      <p:sp>
        <p:nvSpPr>
          <p:cNvPr id="12" name="TextBox 11"/>
          <p:cNvSpPr txBox="1"/>
          <p:nvPr/>
        </p:nvSpPr>
        <p:spPr>
          <a:xfrm>
            <a:off x="1170432" y="3514953"/>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KnowledgeNavigator: leveraging large language models for enhanced reasoning over knowledge graph</a:t>
            </a:r>
          </a:p>
          <a:p>
            <a:pPr algn="l">
              <a:lnSpc>
                <a:spcPct val="128000"/>
              </a:lnSpc>
              <a:spcBef>
                <a:spcPts val="500"/>
              </a:spcBef>
              <a:spcAft>
                <a:spcPts val="0"/>
              </a:spcAft>
            </a:pPr>
            <a:r>
              <a:rPr sz="1000" b="0" i="0">
                <a:solidFill>
                  <a:srgbClr val="6E757D"/>
                </a:solidFill>
                <a:latin typeface="Calibri"/>
              </a:rPr>
              <a:t>Guo et al.  ·  Complex &amp;amp; Intelligent Systems  ·  2024</a:t>
            </a:r>
          </a:p>
        </p:txBody>
      </p:sp>
      <p:sp>
        <p:nvSpPr>
          <p:cNvPr id="13" name="TextBox 12"/>
          <p:cNvSpPr txBox="1"/>
          <p:nvPr/>
        </p:nvSpPr>
        <p:spPr>
          <a:xfrm>
            <a:off x="749808" y="4422038"/>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6D5A7B"/>
                </a:solidFill>
                <a:latin typeface="Georgia"/>
              </a:rPr>
              <a:t>04</a:t>
            </a:r>
          </a:p>
        </p:txBody>
      </p:sp>
      <p:sp>
        <p:nvSpPr>
          <p:cNvPr id="14" name="TextBox 13"/>
          <p:cNvSpPr txBox="1"/>
          <p:nvPr/>
        </p:nvSpPr>
        <p:spPr>
          <a:xfrm>
            <a:off x="1170432" y="4403750"/>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Retrieval-Augmented Generation with Graphs (GraphRAG)</a:t>
            </a:r>
          </a:p>
          <a:p>
            <a:pPr algn="l">
              <a:lnSpc>
                <a:spcPct val="128000"/>
              </a:lnSpc>
              <a:spcBef>
                <a:spcPts val="500"/>
              </a:spcBef>
              <a:spcAft>
                <a:spcPts val="0"/>
              </a:spcAft>
            </a:pPr>
            <a:r>
              <a:rPr sz="1000" b="0" i="0">
                <a:solidFill>
                  <a:srgbClr val="6E757D"/>
                </a:solidFill>
                <a:latin typeface="Calibri"/>
              </a:rPr>
              <a:t>Han et al.  ·  2025  ·  arXiv:2501.00309</a:t>
            </a:r>
          </a:p>
        </p:txBody>
      </p:sp>
      <p:sp>
        <p:nvSpPr>
          <p:cNvPr id="15" name="TextBox 14"/>
          <p:cNvSpPr txBox="1"/>
          <p:nvPr/>
        </p:nvSpPr>
        <p:spPr>
          <a:xfrm>
            <a:off x="749808" y="5310835"/>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3E5C76"/>
                </a:solidFill>
                <a:latin typeface="Georgia"/>
              </a:rPr>
              <a:t>05</a:t>
            </a:r>
          </a:p>
        </p:txBody>
      </p:sp>
      <p:sp>
        <p:nvSpPr>
          <p:cNvPr id="16" name="TextBox 15"/>
          <p:cNvSpPr txBox="1"/>
          <p:nvPr/>
        </p:nvSpPr>
        <p:spPr>
          <a:xfrm>
            <a:off x="1170432" y="5292547"/>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G-Retriever: Retrieval-Augmented Generation for Textual Graph Understanding and Question Answering</a:t>
            </a:r>
          </a:p>
          <a:p>
            <a:pPr algn="l">
              <a:lnSpc>
                <a:spcPct val="128000"/>
              </a:lnSpc>
              <a:spcBef>
                <a:spcPts val="500"/>
              </a:spcBef>
              <a:spcAft>
                <a:spcPts val="0"/>
              </a:spcAft>
            </a:pPr>
            <a:r>
              <a:rPr sz="1000" b="0" i="0">
                <a:solidFill>
                  <a:srgbClr val="6E757D"/>
                </a:solidFill>
                <a:latin typeface="Calibri"/>
              </a:rPr>
              <a:t>He et al.  ·  2024  ·  arXiv:2402.07630</a:t>
            </a:r>
          </a:p>
        </p:txBody>
      </p:sp>
      <p:sp>
        <p:nvSpPr>
          <p:cNvPr id="17" name="TextBox 16"/>
          <p:cNvSpPr txBox="1"/>
          <p:nvPr/>
        </p:nvSpPr>
        <p:spPr>
          <a:xfrm>
            <a:off x="6324447" y="1755648"/>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B0703A"/>
                </a:solidFill>
                <a:latin typeface="Georgia"/>
              </a:rPr>
              <a:t>06</a:t>
            </a:r>
          </a:p>
        </p:txBody>
      </p:sp>
      <p:sp>
        <p:nvSpPr>
          <p:cNvPr id="18" name="TextBox 17"/>
          <p:cNvSpPr txBox="1"/>
          <p:nvPr/>
        </p:nvSpPr>
        <p:spPr>
          <a:xfrm>
            <a:off x="6745071" y="1737360"/>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StructGPT: A General Framework for Large Language Model to Reason over Structured Data</a:t>
            </a:r>
          </a:p>
          <a:p>
            <a:pPr algn="l">
              <a:lnSpc>
                <a:spcPct val="128000"/>
              </a:lnSpc>
              <a:spcBef>
                <a:spcPts val="500"/>
              </a:spcBef>
              <a:spcAft>
                <a:spcPts val="0"/>
              </a:spcAft>
            </a:pPr>
            <a:r>
              <a:rPr sz="1000" b="0" i="0">
                <a:solidFill>
                  <a:srgbClr val="6E757D"/>
                </a:solidFill>
                <a:latin typeface="Calibri"/>
              </a:rPr>
              <a:t>Jiang et al.  ·  2023  ·  arXiv:2305.09645</a:t>
            </a:r>
          </a:p>
        </p:txBody>
      </p:sp>
      <p:sp>
        <p:nvSpPr>
          <p:cNvPr id="19" name="TextBox 18"/>
          <p:cNvSpPr txBox="1"/>
          <p:nvPr/>
        </p:nvSpPr>
        <p:spPr>
          <a:xfrm>
            <a:off x="6324447" y="2644444"/>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47795F"/>
                </a:solidFill>
                <a:latin typeface="Georgia"/>
              </a:rPr>
              <a:t>07</a:t>
            </a:r>
          </a:p>
        </p:txBody>
      </p:sp>
      <p:sp>
        <p:nvSpPr>
          <p:cNvPr id="20" name="TextBox 19"/>
          <p:cNvSpPr txBox="1"/>
          <p:nvPr/>
        </p:nvSpPr>
        <p:spPr>
          <a:xfrm>
            <a:off x="6745071" y="2626156"/>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HyKGE: A Hypothesis Knowledge Graph Enhanced Framework for Accurate and Reliable Medical LLMs Responses</a:t>
            </a:r>
          </a:p>
          <a:p>
            <a:pPr algn="l">
              <a:lnSpc>
                <a:spcPct val="128000"/>
              </a:lnSpc>
              <a:spcBef>
                <a:spcPts val="500"/>
              </a:spcBef>
              <a:spcAft>
                <a:spcPts val="0"/>
              </a:spcAft>
            </a:pPr>
            <a:r>
              <a:rPr sz="1000" b="0" i="0">
                <a:solidFill>
                  <a:srgbClr val="6E757D"/>
                </a:solidFill>
                <a:latin typeface="Calibri"/>
              </a:rPr>
              <a:t>Jiang et al.  ·  2024  ·  arXiv:2312.15883</a:t>
            </a:r>
          </a:p>
        </p:txBody>
      </p:sp>
      <p:sp>
        <p:nvSpPr>
          <p:cNvPr id="21" name="TextBox 20"/>
          <p:cNvSpPr txBox="1"/>
          <p:nvPr/>
        </p:nvSpPr>
        <p:spPr>
          <a:xfrm>
            <a:off x="6324447" y="3533241"/>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6D5A7B"/>
                </a:solidFill>
                <a:latin typeface="Georgia"/>
              </a:rPr>
              <a:t>08</a:t>
            </a:r>
          </a:p>
        </p:txBody>
      </p:sp>
      <p:sp>
        <p:nvSpPr>
          <p:cNvPr id="22" name="TextBox 21"/>
          <p:cNvSpPr txBox="1"/>
          <p:nvPr/>
        </p:nvSpPr>
        <p:spPr>
          <a:xfrm>
            <a:off x="6745071" y="3514953"/>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Causal Reasoning in Large Language Models: A Knowledge Graph Approach</a:t>
            </a:r>
          </a:p>
          <a:p>
            <a:pPr algn="l">
              <a:lnSpc>
                <a:spcPct val="128000"/>
              </a:lnSpc>
              <a:spcBef>
                <a:spcPts val="500"/>
              </a:spcBef>
              <a:spcAft>
                <a:spcPts val="0"/>
              </a:spcAft>
            </a:pPr>
            <a:r>
              <a:rPr sz="1000" b="0" i="0">
                <a:solidFill>
                  <a:srgbClr val="6E757D"/>
                </a:solidFill>
                <a:latin typeface="Calibri"/>
              </a:rPr>
              <a:t>Kim et al.  ·  2024  ·  arXiv:2410.11588</a:t>
            </a:r>
          </a:p>
        </p:txBody>
      </p:sp>
      <p:sp>
        <p:nvSpPr>
          <p:cNvPr id="23" name="TextBox 22"/>
          <p:cNvSpPr txBox="1"/>
          <p:nvPr/>
        </p:nvSpPr>
        <p:spPr>
          <a:xfrm>
            <a:off x="6324447" y="4422038"/>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3E5C76"/>
                </a:solidFill>
                <a:latin typeface="Georgia"/>
              </a:rPr>
              <a:t>09</a:t>
            </a:r>
          </a:p>
        </p:txBody>
      </p:sp>
      <p:sp>
        <p:nvSpPr>
          <p:cNvPr id="24" name="TextBox 23"/>
          <p:cNvSpPr txBox="1"/>
          <p:nvPr/>
        </p:nvSpPr>
        <p:spPr>
          <a:xfrm>
            <a:off x="6745071" y="4403750"/>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Mitigating Hallucinations in Large Language Models via Self-Refinement-Enhanced Knowledge Retrieval</a:t>
            </a:r>
          </a:p>
          <a:p>
            <a:pPr algn="l">
              <a:lnSpc>
                <a:spcPct val="128000"/>
              </a:lnSpc>
              <a:spcBef>
                <a:spcPts val="500"/>
              </a:spcBef>
              <a:spcAft>
                <a:spcPts val="0"/>
              </a:spcAft>
            </a:pPr>
            <a:r>
              <a:rPr sz="1000" b="0" i="0">
                <a:solidFill>
                  <a:srgbClr val="6E757D"/>
                </a:solidFill>
                <a:latin typeface="Calibri"/>
              </a:rPr>
              <a:t>Niu et al.  ·  2024  ·  arXiv:2405.06545</a:t>
            </a:r>
          </a:p>
        </p:txBody>
      </p:sp>
      <p:sp>
        <p:nvSpPr>
          <p:cNvPr id="25" name="TextBox 24"/>
          <p:cNvSpPr txBox="1"/>
          <p:nvPr/>
        </p:nvSpPr>
        <p:spPr>
          <a:xfrm>
            <a:off x="6324447" y="5310835"/>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B0703A"/>
                </a:solidFill>
                <a:latin typeface="Georgia"/>
              </a:rPr>
              <a:t>10</a:t>
            </a:r>
          </a:p>
        </p:txBody>
      </p:sp>
      <p:sp>
        <p:nvSpPr>
          <p:cNvPr id="26" name="TextBox 25"/>
          <p:cNvSpPr txBox="1"/>
          <p:nvPr/>
        </p:nvSpPr>
        <p:spPr>
          <a:xfrm>
            <a:off x="6745071" y="5292547"/>
            <a:ext cx="4696815" cy="797356"/>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PipeNet: Question Answering with Semantic Pruning over Knowledge Graphs</a:t>
            </a:r>
          </a:p>
          <a:p>
            <a:pPr algn="l">
              <a:lnSpc>
                <a:spcPct val="128000"/>
              </a:lnSpc>
              <a:spcBef>
                <a:spcPts val="500"/>
              </a:spcBef>
              <a:spcAft>
                <a:spcPts val="0"/>
              </a:spcAft>
            </a:pPr>
            <a:r>
              <a:rPr sz="1000" b="0" i="0">
                <a:solidFill>
                  <a:srgbClr val="6E757D"/>
                </a:solidFill>
                <a:latin typeface="Calibri"/>
              </a:rPr>
              <a:t>Su et al.  ·  2024  ·  arXiv:2401.17536</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CFDFE"/>
        </a:solidFill>
        <a:effectLst/>
      </p:bgPr>
    </p:bg>
    <p:spTree>
      <p:nvGrpSpPr>
        <p:cNvPr id="1" name=""/>
        <p:cNvGrpSpPr/>
        <p:nvPr/>
      </p:nvGrpSpPr>
      <p:grpSpPr>
        <a:xfrm>
          <a:off x="0" y="0"/>
          <a:ext cx="0" cy="0"/>
          <a:chOff x="0" y="0"/>
          <a:chExt cx="0" cy="0"/>
        </a:xfrm>
      </p:grpSpPr>
      <p:sp>
        <p:nvSpPr>
          <p:cNvPr id="2" name="TextBox 1"/>
          <p:cNvSpPr txBox="1"/>
          <p:nvPr/>
        </p:nvSpPr>
        <p:spPr>
          <a:xfrm>
            <a:off x="749808" y="566928"/>
            <a:ext cx="10692079" cy="237744"/>
          </a:xfrm>
          <a:prstGeom prst="rect">
            <a:avLst/>
          </a:prstGeom>
          <a:noFill/>
        </p:spPr>
        <p:txBody>
          <a:bodyPr wrap="square" lIns="0" tIns="0" rIns="0" bIns="0" anchor="t">
            <a:spAutoFit/>
          </a:bodyPr>
          <a:lstStyle/>
          <a:p>
            <a:pPr algn="l">
              <a:lnSpc>
                <a:spcPct val="128000"/>
              </a:lnSpc>
              <a:spcBef>
                <a:spcPts val="0"/>
              </a:spcBef>
              <a:spcAft>
                <a:spcPts val="0"/>
              </a:spcAft>
            </a:pPr>
            <a:r>
              <a:rPr sz="1000" b="1" i="0" spc="140">
                <a:solidFill>
                  <a:srgbClr val="3E5C76"/>
                </a:solidFill>
                <a:latin typeface="Calibri"/>
              </a:rPr>
              <a:t>GRAPH RAG</a:t>
            </a:r>
          </a:p>
        </p:txBody>
      </p:sp>
      <p:sp>
        <p:nvSpPr>
          <p:cNvPr id="3" name="TextBox 2"/>
          <p:cNvSpPr txBox="1"/>
          <p:nvPr/>
        </p:nvSpPr>
        <p:spPr>
          <a:xfrm>
            <a:off x="749808" y="841248"/>
            <a:ext cx="10692079" cy="566928"/>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22374A"/>
                </a:solidFill>
                <a:latin typeface="Georgia"/>
              </a:rPr>
              <a:t>References (cont.)</a:t>
            </a:r>
          </a:p>
        </p:txBody>
      </p:sp>
      <p:sp>
        <p:nvSpPr>
          <p:cNvPr id="4" name="Rectangle 3"/>
          <p:cNvSpPr/>
          <p:nvPr/>
        </p:nvSpPr>
        <p:spPr>
          <a:xfrm>
            <a:off x="749808" y="6327648"/>
            <a:ext cx="10692079" cy="10972"/>
          </a:xfrm>
          <a:prstGeom prst="rect">
            <a:avLst/>
          </a:prstGeom>
          <a:solidFill>
            <a:srgbClr val="DFE4E9"/>
          </a:solidFill>
          <a:ln>
            <a:noFill/>
          </a:ln>
          <a:effectLst/>
        </p:spPr>
        <p:txBody>
          <a:bodyPr rtlCol="0" anchor="ctr"/>
          <a:lstStyle/>
          <a:p>
            <a:pPr algn="ctr"/>
            <a:endParaRPr/>
          </a:p>
        </p:txBody>
      </p:sp>
      <p:sp>
        <p:nvSpPr>
          <p:cNvPr id="5" name="TextBox 4"/>
          <p:cNvSpPr txBox="1"/>
          <p:nvPr/>
        </p:nvSpPr>
        <p:spPr>
          <a:xfrm>
            <a:off x="749808" y="6419088"/>
            <a:ext cx="5346039" cy="219456"/>
          </a:xfrm>
          <a:prstGeom prst="rect">
            <a:avLst/>
          </a:prstGeom>
          <a:noFill/>
        </p:spPr>
        <p:txBody>
          <a:bodyPr wrap="square" lIns="0" tIns="0" rIns="0" bIns="0" anchor="t">
            <a:spAutoFit/>
          </a:bodyPr>
          <a:lstStyle/>
          <a:p>
            <a:pPr algn="l">
              <a:lnSpc>
                <a:spcPct val="128000"/>
              </a:lnSpc>
              <a:spcBef>
                <a:spcPts val="0"/>
              </a:spcBef>
              <a:spcAft>
                <a:spcPts val="0"/>
              </a:spcAft>
            </a:pPr>
            <a:r>
              <a:rPr sz="900" b="0" i="0">
                <a:solidFill>
                  <a:srgbClr val="6E757D"/>
                </a:solidFill>
                <a:latin typeface="Calibri"/>
              </a:rPr>
              <a:t>GraphRAG research</a:t>
            </a:r>
          </a:p>
        </p:txBody>
      </p:sp>
      <p:sp>
        <p:nvSpPr>
          <p:cNvPr id="6" name="TextBox 5"/>
          <p:cNvSpPr txBox="1"/>
          <p:nvPr/>
        </p:nvSpPr>
        <p:spPr>
          <a:xfrm>
            <a:off x="6095847" y="6419088"/>
            <a:ext cx="5346039" cy="219456"/>
          </a:xfrm>
          <a:prstGeom prst="rect">
            <a:avLst/>
          </a:prstGeom>
          <a:noFill/>
        </p:spPr>
        <p:txBody>
          <a:bodyPr wrap="square" lIns="0" tIns="0" rIns="0" bIns="0" anchor="t">
            <a:spAutoFit/>
          </a:bodyPr>
          <a:lstStyle/>
          <a:p>
            <a:pPr algn="r">
              <a:lnSpc>
                <a:spcPct val="128000"/>
              </a:lnSpc>
              <a:spcBef>
                <a:spcPts val="0"/>
              </a:spcBef>
              <a:spcAft>
                <a:spcPts val="0"/>
              </a:spcAft>
            </a:pPr>
            <a:r>
              <a:rPr sz="900" b="0" i="0">
                <a:solidFill>
                  <a:srgbClr val="6E757D"/>
                </a:solidFill>
                <a:latin typeface="Calibri"/>
              </a:rPr>
              <a:t>36</a:t>
            </a:r>
          </a:p>
        </p:txBody>
      </p:sp>
      <p:sp>
        <p:nvSpPr>
          <p:cNvPr id="7" name="TextBox 6"/>
          <p:cNvSpPr txBox="1"/>
          <p:nvPr/>
        </p:nvSpPr>
        <p:spPr>
          <a:xfrm>
            <a:off x="749808" y="1755648"/>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3E5C76"/>
                </a:solidFill>
                <a:latin typeface="Georgia"/>
              </a:rPr>
              <a:t>11</a:t>
            </a:r>
          </a:p>
        </p:txBody>
      </p:sp>
      <p:sp>
        <p:nvSpPr>
          <p:cNvPr id="8" name="TextBox 7"/>
          <p:cNvSpPr txBox="1"/>
          <p:nvPr/>
        </p:nvSpPr>
        <p:spPr>
          <a:xfrm>
            <a:off x="1170432" y="1737360"/>
            <a:ext cx="4696815" cy="1389888"/>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Cross-Domain Graph Data Scaling: A Showcase with Diffusion Models</a:t>
            </a:r>
          </a:p>
          <a:p>
            <a:pPr algn="l">
              <a:lnSpc>
                <a:spcPct val="128000"/>
              </a:lnSpc>
              <a:spcBef>
                <a:spcPts val="500"/>
              </a:spcBef>
              <a:spcAft>
                <a:spcPts val="0"/>
              </a:spcAft>
            </a:pPr>
            <a:r>
              <a:rPr sz="1000" b="0" i="0">
                <a:solidFill>
                  <a:srgbClr val="6E757D"/>
                </a:solidFill>
                <a:latin typeface="Calibri"/>
              </a:rPr>
              <a:t>Tang et al.  ·  2025  ·  arXiv:2406.01899</a:t>
            </a:r>
          </a:p>
        </p:txBody>
      </p:sp>
      <p:sp>
        <p:nvSpPr>
          <p:cNvPr id="9" name="TextBox 8"/>
          <p:cNvSpPr txBox="1"/>
          <p:nvPr/>
        </p:nvSpPr>
        <p:spPr>
          <a:xfrm>
            <a:off x="749808" y="3236976"/>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B0703A"/>
                </a:solidFill>
                <a:latin typeface="Georgia"/>
              </a:rPr>
              <a:t>12</a:t>
            </a:r>
          </a:p>
        </p:txBody>
      </p:sp>
      <p:sp>
        <p:nvSpPr>
          <p:cNvPr id="10" name="TextBox 9"/>
          <p:cNvSpPr txBox="1"/>
          <p:nvPr/>
        </p:nvSpPr>
        <p:spPr>
          <a:xfrm>
            <a:off x="1170432" y="3218688"/>
            <a:ext cx="4696815" cy="1389888"/>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GrapeQA: GRaph Augmentation and Pruning to Enhance Question-Answering</a:t>
            </a:r>
          </a:p>
          <a:p>
            <a:pPr algn="l">
              <a:lnSpc>
                <a:spcPct val="128000"/>
              </a:lnSpc>
              <a:spcBef>
                <a:spcPts val="500"/>
              </a:spcBef>
              <a:spcAft>
                <a:spcPts val="0"/>
              </a:spcAft>
            </a:pPr>
            <a:r>
              <a:rPr sz="1000" b="0" i="0">
                <a:solidFill>
                  <a:srgbClr val="6E757D"/>
                </a:solidFill>
                <a:latin typeface="Calibri"/>
              </a:rPr>
              <a:t>Taunk et al.  ·  2023  ·  arXiv:2303.12320</a:t>
            </a:r>
          </a:p>
        </p:txBody>
      </p:sp>
      <p:sp>
        <p:nvSpPr>
          <p:cNvPr id="11" name="TextBox 10"/>
          <p:cNvSpPr txBox="1"/>
          <p:nvPr/>
        </p:nvSpPr>
        <p:spPr>
          <a:xfrm>
            <a:off x="749808" y="4718304"/>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47795F"/>
                </a:solidFill>
                <a:latin typeface="Georgia"/>
              </a:rPr>
              <a:t>13</a:t>
            </a:r>
          </a:p>
        </p:txBody>
      </p:sp>
      <p:sp>
        <p:nvSpPr>
          <p:cNvPr id="12" name="TextBox 11"/>
          <p:cNvSpPr txBox="1"/>
          <p:nvPr/>
        </p:nvSpPr>
        <p:spPr>
          <a:xfrm>
            <a:off x="1170432" y="4700016"/>
            <a:ext cx="4696815" cy="1389888"/>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Graph Neural Prompting with Large Language Models</a:t>
            </a:r>
          </a:p>
          <a:p>
            <a:pPr algn="l">
              <a:lnSpc>
                <a:spcPct val="128000"/>
              </a:lnSpc>
              <a:spcBef>
                <a:spcPts val="500"/>
              </a:spcBef>
              <a:spcAft>
                <a:spcPts val="0"/>
              </a:spcAft>
            </a:pPr>
            <a:r>
              <a:rPr sz="1000" b="0" i="0">
                <a:solidFill>
                  <a:srgbClr val="6E757D"/>
                </a:solidFill>
                <a:latin typeface="Calibri"/>
              </a:rPr>
              <a:t>Tian et al.  ·  2023  ·  arXiv:2309.15427</a:t>
            </a:r>
          </a:p>
        </p:txBody>
      </p:sp>
      <p:sp>
        <p:nvSpPr>
          <p:cNvPr id="13" name="TextBox 12"/>
          <p:cNvSpPr txBox="1"/>
          <p:nvPr/>
        </p:nvSpPr>
        <p:spPr>
          <a:xfrm>
            <a:off x="6324447" y="1755648"/>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6D5A7B"/>
                </a:solidFill>
                <a:latin typeface="Georgia"/>
              </a:rPr>
              <a:t>14</a:t>
            </a:r>
          </a:p>
        </p:txBody>
      </p:sp>
      <p:sp>
        <p:nvSpPr>
          <p:cNvPr id="14" name="TextBox 13"/>
          <p:cNvSpPr txBox="1"/>
          <p:nvPr/>
        </p:nvSpPr>
        <p:spPr>
          <a:xfrm>
            <a:off x="6745071" y="1737360"/>
            <a:ext cx="4696815" cy="1389888"/>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QA-GNN: Reasoning with Language Models and Knowledge Graphs for Question Answering</a:t>
            </a:r>
          </a:p>
          <a:p>
            <a:pPr algn="l">
              <a:lnSpc>
                <a:spcPct val="128000"/>
              </a:lnSpc>
              <a:spcBef>
                <a:spcPts val="500"/>
              </a:spcBef>
              <a:spcAft>
                <a:spcPts val="0"/>
              </a:spcAft>
            </a:pPr>
            <a:r>
              <a:rPr sz="1000" b="0" i="0">
                <a:solidFill>
                  <a:srgbClr val="6E757D"/>
                </a:solidFill>
                <a:latin typeface="Calibri"/>
              </a:rPr>
              <a:t>Yasunaga et al.  ·  2022  ·  arXiv:2104.06378</a:t>
            </a:r>
          </a:p>
        </p:txBody>
      </p:sp>
      <p:sp>
        <p:nvSpPr>
          <p:cNvPr id="15" name="TextBox 14"/>
          <p:cNvSpPr txBox="1"/>
          <p:nvPr/>
        </p:nvSpPr>
        <p:spPr>
          <a:xfrm>
            <a:off x="6324447" y="3236976"/>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3E5C76"/>
                </a:solidFill>
                <a:latin typeface="Georgia"/>
              </a:rPr>
              <a:t>15</a:t>
            </a:r>
          </a:p>
        </p:txBody>
      </p:sp>
      <p:sp>
        <p:nvSpPr>
          <p:cNvPr id="16" name="TextBox 15"/>
          <p:cNvSpPr txBox="1"/>
          <p:nvPr/>
        </p:nvSpPr>
        <p:spPr>
          <a:xfrm>
            <a:off x="6745071" y="3218688"/>
            <a:ext cx="4696815" cy="1389888"/>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Deep Bidirectional Language-Knowledge Graph Pretraining</a:t>
            </a:r>
          </a:p>
          <a:p>
            <a:pPr algn="l">
              <a:lnSpc>
                <a:spcPct val="128000"/>
              </a:lnSpc>
              <a:spcBef>
                <a:spcPts val="500"/>
              </a:spcBef>
              <a:spcAft>
                <a:spcPts val="0"/>
              </a:spcAft>
            </a:pPr>
            <a:r>
              <a:rPr sz="1000" b="0" i="0">
                <a:solidFill>
                  <a:srgbClr val="6E757D"/>
                </a:solidFill>
                <a:latin typeface="Calibri"/>
              </a:rPr>
              <a:t>Yasunaga et al.  ·  2022  ·  arXiv:2210.09338</a:t>
            </a:r>
          </a:p>
        </p:txBody>
      </p:sp>
      <p:sp>
        <p:nvSpPr>
          <p:cNvPr id="17" name="TextBox 16"/>
          <p:cNvSpPr txBox="1"/>
          <p:nvPr/>
        </p:nvSpPr>
        <p:spPr>
          <a:xfrm>
            <a:off x="6324447" y="4718304"/>
            <a:ext cx="365760" cy="310896"/>
          </a:xfrm>
          <a:prstGeom prst="rect">
            <a:avLst/>
          </a:prstGeom>
          <a:noFill/>
        </p:spPr>
        <p:txBody>
          <a:bodyPr wrap="square" lIns="0" tIns="0" rIns="0" bIns="0" anchor="t">
            <a:spAutoFit/>
          </a:bodyPr>
          <a:lstStyle/>
          <a:p>
            <a:pPr algn="l">
              <a:lnSpc>
                <a:spcPct val="128000"/>
              </a:lnSpc>
              <a:spcBef>
                <a:spcPts val="0"/>
              </a:spcBef>
              <a:spcAft>
                <a:spcPts val="0"/>
              </a:spcAft>
            </a:pPr>
            <a:r>
              <a:rPr sz="1200" b="1" i="0">
                <a:solidFill>
                  <a:srgbClr val="B0703A"/>
                </a:solidFill>
                <a:latin typeface="Georgia"/>
              </a:rPr>
              <a:t>16</a:t>
            </a:r>
          </a:p>
        </p:txBody>
      </p:sp>
      <p:sp>
        <p:nvSpPr>
          <p:cNvPr id="18" name="TextBox 17"/>
          <p:cNvSpPr txBox="1"/>
          <p:nvPr/>
        </p:nvSpPr>
        <p:spPr>
          <a:xfrm>
            <a:off x="6745071" y="4700016"/>
            <a:ext cx="4696815" cy="1389888"/>
          </a:xfrm>
          <a:prstGeom prst="rect">
            <a:avLst/>
          </a:prstGeom>
          <a:noFill/>
        </p:spPr>
        <p:txBody>
          <a:bodyPr wrap="square" lIns="0" tIns="0" rIns="0" bIns="0" anchor="t">
            <a:spAutoFit/>
          </a:bodyPr>
          <a:lstStyle/>
          <a:p>
            <a:pPr algn="l">
              <a:lnSpc>
                <a:spcPct val="118000"/>
              </a:lnSpc>
              <a:spcBef>
                <a:spcPts val="0"/>
              </a:spcBef>
              <a:spcAft>
                <a:spcPts val="0"/>
              </a:spcAft>
            </a:pPr>
            <a:r>
              <a:rPr sz="1200" b="1" i="0">
                <a:solidFill>
                  <a:srgbClr val="22374A"/>
                </a:solidFill>
                <a:latin typeface="Georgia"/>
              </a:rPr>
              <a:t>GreaseLM: Graph REASoning Enhanced Language Models for Question Answering</a:t>
            </a:r>
          </a:p>
          <a:p>
            <a:pPr algn="l">
              <a:lnSpc>
                <a:spcPct val="128000"/>
              </a:lnSpc>
              <a:spcBef>
                <a:spcPts val="500"/>
              </a:spcBef>
              <a:spcAft>
                <a:spcPts val="0"/>
              </a:spcAft>
            </a:pPr>
            <a:r>
              <a:rPr sz="1000" b="0" i="0">
                <a:solidFill>
                  <a:srgbClr val="6E757D"/>
                </a:solidFill>
                <a:latin typeface="Calibri"/>
              </a:rPr>
              <a:t>Zhang et al.  ·  ICLR  ·  2021  ·  arXiv:2201.08860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509</TotalTime>
  <Words>3944</Words>
  <Application>Microsoft Macintosh PowerPoint</Application>
  <PresentationFormat>Widescreen</PresentationFormat>
  <Paragraphs>460</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 Cole</cp:lastModifiedBy>
  <cp:revision>1</cp:revision>
  <dcterms:created xsi:type="dcterms:W3CDTF">2013-01-27T09:14:16Z</dcterms:created>
  <dcterms:modified xsi:type="dcterms:W3CDTF">2026-09-07T23:11:59Z</dcterms:modified>
  <cp:category/>
</cp:coreProperties>
</file>